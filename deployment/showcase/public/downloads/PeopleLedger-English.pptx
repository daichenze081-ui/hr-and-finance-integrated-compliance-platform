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Relationships xmlns="http://schemas.openxmlformats.org/package/2006/relationships"><Relationship Id="rIdChartSnapshot1" Type="http://schemas.openxmlformats.org/officeDocument/2006/relationships/package" Target="../embeddings/chart-data-snapshot-00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SGD</c:v>
          </c:tx>
          <c:spPr>
            <a:solidFill>
              <a:srgbClr val="087F82"/>
            </a:solidFill>
          </c:spPr>
          <c:invertIfNegative val="1"/>
          <c:dPt>
            <c:idx val="0"/>
            <c:invertIfNegative val="0"/>
            <c:bubble3D val="0"/>
            <c:extLst>
              <c:ext xmlns:c16="http://schemas.microsoft.com/office/drawing/2014/chart" uri="{C3380CC4-5D6E-409C-BE32-E72D297353CC}">
                <c16:uniqueId val="{00000001-CE29-4A96-8466-531DC82681F3}"/>
              </c:ext>
            </c:extLst>
          </c:dPt>
          <c:dPt>
            <c:idx val="1"/>
            <c:invertIfNegative val="0"/>
            <c:bubble3D val="0"/>
            <c:spPr>
              <a:solidFill>
                <a:srgbClr val="BB783A"/>
              </a:solidFill>
            </c:spPr>
            <c:extLst>
              <c:ext xmlns:c16="http://schemas.microsoft.com/office/drawing/2014/chart" uri="{C3380CC4-5D6E-409C-BE32-E72D297353CC}">
                <c16:uniqueId val="{00000003-CE29-4A96-8466-531DC82681F3}"/>
              </c:ext>
            </c:extLst>
          </c:dPt>
          <c:dPt>
            <c:idx val="2"/>
            <c:invertIfNegative val="0"/>
            <c:bubble3D val="0"/>
            <c:spPr>
              <a:solidFill>
                <a:srgbClr val="345D7E"/>
              </a:solidFill>
            </c:spPr>
            <c:extLst>
              <c:ext xmlns:c16="http://schemas.microsoft.com/office/drawing/2014/chart" uri="{C3380CC4-5D6E-409C-BE32-E72D297353CC}">
                <c16:uniqueId val="{00000005-CE29-4A96-8466-531DC82681F3}"/>
              </c:ext>
            </c:extLst>
          </c:dPt>
          <c:dLbls>
            <c:spPr>
              <a:noFill/>
              <a:ln>
                <a:noFill/>
              </a:ln>
              <a:effectLst/>
            </c:spPr>
            <c:txPr>
              <a:bodyPr anchorCtr="1"/>
              <a:lstStyle/>
              <a:p>
                <a:pPr>
                  <a:defRPr sz="1800" b="1">
                    <a:solidFill>
                      <a:srgbClr val="183239"/>
                    </a:solidFill>
                    <a:latin typeface="Microsoft YaHei"/>
                    <a:ea typeface="Microsoft YaHei"/>
                    <a:cs typeface="Microsoft YaHe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Inflow</c:v>
                </c:pt>
                <c:pt idx="1">
                  <c:v>Outflow</c:v>
                </c:pt>
                <c:pt idx="2">
                  <c:v>Net bank movement</c:v>
                </c:pt>
              </c:strCache>
            </c:strRef>
          </c:cat>
          <c:val>
            <c:numRef>
              <c:f>'Chart Data'!$B$2:$B$4</c:f>
              <c:numCache>
                <c:formatCode>"S$"#,##0</c:formatCode>
                <c:ptCount val="3"/>
                <c:pt idx="0">
                  <c:v>50000</c:v>
                </c:pt>
                <c:pt idx="1">
                  <c:v>39100</c:v>
                </c:pt>
                <c:pt idx="2">
                  <c:v>10900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CE29-4A96-8466-531DC82681F3}"/>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7E1DE"/>
            </a:solidFill>
          </a:ln>
        </c:spPr>
        <c:txPr>
          <a:bodyPr anchorCtr="1"/>
          <a:lstStyle/>
          <a:p>
            <a:pPr>
              <a:defRPr sz="1575">
                <a:solidFill>
                  <a:srgbClr val="183239"/>
                </a:solidFill>
                <a:latin typeface="Microsoft YaHei"/>
                <a:ea typeface="Microsoft YaHei"/>
                <a:cs typeface="Microsoft YaHei"/>
              </a:defRPr>
            </a:pPr>
            <a:endParaRPr lang="en-US"/>
          </a:p>
        </c:txPr>
        <c:crossAx val="48672768"/>
        <c:crosses val="autoZero"/>
        <c:auto val="1"/>
        <c:lblAlgn val="ctr"/>
        <c:lblOffset val="100"/>
        <c:noMultiLvlLbl val="1"/>
      </c:catAx>
      <c:valAx>
        <c:axId val="48672768"/>
        <c:scaling>
          <c:orientation val="minMax"/>
          <c:max val="60000"/>
          <c:min val="0"/>
        </c:scaling>
        <c:delete val="0"/>
        <c:axPos val="l"/>
        <c:majorGridlines>
          <c:spPr>
            <a:ln w="9525">
              <a:solidFill>
                <a:srgbClr val="D7E1DE"/>
              </a:solidFill>
            </a:ln>
          </c:spPr>
        </c:majorGridlines>
        <c:numFmt formatCode="&quot;S$&quot;#,##0" sourceLinked="1"/>
        <c:majorTickMark val="none"/>
        <c:minorTickMark val="none"/>
        <c:tickLblPos val="nextTo"/>
        <c:spPr>
          <a:ln w="9525">
            <a:solidFill>
              <a:srgbClr val="D4D4D4"/>
            </a:solidFill>
            <a:prstDash val="solid"/>
          </a:ln>
        </c:spPr>
        <c:txPr>
          <a:bodyPr anchorCtr="1"/>
          <a:lstStyle/>
          <a:p>
            <a:pPr>
              <a:defRPr sz="1350">
                <a:solidFill>
                  <a:srgbClr val="526970"/>
                </a:solidFill>
                <a:latin typeface="Microsoft YaHei"/>
                <a:ea typeface="Microsoft YaHei"/>
                <a:cs typeface="Microsoft YaHei"/>
              </a:defRPr>
            </a:pPr>
            <a:endParaRPr lang="en-US"/>
          </a:p>
        </c:txPr>
        <c:crossAx val="48650112"/>
        <c:crosses val="autoZero"/>
        <c:crossBetween val="between"/>
        <c:majorUnit val="20000"/>
      </c:valAx>
      <c:spPr>
        <a:solidFill>
          <a:srgbClr val="F7F8F5"/>
        </a:solidFill>
        <a:ln w="0">
          <a:noFill/>
        </a:ln>
      </c:spPr>
    </c:plotArea>
    <c:plotVisOnly val="1"/>
    <c:dispBlanksAs val="zero"/>
    <c:showDLblsOverMax val="1"/>
  </c:chart>
  <c:spPr>
    <a:solidFill>
      <a:srgbClr val="F7F8F5"/>
    </a:solidFill>
    <a:ln w="0">
      <a:noFill/>
    </a:ln>
  </c:spPr>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HR and Finance Review Platform</a:t>
            </a:r>
          </a:p>
          <a:p>
            <a:r>
              <a:t>Project demonstration</a:t>
            </a:r>
          </a:p>
          <a:p>
            <a:endParaRPr/>
          </a:p>
          <a:p>
            <a:r>
              <a:t>English narration</a:t>
            </a:r>
          </a:p>
          <a:p>
            <a:r>
              <a:t>Welcome to the PeopleLedger project demonstration. PeopleLedger brings human resources and finance records into a shared review process. The project focuses on a practical question: how can a reviewer understand a decision and find the records that supported it? During this presentation, we will follow a sample case from data preparation through checks, bank reconciliation, approval, and evidence export. We will also look at recruitment and the limits placed on AI assistance. All people and transactions in this demonstration are fictional. The product screenshots come from an isolated local demonstration. A cloud edition is now available on Vercel, with a PostgreSQL database and private file storage. This presentation explains the implemented behaviour, the evidence from testing, and the work still needed before an organisation could rely on it for operational use.</a:t>
            </a:r>
          </a:p>
          <a:p>
            <a:endParaRPr/>
          </a:p>
          <a:p>
            <a:r>
              <a:t>Sources</a:t>
            </a:r>
          </a:p>
          <a:p>
            <a:r>
              <a:t>PeopleLedger-v2/README.md</a:t>
            </a:r>
          </a:p>
          <a:p>
            <a:r>
              <a:t>PeopleLedger-v2/START_HERE.md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Gaps in cross-functional review</a:t>
            </a:r>
          </a:p>
          <a:p>
            <a:r>
              <a:t>The business problem behind the project</a:t>
            </a:r>
          </a:p>
          <a:p>
            <a:endParaRPr/>
          </a:p>
          <a:p>
            <a:r>
              <a:t>English narration</a:t>
            </a:r>
          </a:p>
          <a:p>
            <a:r>
              <a:t>A review becomes difficult when each department maintains a different part of the evidence. Human resources may own the payroll spreadsheet. Finance may hold the ledger, while bank transactions arrive in a separate file. Even when each file is reasonable on its own, comparing them takes effort. A second problem appears when someone edits the underlying data after a report has circulated. The report may continue through approval without making that change obvious. A third problem concerns accountability. An approval message by itself does not explain which evidence the approver saw. PeopleLedger addresses these problems by organising records around a case, preserving source snapshots in reports, and recording the people who perform each review step. The intended benefit is a review that colleagues can follow and revisit. The project has not measured time savings in a real organisation.</a:t>
            </a:r>
          </a:p>
          <a:p>
            <a:endParaRPr/>
          </a:p>
          <a:p>
            <a:r>
              <a:t>Sources</a:t>
            </a:r>
          </a:p>
          <a:p>
            <a:r>
              <a:t>DEMO_SCRIPT.md</a:t>
            </a:r>
          </a:p>
          <a:p>
            <a:r>
              <a:t>PeopleLedger-v2/README.md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maintained version</a:t>
            </a:r>
          </a:p>
          <a:p>
            <a:r>
              <a:t>Changes since the earlier browser prototype</a:t>
            </a:r>
          </a:p>
          <a:p>
            <a:endParaRPr/>
          </a:p>
          <a:p>
            <a:r>
              <a:t>English narration</a:t>
            </a:r>
          </a:p>
          <a:p>
            <a:r>
              <a:t>The maintained second version makes several changes to the earlier browser prototype. Data now belongs to a server application, so closing or refreshing a browser does not define the lifetime of the business records. The original local edition uses SQLite, and the deployed edition uses PostgreSQL. Access also changes from a simulated role selector to authenticated accounts with server permissions. The scope of the inputs expands beyond payroll to include ledger and bank records. Evidence develops from a reference number into an actual file with a version and a recorded hash. These changes matter because a demonstration becomes more useful when the server enforces the workflow. A browser can guide a user, but the server must decide whether an action is allowed. The rest of the presentation shows how these capabilities work together in one sample case.</a:t>
            </a:r>
          </a:p>
          <a:p>
            <a:endParaRPr/>
          </a:p>
          <a:p>
            <a:r>
              <a:t>Sources</a:t>
            </a:r>
          </a:p>
          <a:p>
            <a:r>
              <a:t>hr-finance-compliance-mvp/README.md</a:t>
            </a:r>
          </a:p>
          <a:p>
            <a:r>
              <a:t>PeopleLedger-v2/README.md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review workflow</a:t>
            </a:r>
          </a:p>
          <a:p>
            <a:r>
              <a:t>Four stages organise the case</a:t>
            </a:r>
          </a:p>
          <a:p>
            <a:endParaRPr/>
          </a:p>
          <a:p>
            <a:r>
              <a:t>English narration</a:t>
            </a:r>
          </a:p>
          <a:p>
            <a:r>
              <a:t>The workflow has four broad stages. First, a user prepares the case by importing the required records and attaching supporting evidence. The system validates the data before accepting the import. Second, checks identify issues and bank reconciliation compares the ledger with the bank statement. These results help a reviewer decide what still needs attention. Third, the report captures the relevant data and moves through separate review and approval stages. This is where the system records who made each decision and prevents users from skipping the required steps. Finally, an authorised user seals the approved report and exports its evidence package. Sealing creates a defined review outcome that can be revisited later. These stages provide the structure for the demonstration. Each screen has a specific place in the process, rather than acting as an unrelated collection of features.</a:t>
            </a:r>
          </a:p>
          <a:p>
            <a:endParaRPr/>
          </a:p>
          <a:p>
            <a:r>
              <a:t>Sources</a:t>
            </a:r>
          </a:p>
          <a:p>
            <a:r>
              <a:t>PeopleLedger-v2/README.md</a:t>
            </a:r>
          </a:p>
          <a:p>
            <a:r>
              <a:t>PeopleLedger-v2/server/services/reports.service.js</a:t>
            </a:r>
          </a:p>
          <a:p>
            <a:r>
              <a:t>PeopleLedger-v2/server/services/export.service.js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sample case</a:t>
            </a:r>
          </a:p>
          <a:p>
            <a:r>
              <a:t>September 2026 demonstration data in Singapore dollars</a:t>
            </a:r>
          </a:p>
          <a:p>
            <a:endParaRPr/>
          </a:p>
          <a:p>
            <a:r>
              <a:t>English narration</a:t>
            </a:r>
          </a:p>
          <a:p>
            <a:r>
              <a:t>The sample case contains six fictional employees. The ledger has eight transactions, and the bank file also has eight. Six salary payments total thirty-five thousand one hundred Singapore dollars. A rental payment adds four thousand dollars to the outflow. A sales receipt contributes fifty thousand dollars of inflow. The chart therefore shows fifty thousand dollars of inflow, thirty-nine thousand one hundred dollars of outflow, and ten thousand nine hundred dollars of net bank movement. Net bank movement does not establish accounting profit. The payroll records also distinguish gross pay from net pay. Gross pay totals forty-three thousand eight hundred dollars, while expected and paid net salary both total thirty-five thousand one hundred dollars. Keeping those concepts separate avoids an incorrect comparison between gross payroll and the salary transactions that actually reach employees. All amounts here belong to synthetic demonstration data.</a:t>
            </a:r>
          </a:p>
          <a:p>
            <a:endParaRPr/>
          </a:p>
          <a:p>
            <a:r>
              <a:t>Sources</a:t>
            </a:r>
          </a:p>
          <a:p>
            <a:r>
              <a:t>PeopleLedger-v2/examples/payroll-corrected.csv</a:t>
            </a:r>
          </a:p>
          <a:p>
            <a:r>
              <a:t>PeopleLedger-v2/examples/ledger-demo.csv</a:t>
            </a:r>
          </a:p>
          <a:p>
            <a:r>
              <a:t>PeopleLedger-v2/examples/bank-demo.csv</a:t>
            </a:r>
          </a:p>
          <a:p>
            <a:r>
              <a:t>PeopleLedger-v2/tests/server.v2.test.cjs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shared case workspace</a:t>
            </a:r>
          </a:p>
          <a:p>
            <a:r>
              <a:t>Actual application screen with fictional records</a:t>
            </a:r>
          </a:p>
          <a:p>
            <a:endParaRPr/>
          </a:p>
          <a:p>
            <a:r>
              <a:t>English narration</a:t>
            </a:r>
          </a:p>
          <a:p>
            <a:r>
              <a:t>The case overview provides an entry point for the reviewer. Instead of starting with several unrelated files, a user opens a case and can see the records and review status associated with it. The screenshot shows the actual application with fictional sample data. The overview helps answer basic questions: which case am I reviewing, what information has been prepared, and what remains to be done? The surrounding navigation leads to the detailed payroll, reconciliation, report, and evidence views. Access depends on both the user role and the case membership checked by the server. This matters when several teams share one application, because a person who can sign in should still see only the cases and actions permitted for that account. The overview supports navigation and coordination. The detailed evidence remains available in the relevant working screens.</a:t>
            </a:r>
          </a:p>
          <a:p>
            <a:endParaRPr/>
          </a:p>
          <a:p>
            <a:r>
              <a:t>Sources</a:t>
            </a:r>
          </a:p>
          <a:p>
            <a:r>
              <a:t>PeopleLedger-v2/dist/workspace.html</a:t>
            </a:r>
          </a:p>
          <a:p>
            <a:r>
              <a:t>PeopleLedger-v2/dist/workspace.js</a:t>
            </a:r>
          </a:p>
          <a:p>
            <a:r>
              <a:t>PeopleLedger-v2/server/auth/access.js</a:t>
            </a:r>
          </a:p>
          <a:p>
            <a:r>
              <a:t>Screenshot: original isolated demonstration using fictional sample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Import validation and payroll</a:t>
            </a:r>
          </a:p>
          <a:p>
            <a:r>
              <a:t>Preview records before confirming an import</a:t>
            </a:r>
          </a:p>
          <a:p>
            <a:endParaRPr/>
          </a:p>
          <a:p>
            <a:r>
              <a:t>English narration</a:t>
            </a:r>
          </a:p>
          <a:p>
            <a:r>
              <a:t>Importing a spreadsheet is a point where errors can enter the workflow, so the application checks the input before committing it. The preview lets the user examine the proposed records and resolve problems before confirming the import. The implementation supports the project’s CSV and spreadsheet input paths, validates required values, and rejects spreadsheet formulas in the supported import flow. It also treats an import as a complete operation, so invalid input should not leave a partly updated business dataset. Money uses integer cents inside the calculations. For example, one hundred dollars and twenty-five cents becomes ten thousand and twenty-five cents. This avoids the small rounding surprises that ordinary binary decimal calculations can introduce. The demonstration expects Singapore dollars explicitly. These choices support reliable comparisons when payroll totals later connect to ledger records and bank transactions.</a:t>
            </a:r>
          </a:p>
          <a:p>
            <a:endParaRPr/>
          </a:p>
          <a:p>
            <a:r>
              <a:t>Sources</a:t>
            </a:r>
          </a:p>
          <a:p>
            <a:r>
              <a:t>PeopleLedger-v2/server/lib/money.js</a:t>
            </a:r>
          </a:p>
          <a:p>
            <a:r>
              <a:t>PeopleLedger-v2/server/lib/xlsx.js</a:t>
            </a:r>
          </a:p>
          <a:p>
            <a:r>
              <a:t>PeopleLedger-v2/server/services/payments.service.js</a:t>
            </a:r>
          </a:p>
          <a:p>
            <a:r>
              <a:t>PeopleLedger-v2/server/services/reconciliation.service.js</a:t>
            </a:r>
          </a:p>
          <a:p>
            <a:r>
              <a:t>Screenshot: original isolated demonstration using fictional sample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Checks and issue handling</a:t>
            </a:r>
          </a:p>
          <a:p>
            <a:r>
              <a:t>Deterministic rules produce reviewable findings</a:t>
            </a:r>
          </a:p>
          <a:p>
            <a:endParaRPr/>
          </a:p>
          <a:p>
            <a:r>
              <a:t>English narration</a:t>
            </a:r>
          </a:p>
          <a:p>
            <a:r>
              <a:t>The checks screen applies fourteen default demonstration rules. These checks are deterministic, which means the same inputs and rule definitions produce the same findings. That makes the results easier to explain and test. In the corrected sample case, the results show zero blocking issues and six items that still need manual review. The six items concern the payroll PDF evidence. The application can store the files and record their identity, but it does not read and verify every statement inside those documents. A human reviewer still needs to inspect them. Zero blockers therefore does not mean that every business assertion has been independently proven. It means the implemented blocking checks did not find a blocking condition in this sample. The rules demonstrate a review framework and require professional validation before they could represent a real organisation’s compliance requirements.</a:t>
            </a:r>
          </a:p>
          <a:p>
            <a:endParaRPr/>
          </a:p>
          <a:p>
            <a:r>
              <a:t>Sources</a:t>
            </a:r>
          </a:p>
          <a:p>
            <a:r>
              <a:t>PeopleLedger-v2/server/rules/registry.js</a:t>
            </a:r>
          </a:p>
          <a:p>
            <a:r>
              <a:t>PeopleLedger-v2/server/services/checks.service.js</a:t>
            </a:r>
          </a:p>
          <a:p>
            <a:r>
              <a:t>Screenshot: original isolated demonstration using fictional sample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Bank reconciliation</a:t>
            </a:r>
          </a:p>
          <a:p>
            <a:r>
              <a:t>One-to-one matching between ledger and bank records</a:t>
            </a:r>
          </a:p>
          <a:p>
            <a:endParaRPr/>
          </a:p>
          <a:p>
            <a:r>
              <a:t>English narration</a:t>
            </a:r>
          </a:p>
          <a:p>
            <a:r>
              <a:t>Bank reconciliation connects the internal ledger to the external bank record supplied for the case. The matching logic uses the reference, the amount, and whether the transaction is an inflow or an outflow. It also enforces one-to-one matching. A single bank transaction should not satisfy several ledger entries simply because they share a similar description. In the corrected demonstration, all eight ledger transactions match the eight bank records. This is a useful result for the sample, but it is not a claim that every possible bank statement will reconcile automatically. The current implementation uses explicit matching criteria instead of fuzzy matching. When a reference differs, an amount is wrong, or a record is missing, the reviewer must resolve the discrepancy. This approach makes the reasons for a match easier to understand and makes unmatched records visible for follow-up.</a:t>
            </a:r>
          </a:p>
          <a:p>
            <a:endParaRPr/>
          </a:p>
          <a:p>
            <a:r>
              <a:t>Sources</a:t>
            </a:r>
          </a:p>
          <a:p>
            <a:r>
              <a:t>PeopleLedger-v2/server/services/reconciliation.service.js</a:t>
            </a:r>
          </a:p>
          <a:p>
            <a:r>
              <a:t>PeopleLedger-v2/tests/server.reconciliation.test.cjs</a:t>
            </a:r>
          </a:p>
          <a:p>
            <a:r>
              <a:t>PeopleLedger-v2/tests/server.v2.test.cjs</a:t>
            </a:r>
          </a:p>
          <a:p>
            <a:r>
              <a:t>Screenshot: original isolated demonstration using fictional sample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Report snapshots</a:t>
            </a:r>
          </a:p>
          <a:p>
            <a:r>
              <a:t>The report preserves the records used in the review</a:t>
            </a:r>
          </a:p>
          <a:p>
            <a:endParaRPr/>
          </a:p>
          <a:p>
            <a:r>
              <a:t>English narration</a:t>
            </a:r>
          </a:p>
          <a:p>
            <a:r>
              <a:t>A report is valuable only if a reviewer can understand what it represents. PeopleLedger therefore preserves the relevant source data when it creates the report. The snapshot includes payroll, ledger and bank records, as well as import context and reconciliation results. It also records the applicable rules and evidence references. If someone changes the working case later, an earlier report should continue to describe its original basis. This prevents a historical review from silently inheriting today’s numbers. The implementation also avoids filling a missing historical snapshot with current data as though that data had existed at the time. That distinction matters when investigating a difference between two versions. Reviewers can discuss a specific report and its supporting information, while new work can proceed in the case. The report becomes a defined record of a review stage.</a:t>
            </a:r>
          </a:p>
          <a:p>
            <a:endParaRPr/>
          </a:p>
          <a:p>
            <a:r>
              <a:t>Sources</a:t>
            </a:r>
          </a:p>
          <a:p>
            <a:r>
              <a:t>PeopleLedger-v2/server/services/reports.service.js</a:t>
            </a:r>
          </a:p>
          <a:p>
            <a:r>
              <a:t>PeopleLedger-v2/server/services/export.service.js</a:t>
            </a:r>
          </a:p>
          <a:p>
            <a:r>
              <a:t>PeopleLedger-v2/tests/server.v2.test.cjs</a:t>
            </a:r>
          </a:p>
          <a:p>
            <a:r>
              <a:t>Screenshot: original isolated demonstration using fictional sample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Separate review and approval</a:t>
            </a:r>
          </a:p>
          <a:p>
            <a:r>
              <a:t>The server enforces the order and the actors</a:t>
            </a:r>
          </a:p>
          <a:p>
            <a:endParaRPr/>
          </a:p>
          <a:p>
            <a:r>
              <a:t>English narration</a:t>
            </a:r>
          </a:p>
          <a:p>
            <a:r>
              <a:t>The approval process separates submission, finance review, management confirmation, and director approval. These stages require different actors, so one person cannot complete all of the decision steps for the same report. The server also rejects attempts to skip stages. For example, a director cannot approve a report that has not reached the required prior state. After approval, an authorised director can seal the report. The sealing action can belong to the same director who approved it, so the four-actor requirement concerns the four decision stages rather than five separate people. This distinction is useful when explaining the implementation. The workflow helps preserve responsibility and the sequence of decisions. It does not guarantee that an approver exercised good judgment. The reviewer must still inspect the available evidence and record a decision that the organisation can defend.</a:t>
            </a:r>
          </a:p>
          <a:p>
            <a:endParaRPr/>
          </a:p>
          <a:p>
            <a:r>
              <a:t>Sources</a:t>
            </a:r>
          </a:p>
          <a:p>
            <a:r>
              <a:t>PeopleLedger-v2/server/auth/rbac.js</a:t>
            </a:r>
          </a:p>
          <a:p>
            <a:r>
              <a:t>PeopleLedger-v2/server/services/reports.service.js</a:t>
            </a:r>
          </a:p>
          <a:p>
            <a:r>
              <a:t>PeopleLedger-v2/tests/server.workflow.test.cjs</a:t>
            </a:r>
          </a:p>
          <a:p>
            <a:r>
              <a:t>Screenshot: original isolated demonstration using fictional sample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Evidence files and exports</a:t>
            </a:r>
          </a:p>
          <a:p>
            <a:r>
              <a:t>Files retain their versions and recorded hashes</a:t>
            </a:r>
          </a:p>
          <a:p>
            <a:endParaRPr/>
          </a:p>
          <a:p>
            <a:r>
              <a:t>English narration</a:t>
            </a:r>
          </a:p>
          <a:p>
            <a:r>
              <a:t>Evidence handling connects a report to actual files. The application records the source and version of an uploaded document and calculates a SHA-256 hash for its bytes. A later comparison can use that hash to detect whether those bytes differ. A matching hash does not prove that the statements in the document are true, or that the person who supplied it was authorised to make them. Those questions remain part of human review. The sample evidence inventory contains nine files, including eight PDFs requiring manual review and one readable advertisement. An export packages the report with the relevant supporting material so a reviewer can inspect them together. In the cloud edition, evidence resides in private Blob storage and the application checks access before serving it. The current serverless deployment also limits individual requests and uploads to four megabytes.</a:t>
            </a:r>
          </a:p>
          <a:p>
            <a:endParaRPr/>
          </a:p>
          <a:p>
            <a:r>
              <a:t>Sources</a:t>
            </a:r>
          </a:p>
          <a:p>
            <a:r>
              <a:t>PeopleLedger-v2/server/services/evidence.service.js</a:t>
            </a:r>
          </a:p>
          <a:p>
            <a:r>
              <a:t>PeopleLedger-v2/server/services/export.service.js</a:t>
            </a:r>
          </a:p>
          <a:p>
            <a:r>
              <a:t>Screenshot: original isolated demonstration using fictional sample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Activity and accountability</a:t>
            </a:r>
          </a:p>
          <a:p>
            <a:r>
              <a:t>Actions remain connected to people and report versions</a:t>
            </a:r>
          </a:p>
          <a:p>
            <a:endParaRPr/>
          </a:p>
          <a:p>
            <a:r>
              <a:t>English narration</a:t>
            </a:r>
          </a:p>
          <a:p>
            <a:r>
              <a:t>The activity trail helps a reviewer reconstruct how a case reached its current state. It records the actor and timing for relevant actions and connects those actions to the report or business operation. This is useful when someone asks why a report moved forward, who reviewed it, or which version existed at a particular point in the workflow. The server also records access-related activity and checks role permissions. Auditor access can have a limited duration, which supports a review assignment without assuming permanent access. These capabilities provide accountability within the application. They should not be described as an independently certified, tamper-proof archive. A production organisation would still need appropriate administration, retention policies, and operational controls. For this project, the main outcome is that review activity and historical report versions can be followed through the application instead of relying only on separate messages.</a:t>
            </a:r>
          </a:p>
          <a:p>
            <a:endParaRPr/>
          </a:p>
          <a:p>
            <a:r>
              <a:t>Sources</a:t>
            </a:r>
          </a:p>
          <a:p>
            <a:r>
              <a:t>PeopleLedger-v2/server/auth/access.js</a:t>
            </a:r>
          </a:p>
          <a:p>
            <a:r>
              <a:t>PeopleLedger-v2/server/services/audit.service.js</a:t>
            </a:r>
          </a:p>
          <a:p>
            <a:r>
              <a:t>PeopleLedger-v2/server/services/reports.service.js</a:t>
            </a:r>
          </a:p>
          <a:p>
            <a:r>
              <a:t>PeopleLedger-v2/tests/server.security.test.cjs</a:t>
            </a:r>
          </a:p>
          <a:p>
            <a:r>
              <a:t>Screenshot: original isolated demonstration using fictional sample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Recruitment and onboarding</a:t>
            </a:r>
          </a:p>
          <a:p>
            <a:r>
              <a:t>Candidate progress connects to essential employee records</a:t>
            </a:r>
          </a:p>
          <a:p>
            <a:endParaRPr/>
          </a:p>
          <a:p>
            <a:r>
              <a:t>English narration</a:t>
            </a:r>
          </a:p>
          <a:p>
            <a:r>
              <a:t>The human resources side also includes recruitment. A case can hold job requirements and track candidates through the supported stages. The implementation checks the required conditions for transitions, rather than treating every stage as an unrestricted label. Candidate evaluation uses scorecard versions so that a later change to the assessment does not erase the context of an earlier decision. After the required hiring steps, the onboarding flow creates essential employee information for the next part of the process. This demonstrates the connection between recruitment records and downstream human resources work. The screenshot also includes interview scheduling actions. Those actions currently simulate the meeting workflow. They do not demonstrate a live Microsoft Teams invitation or a production Microsoft Graph connection. A real integration would need authorised access, failure handling, and tests that confirm meeting creation and changes in the external service.</a:t>
            </a:r>
          </a:p>
          <a:p>
            <a:endParaRPr/>
          </a:p>
          <a:p>
            <a:r>
              <a:t>Sources</a:t>
            </a:r>
          </a:p>
          <a:p>
            <a:r>
              <a:t>PeopleLedger-v2/server/services/recruitment.service.js</a:t>
            </a:r>
          </a:p>
          <a:p>
            <a:r>
              <a:t>PeopleLedger-v2/server/services/interviews.service.js</a:t>
            </a:r>
          </a:p>
          <a:p>
            <a:r>
              <a:t>PeopleLedger-v2/tests/server.recruitment.test.cjs</a:t>
            </a:r>
          </a:p>
          <a:p>
            <a:r>
              <a:t>Screenshot: original isolated demonstration using fictional sample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 assistance and its limits</a:t>
            </a:r>
          </a:p>
          <a:p>
            <a:r>
              <a:t>The default demonstration uses a Mock model</a:t>
            </a:r>
          </a:p>
          <a:p>
            <a:endParaRPr/>
          </a:p>
          <a:p>
            <a:r>
              <a:t>English narration</a:t>
            </a:r>
          </a:p>
          <a:p>
            <a:r>
              <a:t>The AI assistant supports the review process within explicit limits. It can read the information made available to its tools and save a draft for a person to examine. It cannot make payments, approve a report, or change the source records and rules that determine a review outcome. It also cannot grant itself permissions or delete the evidence. These restrictions keep the important decisions in the application workflow and with authorised people. The current default is a Mock model, which makes the demonstration predictable. The repository contains adapters for other model services, but their presence is not evidence that a live model has been evaluated in this deployment. A future rollout would need to test the chosen service with representative cases, including missing evidence and misleading instructions inside uploaded material. Human reviewers remain responsible for accepting, correcting, or rejecting a draft.</a:t>
            </a:r>
          </a:p>
          <a:p>
            <a:endParaRPr/>
          </a:p>
          <a:p>
            <a:r>
              <a:t>Sources</a:t>
            </a:r>
          </a:p>
          <a:p>
            <a:r>
              <a:t>PeopleLedger-v2/server/config.js</a:t>
            </a:r>
          </a:p>
          <a:p>
            <a:r>
              <a:t>PeopleLedger-v2/server/agent/tools.js</a:t>
            </a:r>
          </a:p>
          <a:p>
            <a:r>
              <a:t>PeopleLedger-v2/server/agent/draft.js</a:t>
            </a:r>
          </a:p>
          <a:p>
            <a:r>
              <a:t>PeopleLedger-v2/server/adapters/model/</a:t>
            </a:r>
          </a:p>
          <a:p>
            <a:r>
              <a:t>Screenshot: original isolated demonstration using fictional sample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and cloud deployment</a:t>
            </a:r>
          </a:p>
          <a:p>
            <a:r>
              <a:t>A local reference edition and a deployed cloud edition</a:t>
            </a:r>
          </a:p>
          <a:p>
            <a:endParaRPr/>
          </a:p>
          <a:p>
            <a:r>
              <a:t>English narration</a:t>
            </a:r>
          </a:p>
          <a:p>
            <a:r>
              <a:t>The browser workspace uses HTML, CSS, and JavaScript. A Node.js application exposes the APIs and checks sessions and permissions. The business services implement the rules, reconciliation, report snapshots, and approval transitions shown earlier. The original local edition stores records in SQLite and keeps evidence files locally. The cloud edition now runs on Vercel, uses a Neon PostgreSQL database in Singapore, and stores evidence in private Vercel Blob storage. These are distinct deployment arrangements for the same demonstrated business process. The cloud application and the presentation website have separate public addresses. Signing in to the application still requires the appropriate account. Credentials are not included in these presentation downloads. The project currently uses a manual deployment process. Saving a local file does not automatically update the live website. These details describe the delivered setup, rather than a promise of unlimited scale or enterprise readiness.</a:t>
            </a:r>
          </a:p>
          <a:p>
            <a:endParaRPr/>
          </a:p>
          <a:p>
            <a:r>
              <a:t>Sources</a:t>
            </a:r>
          </a:p>
          <a:p>
            <a:r>
              <a:t>PeopleLedger-v2/package.json</a:t>
            </a:r>
          </a:p>
          <a:p>
            <a:r>
              <a:t>PeopleLedger-v2/server/index.js</a:t>
            </a:r>
          </a:p>
          <a:p>
            <a:r>
              <a:t>PeopleLedger-v2/server/config.js</a:t>
            </a:r>
          </a:p>
          <a:p>
            <a:r>
              <a:t>PeopleLedger-v2/server/adapters/</a:t>
            </a:r>
          </a:p>
          <a:p>
            <a:r>
              <a:t>deliverables/部署与使用说明.md</a:t>
            </a:r>
          </a:p>
          <a:p>
            <a:r>
              <a:t>deployment/app/</a:t>
            </a:r>
          </a:p>
          <a:p>
            <a:r>
              <a:t>Cloud deployment verification on 2026-09-27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Verification results</a:t>
            </a:r>
          </a:p>
          <a:p>
            <a:r>
              <a:t>Local baseline and cloud deployment checks</a:t>
            </a:r>
          </a:p>
          <a:p>
            <a:endParaRPr/>
          </a:p>
          <a:p>
            <a:r>
              <a:t>English narration</a:t>
            </a:r>
          </a:p>
          <a:p>
            <a:r>
              <a:t>The original local project passed one hundred and sixteen automated tests, and seventy-one source files passed syntax checks. That is the baseline used for the application demonstration. The deployment edition subsequently passed one hundred and thirty-one automated tests and checks of seventy-eight JavaScript files. A further set of twenty-four live HTTP checks passed against the deployed application. Those live checks covered practical behaviour such as authentication, permissions, persistent records, and private evidence retrieval. The sample records remained available after redeployment, which helps confirm that the cloud application uses persistent storage. These different checks answer different questions. Automated tests cover defined behaviour in a controlled environment. Live checks confirm selected behaviour in the deployed environment. Neither result establishes complete security or statutory compliance. The next stage should add user acceptance and operational testing with appropriate business reviewers.</a:t>
            </a:r>
          </a:p>
          <a:p>
            <a:endParaRPr/>
          </a:p>
          <a:p>
            <a:r>
              <a:t>Sources</a:t>
            </a:r>
          </a:p>
          <a:p>
            <a:r>
              <a:t>PeopleLedger-v2/package.json</a:t>
            </a:r>
          </a:p>
          <a:p>
            <a:r>
              <a:t>PeopleLedger-v2/scripts/check.js</a:t>
            </a:r>
          </a:p>
          <a:p>
            <a:r>
              <a:t>PeopleLedger-v2/tests/</a:t>
            </a:r>
          </a:p>
          <a:p>
            <a:r>
              <a:t>Local verification on 2026-09-27: 116 tests passed, 71 files syntax checked</a:t>
            </a:r>
          </a:p>
          <a:p>
            <a:r>
              <a:t>deliverables/部署与使用说明.md</a:t>
            </a:r>
          </a:p>
          <a:p>
            <a:r>
              <a:t>deployment/app/</a:t>
            </a:r>
          </a:p>
          <a:p>
            <a:r>
              <a:t>Cloud deployment verification on 2026-09-27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Current boundaries</a:t>
            </a:r>
          </a:p>
          <a:p>
            <a:r>
              <a:t>Implemented behaviour and work still required</a:t>
            </a:r>
          </a:p>
          <a:p>
            <a:endParaRPr/>
          </a:p>
          <a:p>
            <a:r>
              <a:t>English narration</a:t>
            </a:r>
          </a:p>
          <a:p>
            <a:r>
              <a:t>This table separates the implemented capabilities from the remaining work. The fourteen demonstration rules show how checks can operate, but specialists must validate the rules for a real business and jurisdiction. The assistant uses a Mock model, so a live service still needs evaluation. Interview scheduling demonstrates the process, while Microsoft Graph integration remains future work. Evidence files have versions and hashes, but document content still needs human review, and optical character recognition is an optional future addition. Cloud deployment is now complete for this demonstration, with PostgreSQL and private file storage. Organisational operation still needs decisions about single sign-on, backup and recovery, security review, and monitoring. The application’s four-megabyte request limit also constrains large evidence uploads and exports. Stating these boundaries helps an audience distinguish a working project demonstration from a service that has completed a full production readiness process.</a:t>
            </a:r>
          </a:p>
          <a:p>
            <a:endParaRPr/>
          </a:p>
          <a:p>
            <a:r>
              <a:t>Sources</a:t>
            </a:r>
          </a:p>
          <a:p>
            <a:r>
              <a:t>PeopleLedger-v2/README.md</a:t>
            </a:r>
          </a:p>
          <a:p>
            <a:r>
              <a:t>PeopleLedger-v2/server/config.js</a:t>
            </a:r>
          </a:p>
          <a:p>
            <a:r>
              <a:t>PeopleLedger-v2/server/services/interviews.service.js</a:t>
            </a:r>
          </a:p>
          <a:p>
            <a:r>
              <a:t>PeopleLedger-v2/server/services/evidence.service.js</a:t>
            </a:r>
          </a:p>
          <a:p>
            <a:r>
              <a:t>deliverables/部署与使用说明.md</a:t>
            </a:r>
          </a:p>
          <a:p>
            <a:r>
              <a:t>deployment/app/</a:t>
            </a:r>
          </a:p>
          <a:p>
            <a:r>
              <a:t>Cloud deployment verification on 2026-09-27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next stage</a:t>
            </a:r>
          </a:p>
          <a:p>
            <a:r>
              <a:t>Recommended work before an operational pilot</a:t>
            </a:r>
          </a:p>
          <a:p>
            <a:endParaRPr/>
          </a:p>
          <a:p>
            <a:r>
              <a:t>English narration</a:t>
            </a:r>
          </a:p>
          <a:p>
            <a:r>
              <a:t>The recommended next stage begins with business acceptance. Human resources and finance reviewers should examine the sample workflow and confirm that the required fields, rules, and approval stages fit their actual responsibilities. The second priority is operational readiness. The team should test identity management and perform a recovery exercise, rather than assuming that a database backup alone guarantees restoration. External services should then be connected one at a time, with clear success and failure cases for each integration. A controlled pilot can assess whether the application improves the review process. Useful measures might include the time needed to locate supporting evidence, the number of unresolved reconciliation items, and the frequency of reports returned for correction. These are proposed evaluation measures, not results already achieved by the project. The pilot should use agreed criteria and appropriate data handling arrangements before any broader adoption.</a:t>
            </a:r>
          </a:p>
          <a:p>
            <a:endParaRPr/>
          </a:p>
          <a:p>
            <a:r>
              <a:t>Sources</a:t>
            </a:r>
          </a:p>
          <a:p>
            <a:r>
              <a:t>PeopleLedger-v2/README.md</a:t>
            </a:r>
          </a:p>
          <a:p>
            <a:r>
              <a:t>Recommendations based on verified current implementation boundaries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recap and discussion</a:t>
            </a:r>
          </a:p>
          <a:p>
            <a:r>
              <a:t>PeopleLedger</a:t>
            </a:r>
          </a:p>
          <a:p>
            <a:endParaRPr/>
          </a:p>
          <a:p>
            <a:r>
              <a:t>English narration</a:t>
            </a:r>
          </a:p>
          <a:p>
            <a:r>
              <a:t>PeopleLedger now demonstrates a complete review process using fictional human resources and finance data. The case connects imports with deterministic checks and bank reconciliation, then preserves the source records in a report that passes through separate approval stages. Evidence files and an activity trail help reviewers understand the decisions afterwards. Recruitment and the restricted assistant extend the demonstration while keeping their current integration limits visible. The application is available on Vercel with persistent database and private file storage, and this presentation provides an English explanation of the delivered work. The testing results support the specific behaviours that were checked. Further business and operational validation remains necessary before real organisational use. Thank you for watching. The presentation website provides the editable PowerPoint, the automatic slideshow, and the narration script. These materials can support a project assessment, a demonstration session, or a discussion of the next development stage.</a:t>
            </a:r>
          </a:p>
          <a:p>
            <a:endParaRPr/>
          </a:p>
          <a:p>
            <a:r>
              <a:t>Sources</a:t>
            </a:r>
          </a:p>
          <a:p>
            <a:r>
              <a:t>PeopleLedger-v2/README.md</a:t>
            </a:r>
          </a:p>
          <a:p>
            <a:r>
              <a:t>PeopleLedger-v2/tests/</a:t>
            </a:r>
          </a:p>
          <a:p>
            <a:r>
              <a:t>deliverables/部署与使用说明.md</a:t>
            </a:r>
          </a:p>
          <a:p>
            <a:r>
              <a:t>deployment/app/</a:t>
            </a:r>
          </a:p>
          <a:p>
            <a:r>
              <a:t>Cloud deployment verification on 2026-09-27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png"/><Relationship Id="rId5" Type="http://schemas.openxmlformats.org/officeDocument/2006/relationships/chart" Target="../charts/char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1.png"/><Relationship Id="rId5" Type="http://schemas.openxmlformats.org/officeDocument/2006/relationships/image" Target="../media/image1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1.png"/><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363C"/>
        </a:solidFill>
        <a:effectLst/>
      </p:bgPr>
    </p:bg>
    <p:spTree>
      <p:nvGrpSpPr>
        <p:cNvPr id="1" name=""/>
        <p:cNvGrpSpPr/>
        <p:nvPr/>
      </p:nvGrpSpPr>
      <p:grpSpPr>
        <a:xfrm>
          <a:off x="0" y="0"/>
          <a:ext cx="0" cy="0"/>
          <a:chOff x="0" y="0"/>
          <a:chExt cx="0" cy="0"/>
        </a:xfrm>
      </p:grpSpPr>
      <p:sp>
        <p:nvSpPr>
          <p:cNvPr id="7" name="page-number">
            <a:extLst>
              <a:ext uri="{FF2B5EF4-FFF2-40B4-BE49-F238E27FC236}">
                <a16:creationId xmlns:a16="http://schemas.microsoft.com/office/drawing/2014/main" id="{DC5373F2-A2CE-41ED-A07B-6D114531FE4E}"/>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A5CEC9"/>
                </a:solidFill>
                <a:latin typeface="Microsoft YaHei"/>
                <a:ea typeface="Microsoft YaHei"/>
                <a:cs typeface="Microsoft YaHei"/>
              </a:defRPr>
            </a:pPr>
            <a:r>
              <a:rPr sz="1200" b="0">
                <a:solidFill>
                  <a:srgbClr val="A5CEC9"/>
                </a:solidFill>
                <a:latin typeface="Microsoft YaHei"/>
                <a:ea typeface="Microsoft YaHei"/>
                <a:cs typeface="Microsoft YaHei"/>
              </a:rPr>
              <a:t>01 / 20</a:t>
            </a:r>
          </a:p>
        </p:txBody>
      </p:sp>
      <p:sp>
        <p:nvSpPr>
          <p:cNvPr id="2" name="cover-brand">
            <a:extLst>
              <a:ext uri="{FF2B5EF4-FFF2-40B4-BE49-F238E27FC236}">
                <a16:creationId xmlns:a16="http://schemas.microsoft.com/office/drawing/2014/main" id="{E8F303B8-2518-4A8C-9A48-23261BE4EE76}"/>
              </a:ext>
            </a:extLst>
          </p:cNvPr>
          <p:cNvSpPr>
            <a:spLocks noGrp="1"/>
          </p:cNvSpPr>
          <p:nvPr/>
        </p:nvSpPr>
        <p:spPr>
          <a:xfrm>
            <a:off x="704850" y="1285875"/>
            <a:ext cx="10715625" cy="1066800"/>
          </a:xfrm>
          <a:prstGeom prst="rect">
            <a:avLst/>
          </a:prstGeom>
          <a:noFill/>
          <a:ln w="0">
            <a:noFill/>
          </a:ln>
        </p:spPr>
        <p:txBody>
          <a:bodyPr lIns="0" tIns="0" rIns="0" bIns="0" anchor="t">
            <a:noAutofit/>
          </a:bodyPr>
          <a:lstStyle/>
          <a:p>
            <a:pPr algn="l">
              <a:defRPr sz="6300" b="1">
                <a:solidFill>
                  <a:srgbClr val="FFFFFF"/>
                </a:solidFill>
                <a:latin typeface="Microsoft YaHei"/>
                <a:ea typeface="Microsoft YaHei"/>
                <a:cs typeface="Microsoft YaHei"/>
              </a:defRPr>
            </a:pPr>
            <a:r>
              <a:rPr sz="6300" b="1">
                <a:solidFill>
                  <a:srgbClr val="FFFFFF"/>
                </a:solidFill>
                <a:latin typeface="Microsoft YaHei"/>
                <a:ea typeface="Microsoft YaHei"/>
                <a:cs typeface="Microsoft YaHei"/>
              </a:rPr>
              <a:t>PeopleLedger</a:t>
            </a:r>
          </a:p>
        </p:txBody>
      </p:sp>
      <p:sp>
        <p:nvSpPr>
          <p:cNvPr id="3" name="text-2">
            <a:extLst>
              <a:ext uri="{FF2B5EF4-FFF2-40B4-BE49-F238E27FC236}">
                <a16:creationId xmlns:a16="http://schemas.microsoft.com/office/drawing/2014/main" id="{D50B3DBB-5BDC-4B69-9725-ACE9C59EE148}"/>
              </a:ext>
            </a:extLst>
          </p:cNvPr>
          <p:cNvSpPr>
            <a:spLocks noGrp="1"/>
          </p:cNvSpPr>
          <p:nvPr/>
        </p:nvSpPr>
        <p:spPr>
          <a:xfrm>
            <a:off x="742950" y="2781300"/>
            <a:ext cx="10668000" cy="762000"/>
          </a:xfrm>
          <a:prstGeom prst="rect">
            <a:avLst/>
          </a:prstGeom>
          <a:noFill/>
          <a:ln w="0">
            <a:noFill/>
          </a:ln>
        </p:spPr>
        <p:txBody>
          <a:bodyPr lIns="0" tIns="0" rIns="0" bIns="0" anchor="t">
            <a:noAutofit/>
          </a:bodyPr>
          <a:lstStyle/>
          <a:p>
            <a:pPr algn="l">
              <a:defRPr sz="3450" b="1">
                <a:solidFill>
                  <a:srgbClr val="FFFFFF"/>
                </a:solidFill>
                <a:latin typeface="Microsoft YaHei"/>
                <a:ea typeface="Microsoft YaHei"/>
                <a:cs typeface="Microsoft YaHei"/>
              </a:defRPr>
            </a:pPr>
            <a:r>
              <a:rPr sz="3450" b="1">
                <a:solidFill>
                  <a:srgbClr val="FFFFFF"/>
                </a:solidFill>
                <a:latin typeface="Microsoft YaHei"/>
                <a:ea typeface="Microsoft YaHei"/>
                <a:cs typeface="Microsoft YaHei"/>
              </a:rPr>
              <a:t>HR and Finance Review Platform</a:t>
            </a:r>
          </a:p>
        </p:txBody>
      </p:sp>
      <p:sp>
        <p:nvSpPr>
          <p:cNvPr id="4" name="text-3">
            <a:extLst>
              <a:ext uri="{FF2B5EF4-FFF2-40B4-BE49-F238E27FC236}">
                <a16:creationId xmlns:a16="http://schemas.microsoft.com/office/drawing/2014/main" id="{DBC260A7-E3B3-4B92-887C-2683E7230C39}"/>
              </a:ext>
            </a:extLst>
          </p:cNvPr>
          <p:cNvSpPr>
            <a:spLocks noGrp="1"/>
          </p:cNvSpPr>
          <p:nvPr/>
        </p:nvSpPr>
        <p:spPr>
          <a:xfrm>
            <a:off x="762000" y="3657600"/>
            <a:ext cx="10477500" cy="619125"/>
          </a:xfrm>
          <a:prstGeom prst="rect">
            <a:avLst/>
          </a:prstGeom>
          <a:noFill/>
          <a:ln w="0">
            <a:noFill/>
          </a:ln>
        </p:spPr>
        <p:txBody>
          <a:bodyPr lIns="0" tIns="0" rIns="0" bIns="0" anchor="t">
            <a:noAutofit/>
          </a:bodyPr>
          <a:lstStyle/>
          <a:p>
            <a:pPr algn="l">
              <a:defRPr sz="2475" b="0">
                <a:solidFill>
                  <a:srgbClr val="A5CEC9"/>
                </a:solidFill>
                <a:latin typeface="Microsoft YaHei"/>
                <a:ea typeface="Microsoft YaHei"/>
                <a:cs typeface="Microsoft YaHei"/>
              </a:defRPr>
            </a:pPr>
            <a:r>
              <a:rPr sz="2475" b="0">
                <a:solidFill>
                  <a:srgbClr val="A5CEC9"/>
                </a:solidFill>
                <a:latin typeface="Microsoft YaHei"/>
                <a:ea typeface="Microsoft YaHei"/>
                <a:cs typeface="Microsoft YaHei"/>
              </a:rPr>
              <a:t>English edition</a:t>
            </a:r>
          </a:p>
        </p:txBody>
      </p:sp>
      <p:sp>
        <p:nvSpPr>
          <p:cNvPr id="5" name="text-4">
            <a:extLst>
              <a:ext uri="{FF2B5EF4-FFF2-40B4-BE49-F238E27FC236}">
                <a16:creationId xmlns:a16="http://schemas.microsoft.com/office/drawing/2014/main" id="{EF5F158D-D21E-4D32-8891-4B8630BB15DA}"/>
              </a:ext>
            </a:extLst>
          </p:cNvPr>
          <p:cNvSpPr>
            <a:spLocks noGrp="1"/>
          </p:cNvSpPr>
          <p:nvPr/>
        </p:nvSpPr>
        <p:spPr>
          <a:xfrm>
            <a:off x="771525" y="5010150"/>
            <a:ext cx="10287000" cy="438150"/>
          </a:xfrm>
          <a:prstGeom prst="rect">
            <a:avLst/>
          </a:prstGeom>
          <a:noFill/>
          <a:ln w="0">
            <a:noFill/>
          </a:ln>
        </p:spPr>
        <p:txBody>
          <a:bodyPr lIns="0" tIns="0" rIns="0" bIns="0" anchor="t">
            <a:noAutofit/>
          </a:bodyPr>
          <a:lstStyle/>
          <a:p>
            <a:pPr algn="l">
              <a:defRPr sz="2100" b="0">
                <a:solidFill>
                  <a:srgbClr val="D5E6E0"/>
                </a:solidFill>
                <a:latin typeface="Microsoft YaHei"/>
                <a:ea typeface="Microsoft YaHei"/>
                <a:cs typeface="Microsoft YaHei"/>
              </a:defRPr>
            </a:pPr>
            <a:r>
              <a:rPr sz="2100" b="0">
                <a:solidFill>
                  <a:srgbClr val="D5E6E0"/>
                </a:solidFill>
                <a:latin typeface="Microsoft YaHei"/>
                <a:ea typeface="Microsoft YaHei"/>
                <a:cs typeface="Microsoft YaHei"/>
              </a:rPr>
              <a:t>Project demonstration</a:t>
            </a:r>
          </a:p>
        </p:txBody>
      </p:sp>
      <p:sp>
        <p:nvSpPr>
          <p:cNvPr id="6" name="text-5">
            <a:extLst>
              <a:ext uri="{FF2B5EF4-FFF2-40B4-BE49-F238E27FC236}">
                <a16:creationId xmlns:a16="http://schemas.microsoft.com/office/drawing/2014/main" id="{602A9414-667C-4F62-8EF5-4796559E580E}"/>
              </a:ext>
            </a:extLst>
          </p:cNvPr>
          <p:cNvSpPr>
            <a:spLocks noGrp="1"/>
          </p:cNvSpPr>
          <p:nvPr/>
        </p:nvSpPr>
        <p:spPr>
          <a:xfrm>
            <a:off x="790575" y="5619750"/>
            <a:ext cx="10382250" cy="361950"/>
          </a:xfrm>
          <a:prstGeom prst="rect">
            <a:avLst/>
          </a:prstGeom>
          <a:noFill/>
          <a:ln w="0">
            <a:noFill/>
          </a:ln>
        </p:spPr>
        <p:txBody>
          <a:bodyPr lIns="0" tIns="0" rIns="0" bIns="0" anchor="t">
            <a:noAutofit/>
          </a:bodyPr>
          <a:lstStyle/>
          <a:p>
            <a:pPr algn="l">
              <a:defRPr sz="1800" b="0">
                <a:solidFill>
                  <a:srgbClr val="A5CEC9"/>
                </a:solidFill>
                <a:latin typeface="Microsoft YaHei"/>
                <a:ea typeface="Microsoft YaHei"/>
                <a:cs typeface="Microsoft YaHei"/>
              </a:defRPr>
            </a:pPr>
            <a:r>
              <a:rPr sz="1800" b="0">
                <a:solidFill>
                  <a:srgbClr val="A5CEC9"/>
                </a:solidFill>
                <a:latin typeface="Microsoft YaHei"/>
                <a:ea typeface="Microsoft YaHei"/>
                <a:cs typeface="Microsoft YaHei"/>
              </a:rPr>
              <a:t>20 slides with automatic English narration</a:t>
            </a:r>
          </a:p>
        </p:txBody>
      </p:sp>
      <p:pic>
        <p:nvPicPr>
          <p:cNvPr id="8" name="Narration_Slide_1" descr="English narration for slide 1">
            <a:hlinkClick action="ppaction://media"/>
            <a:extLst>
              <a:ext uri="{FF2B5EF4-FFF2-40B4-BE49-F238E27FC236}">
                <a16:creationId xmlns:a16="http://schemas.microsoft.com/office/drawing/2014/main" id="{C04DBBC1-C02D-2521-961F-F37F27A1EC6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 y="76200"/>
            <a:ext cx="101600" cy="101600"/>
          </a:xfrm>
          <a:prstGeom prst="rect">
            <a:avLst/>
          </a:prstGeom>
        </p:spPr>
      </p:pic>
    </p:spTree>
    <p:extLst>
      <p:ext uri="{BB962C8B-B14F-4D97-AF65-F5344CB8AC3E}">
        <p14:creationId xmlns:p14="http://schemas.microsoft.com/office/powerpoint/2010/main" val="515196892"/>
      </p:ext>
    </p:extLst>
  </p:cSld>
  <p:clrMapOvr>
    <a:masterClrMapping/>
  </p:clrMapOvr>
  <mc:AlternateContent xmlns:mc="http://schemas.openxmlformats.org/markup-compatibility/2006">
    <mc:Choice xmlns:p14="http://schemas.microsoft.com/office/powerpoint/2010/main" Requires="p14">
      <p:transition spd="slow" p14:dur="2000" advClick="0" advTm="54252"/>
    </mc:Choice>
    <mc:Fallback>
      <p:transition spd="slow" advClick="0" advTm="542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F41F9863-5DF6-4130-90CD-7675D9D7F622}"/>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Gaps in cross-functional review</a:t>
            </a:r>
          </a:p>
        </p:txBody>
      </p:sp>
      <p:sp>
        <p:nvSpPr>
          <p:cNvPr id="2" name="slide-subtitle">
            <a:extLst>
              <a:ext uri="{FF2B5EF4-FFF2-40B4-BE49-F238E27FC236}">
                <a16:creationId xmlns:a16="http://schemas.microsoft.com/office/drawing/2014/main" id="{636ED31F-F882-419D-9476-A5E6C0287B53}"/>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The business problem behind the project</a:t>
            </a:r>
          </a:p>
        </p:txBody>
      </p:sp>
      <p:sp>
        <p:nvSpPr>
          <p:cNvPr id="3" name="page-number">
            <a:extLst>
              <a:ext uri="{FF2B5EF4-FFF2-40B4-BE49-F238E27FC236}">
                <a16:creationId xmlns:a16="http://schemas.microsoft.com/office/drawing/2014/main" id="{F1612C95-D5D9-4156-931B-0165B64B9903}"/>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02 / 20</a:t>
            </a:r>
          </a:p>
        </p:txBody>
      </p:sp>
      <p:sp>
        <p:nvSpPr>
          <p:cNvPr id="4" name="text-3">
            <a:extLst>
              <a:ext uri="{FF2B5EF4-FFF2-40B4-BE49-F238E27FC236}">
                <a16:creationId xmlns:a16="http://schemas.microsoft.com/office/drawing/2014/main" id="{F2E10A68-6EE6-4485-AE88-53C4C8EA56C1}"/>
              </a:ext>
            </a:extLst>
          </p:cNvPr>
          <p:cNvSpPr>
            <a:spLocks noGrp="1"/>
          </p:cNvSpPr>
          <p:nvPr/>
        </p:nvSpPr>
        <p:spPr>
          <a:xfrm>
            <a:off x="628650" y="1895475"/>
            <a:ext cx="971550" cy="762000"/>
          </a:xfrm>
          <a:prstGeom prst="rect">
            <a:avLst/>
          </a:prstGeom>
          <a:noFill/>
          <a:ln w="0">
            <a:noFill/>
          </a:ln>
        </p:spPr>
        <p:txBody>
          <a:bodyPr lIns="0" tIns="0" rIns="0" bIns="0" anchor="t">
            <a:noAutofit/>
          </a:bodyPr>
          <a:lstStyle/>
          <a:p>
            <a:pPr algn="l">
              <a:defRPr sz="4200" b="1">
                <a:solidFill>
                  <a:srgbClr val="087F82"/>
                </a:solidFill>
                <a:latin typeface="Microsoft YaHei"/>
                <a:ea typeface="Microsoft YaHei"/>
                <a:cs typeface="Microsoft YaHei"/>
              </a:defRPr>
            </a:pPr>
            <a:r>
              <a:rPr sz="4200" b="1">
                <a:solidFill>
                  <a:srgbClr val="087F82"/>
                </a:solidFill>
                <a:latin typeface="Microsoft YaHei"/>
                <a:ea typeface="Microsoft YaHei"/>
                <a:cs typeface="Microsoft YaHei"/>
              </a:rPr>
              <a:t>01</a:t>
            </a:r>
          </a:p>
        </p:txBody>
      </p:sp>
      <p:sp>
        <p:nvSpPr>
          <p:cNvPr id="5" name="text-4">
            <a:extLst>
              <a:ext uri="{FF2B5EF4-FFF2-40B4-BE49-F238E27FC236}">
                <a16:creationId xmlns:a16="http://schemas.microsoft.com/office/drawing/2014/main" id="{B4B255EC-C3A2-422B-A4C2-3E2D3B0613EC}"/>
              </a:ext>
            </a:extLst>
          </p:cNvPr>
          <p:cNvSpPr>
            <a:spLocks noGrp="1"/>
          </p:cNvSpPr>
          <p:nvPr/>
        </p:nvSpPr>
        <p:spPr>
          <a:xfrm>
            <a:off x="1857375" y="1914525"/>
            <a:ext cx="9429750" cy="485775"/>
          </a:xfrm>
          <a:prstGeom prst="rect">
            <a:avLst/>
          </a:prstGeom>
          <a:noFill/>
          <a:ln w="0">
            <a:noFill/>
          </a:ln>
        </p:spPr>
        <p:txBody>
          <a:bodyPr lIns="0" tIns="0" rIns="0" bIns="0" anchor="t">
            <a:noAutofit/>
          </a:bodyPr>
          <a:lstStyle/>
          <a:p>
            <a:pPr algn="l">
              <a:defRPr sz="2550" b="1">
                <a:solidFill>
                  <a:srgbClr val="183239"/>
                </a:solidFill>
                <a:latin typeface="Microsoft YaHei"/>
                <a:ea typeface="Microsoft YaHei"/>
                <a:cs typeface="Microsoft YaHei"/>
              </a:defRPr>
            </a:pPr>
            <a:r>
              <a:rPr sz="2550" b="1">
                <a:solidFill>
                  <a:srgbClr val="183239"/>
                </a:solidFill>
                <a:latin typeface="Microsoft YaHei"/>
                <a:ea typeface="Microsoft YaHei"/>
                <a:cs typeface="Microsoft YaHei"/>
              </a:rPr>
              <a:t>Separate records</a:t>
            </a:r>
          </a:p>
        </p:txBody>
      </p:sp>
      <p:sp>
        <p:nvSpPr>
          <p:cNvPr id="6" name="text-5">
            <a:extLst>
              <a:ext uri="{FF2B5EF4-FFF2-40B4-BE49-F238E27FC236}">
                <a16:creationId xmlns:a16="http://schemas.microsoft.com/office/drawing/2014/main" id="{EB751B47-2224-4BC3-924D-492EF2954566}"/>
              </a:ext>
            </a:extLst>
          </p:cNvPr>
          <p:cNvSpPr>
            <a:spLocks noGrp="1"/>
          </p:cNvSpPr>
          <p:nvPr/>
        </p:nvSpPr>
        <p:spPr>
          <a:xfrm>
            <a:off x="1857375" y="2476500"/>
            <a:ext cx="9429750" cy="600075"/>
          </a:xfrm>
          <a:prstGeom prst="rect">
            <a:avLst/>
          </a:prstGeom>
          <a:noFill/>
          <a:ln w="0">
            <a:noFill/>
          </a:ln>
        </p:spPr>
        <p:txBody>
          <a:bodyPr lIns="0" tIns="0" rIns="0" bIns="0" anchor="t">
            <a:noAutofit/>
          </a:bodyPr>
          <a:lstStyle/>
          <a:p>
            <a:pPr algn="l">
              <a:defRPr sz="2025" b="0">
                <a:solidFill>
                  <a:srgbClr val="526970"/>
                </a:solidFill>
                <a:latin typeface="Microsoft YaHei"/>
                <a:ea typeface="Microsoft YaHei"/>
                <a:cs typeface="Microsoft YaHei"/>
              </a:defRPr>
            </a:pPr>
            <a:r>
              <a:rPr sz="2025" b="0">
                <a:solidFill>
                  <a:srgbClr val="526970"/>
                </a:solidFill>
                <a:latin typeface="Microsoft YaHei"/>
                <a:ea typeface="Microsoft YaHei"/>
                <a:cs typeface="Microsoft YaHei"/>
              </a:rPr>
              <a:t>Payroll, ledger and bank data sit apart</a:t>
            </a:r>
          </a:p>
        </p:txBody>
      </p:sp>
      <p:sp>
        <p:nvSpPr>
          <p:cNvPr id="7" name="text-6">
            <a:extLst>
              <a:ext uri="{FF2B5EF4-FFF2-40B4-BE49-F238E27FC236}">
                <a16:creationId xmlns:a16="http://schemas.microsoft.com/office/drawing/2014/main" id="{BC1B87F3-2001-4359-929A-C3A622F25995}"/>
              </a:ext>
            </a:extLst>
          </p:cNvPr>
          <p:cNvSpPr>
            <a:spLocks noGrp="1"/>
          </p:cNvSpPr>
          <p:nvPr/>
        </p:nvSpPr>
        <p:spPr>
          <a:xfrm>
            <a:off x="628650" y="3228975"/>
            <a:ext cx="971550" cy="762000"/>
          </a:xfrm>
          <a:prstGeom prst="rect">
            <a:avLst/>
          </a:prstGeom>
          <a:noFill/>
          <a:ln w="0">
            <a:noFill/>
          </a:ln>
        </p:spPr>
        <p:txBody>
          <a:bodyPr lIns="0" tIns="0" rIns="0" bIns="0" anchor="t">
            <a:noAutofit/>
          </a:bodyPr>
          <a:lstStyle/>
          <a:p>
            <a:pPr algn="l">
              <a:defRPr sz="4200" b="1">
                <a:solidFill>
                  <a:srgbClr val="087F82"/>
                </a:solidFill>
                <a:latin typeface="Microsoft YaHei"/>
                <a:ea typeface="Microsoft YaHei"/>
                <a:cs typeface="Microsoft YaHei"/>
              </a:defRPr>
            </a:pPr>
            <a:r>
              <a:rPr sz="4200" b="1">
                <a:solidFill>
                  <a:srgbClr val="087F82"/>
                </a:solidFill>
                <a:latin typeface="Microsoft YaHei"/>
                <a:ea typeface="Microsoft YaHei"/>
                <a:cs typeface="Microsoft YaHei"/>
              </a:rPr>
              <a:t>02</a:t>
            </a:r>
          </a:p>
        </p:txBody>
      </p:sp>
      <p:sp>
        <p:nvSpPr>
          <p:cNvPr id="8" name="text-7">
            <a:extLst>
              <a:ext uri="{FF2B5EF4-FFF2-40B4-BE49-F238E27FC236}">
                <a16:creationId xmlns:a16="http://schemas.microsoft.com/office/drawing/2014/main" id="{4C4F992A-AB12-4D00-B383-EF86FA6B35F2}"/>
              </a:ext>
            </a:extLst>
          </p:cNvPr>
          <p:cNvSpPr>
            <a:spLocks noGrp="1"/>
          </p:cNvSpPr>
          <p:nvPr/>
        </p:nvSpPr>
        <p:spPr>
          <a:xfrm>
            <a:off x="1857375" y="3248025"/>
            <a:ext cx="9429750" cy="485775"/>
          </a:xfrm>
          <a:prstGeom prst="rect">
            <a:avLst/>
          </a:prstGeom>
          <a:noFill/>
          <a:ln w="0">
            <a:noFill/>
          </a:ln>
        </p:spPr>
        <p:txBody>
          <a:bodyPr lIns="0" tIns="0" rIns="0" bIns="0" anchor="t">
            <a:noAutofit/>
          </a:bodyPr>
          <a:lstStyle/>
          <a:p>
            <a:pPr algn="l">
              <a:defRPr sz="2550" b="1">
                <a:solidFill>
                  <a:srgbClr val="183239"/>
                </a:solidFill>
                <a:latin typeface="Microsoft YaHei"/>
                <a:ea typeface="Microsoft YaHei"/>
                <a:cs typeface="Microsoft YaHei"/>
              </a:defRPr>
            </a:pPr>
            <a:r>
              <a:rPr sz="2550" b="1">
                <a:solidFill>
                  <a:srgbClr val="183239"/>
                </a:solidFill>
                <a:latin typeface="Microsoft YaHei"/>
                <a:ea typeface="Microsoft YaHei"/>
                <a:cs typeface="Microsoft YaHei"/>
              </a:rPr>
              <a:t>Outdated reports</a:t>
            </a:r>
          </a:p>
        </p:txBody>
      </p:sp>
      <p:sp>
        <p:nvSpPr>
          <p:cNvPr id="9" name="text-8">
            <a:extLst>
              <a:ext uri="{FF2B5EF4-FFF2-40B4-BE49-F238E27FC236}">
                <a16:creationId xmlns:a16="http://schemas.microsoft.com/office/drawing/2014/main" id="{711EEAF4-75C1-463B-8CE5-D42FA66A0D7B}"/>
              </a:ext>
            </a:extLst>
          </p:cNvPr>
          <p:cNvSpPr>
            <a:spLocks noGrp="1"/>
          </p:cNvSpPr>
          <p:nvPr/>
        </p:nvSpPr>
        <p:spPr>
          <a:xfrm>
            <a:off x="1857375" y="3810000"/>
            <a:ext cx="9429750" cy="600075"/>
          </a:xfrm>
          <a:prstGeom prst="rect">
            <a:avLst/>
          </a:prstGeom>
          <a:noFill/>
          <a:ln w="0">
            <a:noFill/>
          </a:ln>
        </p:spPr>
        <p:txBody>
          <a:bodyPr lIns="0" tIns="0" rIns="0" bIns="0" anchor="t">
            <a:noAutofit/>
          </a:bodyPr>
          <a:lstStyle/>
          <a:p>
            <a:pPr algn="l">
              <a:defRPr sz="2025" b="0">
                <a:solidFill>
                  <a:srgbClr val="526970"/>
                </a:solidFill>
                <a:latin typeface="Microsoft YaHei"/>
                <a:ea typeface="Microsoft YaHei"/>
                <a:cs typeface="Microsoft YaHei"/>
              </a:defRPr>
            </a:pPr>
            <a:r>
              <a:rPr sz="2025" b="0">
                <a:solidFill>
                  <a:srgbClr val="526970"/>
                </a:solidFill>
                <a:latin typeface="Microsoft YaHei"/>
                <a:ea typeface="Microsoft YaHei"/>
                <a:cs typeface="Microsoft YaHei"/>
              </a:rPr>
              <a:t>Source data can change after a report circulates</a:t>
            </a:r>
          </a:p>
        </p:txBody>
      </p:sp>
      <p:sp>
        <p:nvSpPr>
          <p:cNvPr id="10" name="text-9">
            <a:extLst>
              <a:ext uri="{FF2B5EF4-FFF2-40B4-BE49-F238E27FC236}">
                <a16:creationId xmlns:a16="http://schemas.microsoft.com/office/drawing/2014/main" id="{1FE8F27D-9D07-4A04-9EFF-3F6C24B5FDC0}"/>
              </a:ext>
            </a:extLst>
          </p:cNvPr>
          <p:cNvSpPr>
            <a:spLocks noGrp="1"/>
          </p:cNvSpPr>
          <p:nvPr/>
        </p:nvSpPr>
        <p:spPr>
          <a:xfrm>
            <a:off x="628650" y="4562475"/>
            <a:ext cx="971550" cy="762000"/>
          </a:xfrm>
          <a:prstGeom prst="rect">
            <a:avLst/>
          </a:prstGeom>
          <a:noFill/>
          <a:ln w="0">
            <a:noFill/>
          </a:ln>
        </p:spPr>
        <p:txBody>
          <a:bodyPr lIns="0" tIns="0" rIns="0" bIns="0" anchor="t">
            <a:noAutofit/>
          </a:bodyPr>
          <a:lstStyle/>
          <a:p>
            <a:pPr algn="l">
              <a:defRPr sz="4200" b="1">
                <a:solidFill>
                  <a:srgbClr val="087F82"/>
                </a:solidFill>
                <a:latin typeface="Microsoft YaHei"/>
                <a:ea typeface="Microsoft YaHei"/>
                <a:cs typeface="Microsoft YaHei"/>
              </a:defRPr>
            </a:pPr>
            <a:r>
              <a:rPr sz="4200" b="1">
                <a:solidFill>
                  <a:srgbClr val="087F82"/>
                </a:solidFill>
                <a:latin typeface="Microsoft YaHei"/>
                <a:ea typeface="Microsoft YaHei"/>
                <a:cs typeface="Microsoft YaHei"/>
              </a:rPr>
              <a:t>03</a:t>
            </a:r>
          </a:p>
        </p:txBody>
      </p:sp>
      <p:sp>
        <p:nvSpPr>
          <p:cNvPr id="11" name="text-10">
            <a:extLst>
              <a:ext uri="{FF2B5EF4-FFF2-40B4-BE49-F238E27FC236}">
                <a16:creationId xmlns:a16="http://schemas.microsoft.com/office/drawing/2014/main" id="{0615BBCB-1CB8-4917-B5BC-77BD7F5536B9}"/>
              </a:ext>
            </a:extLst>
          </p:cNvPr>
          <p:cNvSpPr>
            <a:spLocks noGrp="1"/>
          </p:cNvSpPr>
          <p:nvPr/>
        </p:nvSpPr>
        <p:spPr>
          <a:xfrm>
            <a:off x="1857375" y="4581525"/>
            <a:ext cx="9429750" cy="485775"/>
          </a:xfrm>
          <a:prstGeom prst="rect">
            <a:avLst/>
          </a:prstGeom>
          <a:noFill/>
          <a:ln w="0">
            <a:noFill/>
          </a:ln>
        </p:spPr>
        <p:txBody>
          <a:bodyPr lIns="0" tIns="0" rIns="0" bIns="0" anchor="t">
            <a:noAutofit/>
          </a:bodyPr>
          <a:lstStyle/>
          <a:p>
            <a:pPr algn="l">
              <a:defRPr sz="2550" b="1">
                <a:solidFill>
                  <a:srgbClr val="183239"/>
                </a:solidFill>
                <a:latin typeface="Microsoft YaHei"/>
                <a:ea typeface="Microsoft YaHei"/>
                <a:cs typeface="Microsoft YaHei"/>
              </a:defRPr>
            </a:pPr>
            <a:r>
              <a:rPr sz="2550" b="1">
                <a:solidFill>
                  <a:srgbClr val="183239"/>
                </a:solidFill>
                <a:latin typeface="Microsoft YaHei"/>
                <a:ea typeface="Microsoft YaHei"/>
                <a:cs typeface="Microsoft YaHei"/>
              </a:rPr>
              <a:t>Unclear decisions</a:t>
            </a:r>
          </a:p>
        </p:txBody>
      </p:sp>
      <p:sp>
        <p:nvSpPr>
          <p:cNvPr id="12" name="text-11">
            <a:extLst>
              <a:ext uri="{FF2B5EF4-FFF2-40B4-BE49-F238E27FC236}">
                <a16:creationId xmlns:a16="http://schemas.microsoft.com/office/drawing/2014/main" id="{7878250F-F636-4130-A128-2F9CA89662F5}"/>
              </a:ext>
            </a:extLst>
          </p:cNvPr>
          <p:cNvSpPr>
            <a:spLocks noGrp="1"/>
          </p:cNvSpPr>
          <p:nvPr/>
        </p:nvSpPr>
        <p:spPr>
          <a:xfrm>
            <a:off x="1857375" y="5143500"/>
            <a:ext cx="9429750" cy="600075"/>
          </a:xfrm>
          <a:prstGeom prst="rect">
            <a:avLst/>
          </a:prstGeom>
          <a:noFill/>
          <a:ln w="0">
            <a:noFill/>
          </a:ln>
        </p:spPr>
        <p:txBody>
          <a:bodyPr lIns="0" tIns="0" rIns="0" bIns="0" anchor="t">
            <a:noAutofit/>
          </a:bodyPr>
          <a:lstStyle/>
          <a:p>
            <a:pPr algn="l">
              <a:defRPr sz="2025" b="0">
                <a:solidFill>
                  <a:srgbClr val="526970"/>
                </a:solidFill>
                <a:latin typeface="Microsoft YaHei"/>
                <a:ea typeface="Microsoft YaHei"/>
                <a:cs typeface="Microsoft YaHei"/>
              </a:defRPr>
            </a:pPr>
            <a:r>
              <a:rPr sz="2025" b="0">
                <a:solidFill>
                  <a:srgbClr val="526970"/>
                </a:solidFill>
                <a:latin typeface="Microsoft YaHei"/>
                <a:ea typeface="Microsoft YaHei"/>
                <a:cs typeface="Microsoft YaHei"/>
              </a:rPr>
              <a:t>Reviewers need the evidence behind an approval</a:t>
            </a:r>
          </a:p>
        </p:txBody>
      </p:sp>
      <p:pic>
        <p:nvPicPr>
          <p:cNvPr id="14" name="Narration_Slide_2" descr="English narration for slide 2">
            <a:hlinkClick action="ppaction://media"/>
            <a:extLst>
              <a:ext uri="{FF2B5EF4-FFF2-40B4-BE49-F238E27FC236}">
                <a16:creationId xmlns:a16="http://schemas.microsoft.com/office/drawing/2014/main" id="{5FFD68FB-FF74-D526-D343-E6FE297B373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 y="76200"/>
            <a:ext cx="101600" cy="101600"/>
          </a:xfrm>
          <a:prstGeom prst="rect">
            <a:avLst/>
          </a:prstGeom>
        </p:spPr>
      </p:pic>
    </p:spTree>
    <p:extLst>
      <p:ext uri="{BB962C8B-B14F-4D97-AF65-F5344CB8AC3E}">
        <p14:creationId xmlns:p14="http://schemas.microsoft.com/office/powerpoint/2010/main" val="1057250739"/>
      </p:ext>
    </p:extLst>
  </p:cSld>
  <p:clrMapOvr>
    <a:masterClrMapping/>
  </p:clrMapOvr>
  <mc:AlternateContent xmlns:mc="http://schemas.openxmlformats.org/markup-compatibility/2006">
    <mc:Choice xmlns:p14="http://schemas.microsoft.com/office/powerpoint/2010/main" Requires="p14">
      <p:transition spd="slow" p14:dur="2000" advClick="0" advTm="54924"/>
    </mc:Choice>
    <mc:Fallback>
      <p:transition spd="slow" advClick="0" advTm="549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1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D65C8903-EBEB-4884-83D3-2ED46B381686}"/>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The maintained version</a:t>
            </a:r>
          </a:p>
        </p:txBody>
      </p:sp>
      <p:sp>
        <p:nvSpPr>
          <p:cNvPr id="2" name="slide-subtitle">
            <a:extLst>
              <a:ext uri="{FF2B5EF4-FFF2-40B4-BE49-F238E27FC236}">
                <a16:creationId xmlns:a16="http://schemas.microsoft.com/office/drawing/2014/main" id="{190EA9D4-B0B1-4E3C-81AD-9F9431A46845}"/>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Changes since the earlier browser prototype</a:t>
            </a:r>
          </a:p>
        </p:txBody>
      </p:sp>
      <p:sp>
        <p:nvSpPr>
          <p:cNvPr id="3" name="page-number">
            <a:extLst>
              <a:ext uri="{FF2B5EF4-FFF2-40B4-BE49-F238E27FC236}">
                <a16:creationId xmlns:a16="http://schemas.microsoft.com/office/drawing/2014/main" id="{8282E664-0F57-4804-A57C-500EC8F48F95}"/>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03 / 20</a:t>
            </a:r>
          </a:p>
        </p:txBody>
      </p:sp>
      <p:graphicFrame>
        <p:nvGraphicFramePr>
          <p:cNvPr id="8" name="Table 7"/>
          <p:cNvGraphicFramePr/>
          <p:nvPr/>
        </p:nvGraphicFramePr>
        <p:xfrm>
          <a:off x="609600" y="1752600"/>
          <a:ext cx="10972800" cy="4191000"/>
        </p:xfrm>
        <a:graphic>
          <a:graphicData uri="http://schemas.openxmlformats.org/drawingml/2006/table">
            <a:tbl>
              <a:tblPr/>
              <a:tblGrid>
                <a:gridCol w="2428875">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4686300">
                  <a:extLst>
                    <a:ext uri="{9D8B030D-6E8A-4147-A177-3AD203B41FA5}">
                      <a16:colId xmlns:a16="http://schemas.microsoft.com/office/drawing/2014/main" val="20002"/>
                    </a:ext>
                  </a:extLst>
                </a:gridCol>
              </a:tblGrid>
              <a:tr h="838200">
                <a:tc>
                  <a:txBody>
                    <a:bodyPr/>
                    <a:lstStyle/>
                    <a:p>
                      <a:pPr algn="l"/>
                      <a:r>
                        <a:rPr sz="1725" b="1">
                          <a:solidFill>
                            <a:srgbClr val="FFFFFF"/>
                          </a:solidFill>
                          <a:latin typeface="Microsoft YaHei"/>
                          <a:ea typeface="Microsoft YaHei"/>
                          <a:cs typeface="Microsoft YaHei"/>
                        </a:rPr>
                        <a:t>Capability</a:t>
                      </a:r>
                    </a:p>
                  </a:txBody>
                  <a:tcPr marL="152400" marR="152400" marT="85725" marB="85725" anchor="ctr">
                    <a:solidFill>
                      <a:srgbClr val="15363C"/>
                    </a:solidFill>
                  </a:tcPr>
                </a:tc>
                <a:tc>
                  <a:txBody>
                    <a:bodyPr/>
                    <a:lstStyle/>
                    <a:p>
                      <a:pPr algn="l"/>
                      <a:r>
                        <a:rPr sz="1725" b="1">
                          <a:solidFill>
                            <a:srgbClr val="FFFFFF"/>
                          </a:solidFill>
                          <a:latin typeface="Microsoft YaHei"/>
                          <a:ea typeface="Microsoft YaHei"/>
                          <a:cs typeface="Microsoft YaHei"/>
                        </a:rPr>
                        <a:t>Earlier prototype</a:t>
                      </a:r>
                    </a:p>
                  </a:txBody>
                  <a:tcPr marL="152400" marR="152400" marT="85725" marB="85725" anchor="ctr">
                    <a:solidFill>
                      <a:srgbClr val="15363C"/>
                    </a:solidFill>
                  </a:tcPr>
                </a:tc>
                <a:tc>
                  <a:txBody>
                    <a:bodyPr/>
                    <a:lstStyle/>
                    <a:p>
                      <a:pPr algn="l"/>
                      <a:r>
                        <a:rPr sz="1725" b="1">
                          <a:solidFill>
                            <a:srgbClr val="FFFFFF"/>
                          </a:solidFill>
                          <a:latin typeface="Microsoft YaHei"/>
                          <a:ea typeface="Microsoft YaHei"/>
                          <a:cs typeface="Microsoft YaHei"/>
                        </a:rPr>
                        <a:t>Current v2</a:t>
                      </a:r>
                    </a:p>
                  </a:txBody>
                  <a:tcPr marL="152400" marR="152400" marT="85725" marB="85725" anchor="ctr">
                    <a:solidFill>
                      <a:srgbClr val="15363C"/>
                    </a:solidFill>
                  </a:tcPr>
                </a:tc>
                <a:extLst>
                  <a:ext uri="{0D108BD9-81ED-4DB2-BD59-A6C34878D82A}">
                    <a16:rowId xmlns:a16="http://schemas.microsoft.com/office/drawing/2014/main" val="10000"/>
                  </a:ext>
                </a:extLst>
              </a:tr>
              <a:tr h="838200">
                <a:tc>
                  <a:txBody>
                    <a:bodyPr/>
                    <a:lstStyle/>
                    <a:p>
                      <a:pPr algn="l"/>
                      <a:r>
                        <a:rPr sz="1725" b="0">
                          <a:solidFill>
                            <a:srgbClr val="183239"/>
                          </a:solidFill>
                          <a:latin typeface="Microsoft YaHei"/>
                          <a:ea typeface="Microsoft YaHei"/>
                          <a:cs typeface="Microsoft YaHei"/>
                        </a:rPr>
                        <a:t>Persistence</a:t>
                      </a:r>
                    </a:p>
                  </a:txBody>
                  <a:tcPr marL="152400" marR="152400" marT="85725" marB="85725" anchor="ctr">
                    <a:solidFill>
                      <a:srgbClr val="FFFFFF"/>
                    </a:solidFill>
                  </a:tcPr>
                </a:tc>
                <a:tc>
                  <a:txBody>
                    <a:bodyPr/>
                    <a:lstStyle/>
                    <a:p>
                      <a:pPr algn="l"/>
                      <a:r>
                        <a:rPr sz="1725" b="0">
                          <a:solidFill>
                            <a:srgbClr val="183239"/>
                          </a:solidFill>
                          <a:latin typeface="Microsoft YaHei"/>
                          <a:ea typeface="Microsoft YaHei"/>
                          <a:cs typeface="Microsoft YaHei"/>
                        </a:rPr>
                        <a:t>Browser storage</a:t>
                      </a:r>
                    </a:p>
                  </a:txBody>
                  <a:tcPr marL="152400" marR="152400" marT="85725" marB="85725" anchor="ctr">
                    <a:solidFill>
                      <a:srgbClr val="FFFFFF"/>
                    </a:solidFill>
                  </a:tcPr>
                </a:tc>
                <a:tc>
                  <a:txBody>
                    <a:bodyPr/>
                    <a:lstStyle/>
                    <a:p>
                      <a:pPr algn="l"/>
                      <a:r>
                        <a:rPr sz="1725" b="0">
                          <a:solidFill>
                            <a:srgbClr val="183239"/>
                          </a:solidFill>
                          <a:latin typeface="Microsoft YaHei"/>
                          <a:ea typeface="Microsoft YaHei"/>
                          <a:cs typeface="Microsoft YaHei"/>
                        </a:rPr>
                        <a:t>Server persistence</a:t>
                      </a:r>
                    </a:p>
                  </a:txBody>
                  <a:tcPr marL="152400" marR="152400" marT="85725" marB="85725" anchor="ctr">
                    <a:solidFill>
                      <a:srgbClr val="FFFFFF"/>
                    </a:solidFill>
                  </a:tcPr>
                </a:tc>
                <a:extLst>
                  <a:ext uri="{0D108BD9-81ED-4DB2-BD59-A6C34878D82A}">
                    <a16:rowId xmlns:a16="http://schemas.microsoft.com/office/drawing/2014/main" val="10001"/>
                  </a:ext>
                </a:extLst>
              </a:tr>
              <a:tr h="838200">
                <a:tc>
                  <a:txBody>
                    <a:bodyPr/>
                    <a:lstStyle/>
                    <a:p>
                      <a:pPr algn="l"/>
                      <a:r>
                        <a:rPr sz="1725" b="0">
                          <a:solidFill>
                            <a:srgbClr val="183239"/>
                          </a:solidFill>
                          <a:latin typeface="Microsoft YaHei"/>
                          <a:ea typeface="Microsoft YaHei"/>
                          <a:cs typeface="Microsoft YaHei"/>
                        </a:rPr>
                        <a:t>Access</a:t>
                      </a:r>
                    </a:p>
                  </a:txBody>
                  <a:tcPr marL="152400" marR="152400" marT="85725" marB="85725" anchor="ctr">
                    <a:solidFill>
                      <a:srgbClr val="EEF3F0"/>
                    </a:solidFill>
                  </a:tcPr>
                </a:tc>
                <a:tc>
                  <a:txBody>
                    <a:bodyPr/>
                    <a:lstStyle/>
                    <a:p>
                      <a:pPr algn="l"/>
                      <a:r>
                        <a:rPr sz="1725" b="0">
                          <a:solidFill>
                            <a:srgbClr val="183239"/>
                          </a:solidFill>
                          <a:latin typeface="Microsoft YaHei"/>
                          <a:ea typeface="Microsoft YaHei"/>
                          <a:cs typeface="Microsoft YaHei"/>
                        </a:rPr>
                        <a:t>Role simulation</a:t>
                      </a:r>
                    </a:p>
                  </a:txBody>
                  <a:tcPr marL="152400" marR="152400" marT="85725" marB="85725" anchor="ctr">
                    <a:solidFill>
                      <a:srgbClr val="EEF3F0"/>
                    </a:solidFill>
                  </a:tcPr>
                </a:tc>
                <a:tc>
                  <a:txBody>
                    <a:bodyPr/>
                    <a:lstStyle/>
                    <a:p>
                      <a:pPr algn="l"/>
                      <a:r>
                        <a:rPr sz="1725" b="0">
                          <a:solidFill>
                            <a:srgbClr val="183239"/>
                          </a:solidFill>
                          <a:latin typeface="Microsoft YaHei"/>
                          <a:ea typeface="Microsoft YaHei"/>
                          <a:cs typeface="Microsoft YaHei"/>
                        </a:rPr>
                        <a:t>Accounts and permissions</a:t>
                      </a:r>
                    </a:p>
                  </a:txBody>
                  <a:tcPr marL="152400" marR="152400" marT="85725" marB="85725" anchor="ctr">
                    <a:solidFill>
                      <a:srgbClr val="EEF3F0"/>
                    </a:solidFill>
                  </a:tcPr>
                </a:tc>
                <a:extLst>
                  <a:ext uri="{0D108BD9-81ED-4DB2-BD59-A6C34878D82A}">
                    <a16:rowId xmlns:a16="http://schemas.microsoft.com/office/drawing/2014/main" val="10002"/>
                  </a:ext>
                </a:extLst>
              </a:tr>
              <a:tr h="838200">
                <a:tc>
                  <a:txBody>
                    <a:bodyPr/>
                    <a:lstStyle/>
                    <a:p>
                      <a:pPr algn="l"/>
                      <a:r>
                        <a:rPr sz="1725" b="0">
                          <a:solidFill>
                            <a:srgbClr val="183239"/>
                          </a:solidFill>
                          <a:latin typeface="Microsoft YaHei"/>
                          <a:ea typeface="Microsoft YaHei"/>
                          <a:cs typeface="Microsoft YaHei"/>
                        </a:rPr>
                        <a:t>Inputs</a:t>
                      </a:r>
                    </a:p>
                  </a:txBody>
                  <a:tcPr marL="152400" marR="152400" marT="85725" marB="85725" anchor="ctr">
                    <a:solidFill>
                      <a:srgbClr val="FFFFFF"/>
                    </a:solidFill>
                  </a:tcPr>
                </a:tc>
                <a:tc>
                  <a:txBody>
                    <a:bodyPr/>
                    <a:lstStyle/>
                    <a:p>
                      <a:pPr algn="l"/>
                      <a:r>
                        <a:rPr sz="1725" b="0">
                          <a:solidFill>
                            <a:srgbClr val="183239"/>
                          </a:solidFill>
                          <a:latin typeface="Microsoft YaHei"/>
                          <a:ea typeface="Microsoft YaHei"/>
                          <a:cs typeface="Microsoft YaHei"/>
                        </a:rPr>
                        <a:t>Primarily payroll</a:t>
                      </a:r>
                    </a:p>
                  </a:txBody>
                  <a:tcPr marL="152400" marR="152400" marT="85725" marB="85725" anchor="ctr">
                    <a:solidFill>
                      <a:srgbClr val="FFFFFF"/>
                    </a:solidFill>
                  </a:tcPr>
                </a:tc>
                <a:tc>
                  <a:txBody>
                    <a:bodyPr/>
                    <a:lstStyle/>
                    <a:p>
                      <a:pPr algn="l"/>
                      <a:r>
                        <a:rPr sz="1725" b="0">
                          <a:solidFill>
                            <a:srgbClr val="183239"/>
                          </a:solidFill>
                          <a:latin typeface="Microsoft YaHei"/>
                          <a:ea typeface="Microsoft YaHei"/>
                          <a:cs typeface="Microsoft YaHei"/>
                        </a:rPr>
                        <a:t>Payroll, ledger and bank</a:t>
                      </a:r>
                    </a:p>
                  </a:txBody>
                  <a:tcPr marL="152400" marR="152400" marT="85725" marB="85725" anchor="ctr">
                    <a:solidFill>
                      <a:srgbClr val="FFFFFF"/>
                    </a:solidFill>
                  </a:tcPr>
                </a:tc>
                <a:extLst>
                  <a:ext uri="{0D108BD9-81ED-4DB2-BD59-A6C34878D82A}">
                    <a16:rowId xmlns:a16="http://schemas.microsoft.com/office/drawing/2014/main" val="10003"/>
                  </a:ext>
                </a:extLst>
              </a:tr>
              <a:tr h="838200">
                <a:tc>
                  <a:txBody>
                    <a:bodyPr/>
                    <a:lstStyle/>
                    <a:p>
                      <a:pPr algn="l"/>
                      <a:r>
                        <a:rPr sz="1725" b="0">
                          <a:solidFill>
                            <a:srgbClr val="183239"/>
                          </a:solidFill>
                          <a:latin typeface="Microsoft YaHei"/>
                          <a:ea typeface="Microsoft YaHei"/>
                          <a:cs typeface="Microsoft YaHei"/>
                        </a:rPr>
                        <a:t>Evidence</a:t>
                      </a:r>
                    </a:p>
                  </a:txBody>
                  <a:tcPr marL="152400" marR="152400" marT="85725" marB="85725" anchor="ctr">
                    <a:solidFill>
                      <a:srgbClr val="EEF3F0"/>
                    </a:solidFill>
                  </a:tcPr>
                </a:tc>
                <a:tc>
                  <a:txBody>
                    <a:bodyPr/>
                    <a:lstStyle/>
                    <a:p>
                      <a:pPr algn="l"/>
                      <a:r>
                        <a:rPr sz="1725" b="0">
                          <a:solidFill>
                            <a:srgbClr val="183239"/>
                          </a:solidFill>
                          <a:latin typeface="Microsoft YaHei"/>
                          <a:ea typeface="Microsoft YaHei"/>
                          <a:cs typeface="Microsoft YaHei"/>
                        </a:rPr>
                        <a:t>Reference numbers</a:t>
                      </a:r>
                    </a:p>
                  </a:txBody>
                  <a:tcPr marL="152400" marR="152400" marT="85725" marB="85725" anchor="ctr">
                    <a:solidFill>
                      <a:srgbClr val="EEF3F0"/>
                    </a:solidFill>
                  </a:tcPr>
                </a:tc>
                <a:tc>
                  <a:txBody>
                    <a:bodyPr/>
                    <a:lstStyle/>
                    <a:p>
                      <a:pPr algn="l"/>
                      <a:r>
                        <a:rPr sz="1725" b="0">
                          <a:solidFill>
                            <a:srgbClr val="183239"/>
                          </a:solidFill>
                          <a:latin typeface="Microsoft YaHei"/>
                          <a:ea typeface="Microsoft YaHei"/>
                          <a:cs typeface="Microsoft YaHei"/>
                        </a:rPr>
                        <a:t>Files, versions and ZIP export</a:t>
                      </a:r>
                    </a:p>
                  </a:txBody>
                  <a:tcPr marL="152400" marR="152400" marT="85725" marB="85725" anchor="ctr">
                    <a:solidFill>
                      <a:srgbClr val="EEF3F0"/>
                    </a:solidFill>
                  </a:tcPr>
                </a:tc>
                <a:extLst>
                  <a:ext uri="{0D108BD9-81ED-4DB2-BD59-A6C34878D82A}">
                    <a16:rowId xmlns:a16="http://schemas.microsoft.com/office/drawing/2014/main" val="10004"/>
                  </a:ext>
                </a:extLst>
              </a:tr>
            </a:tbl>
          </a:graphicData>
        </a:graphic>
      </p:graphicFrame>
      <p:pic>
        <p:nvPicPr>
          <p:cNvPr id="4" name="Narration_Slide_3" descr="English narration for slide 3">
            <a:hlinkClick action="ppaction://media"/>
            <a:extLst>
              <a:ext uri="{FF2B5EF4-FFF2-40B4-BE49-F238E27FC236}">
                <a16:creationId xmlns:a16="http://schemas.microsoft.com/office/drawing/2014/main" id="{6A76AE1A-8C3F-8C4D-7C3C-93DA08406F2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 y="76200"/>
            <a:ext cx="101600" cy="101600"/>
          </a:xfrm>
          <a:prstGeom prst="rect">
            <a:avLst/>
          </a:prstGeom>
        </p:spPr>
      </p:pic>
    </p:spTree>
    <p:extLst>
      <p:ext uri="{BB962C8B-B14F-4D97-AF65-F5344CB8AC3E}">
        <p14:creationId xmlns:p14="http://schemas.microsoft.com/office/powerpoint/2010/main" val="869743140"/>
      </p:ext>
    </p:extLst>
  </p:cSld>
  <p:clrMapOvr>
    <a:masterClrMapping/>
  </p:clrMapOvr>
  <mc:AlternateContent xmlns:mc="http://schemas.openxmlformats.org/markup-compatibility/2006">
    <mc:Choice xmlns:p14="http://schemas.microsoft.com/office/powerpoint/2010/main" Requires="p14">
      <p:transition spd="slow" p14:dur="2000" advClick="0" advTm="52812"/>
    </mc:Choice>
    <mc:Fallback>
      <p:transition spd="slow" advClick="0" advTm="528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6" name="slide-title">
            <a:extLst>
              <a:ext uri="{FF2B5EF4-FFF2-40B4-BE49-F238E27FC236}">
                <a16:creationId xmlns:a16="http://schemas.microsoft.com/office/drawing/2014/main" id="{84DC6176-8690-44D9-A6F7-AB2D3DB5121D}"/>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The review workflow</a:t>
            </a:r>
          </a:p>
        </p:txBody>
      </p:sp>
      <p:sp>
        <p:nvSpPr>
          <p:cNvPr id="2" name="slide-subtitle">
            <a:extLst>
              <a:ext uri="{FF2B5EF4-FFF2-40B4-BE49-F238E27FC236}">
                <a16:creationId xmlns:a16="http://schemas.microsoft.com/office/drawing/2014/main" id="{D14837AD-6794-4ED2-A578-5158EE8C2CC2}"/>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Four stages organise the case</a:t>
            </a:r>
          </a:p>
        </p:txBody>
      </p:sp>
      <p:sp>
        <p:nvSpPr>
          <p:cNvPr id="3" name="page-number">
            <a:extLst>
              <a:ext uri="{FF2B5EF4-FFF2-40B4-BE49-F238E27FC236}">
                <a16:creationId xmlns:a16="http://schemas.microsoft.com/office/drawing/2014/main" id="{0DC1C647-AA1C-4EAA-86CE-AA1511A552AA}"/>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04 / 20</a:t>
            </a:r>
          </a:p>
        </p:txBody>
      </p:sp>
      <p:sp>
        <p:nvSpPr>
          <p:cNvPr id="4" name="text-3">
            <a:extLst>
              <a:ext uri="{FF2B5EF4-FFF2-40B4-BE49-F238E27FC236}">
                <a16:creationId xmlns:a16="http://schemas.microsoft.com/office/drawing/2014/main" id="{D659318A-59F8-4810-A573-EEEB0FF42736}"/>
              </a:ext>
            </a:extLst>
          </p:cNvPr>
          <p:cNvSpPr>
            <a:spLocks noGrp="1"/>
          </p:cNvSpPr>
          <p:nvPr/>
        </p:nvSpPr>
        <p:spPr>
          <a:xfrm>
            <a:off x="742950" y="1790700"/>
            <a:ext cx="952500" cy="723900"/>
          </a:xfrm>
          <a:prstGeom prst="rect">
            <a:avLst/>
          </a:prstGeom>
          <a:noFill/>
          <a:ln w="0">
            <a:noFill/>
          </a:ln>
        </p:spPr>
        <p:txBody>
          <a:bodyPr lIns="0" tIns="0" rIns="0" bIns="0" anchor="t">
            <a:noAutofit/>
          </a:bodyPr>
          <a:lstStyle/>
          <a:p>
            <a:pPr algn="l">
              <a:defRPr sz="3825" b="1">
                <a:solidFill>
                  <a:srgbClr val="087F82"/>
                </a:solidFill>
                <a:latin typeface="Microsoft YaHei"/>
                <a:ea typeface="Microsoft YaHei"/>
                <a:cs typeface="Microsoft YaHei"/>
              </a:defRPr>
            </a:pPr>
            <a:r>
              <a:rPr sz="3825" b="1">
                <a:solidFill>
                  <a:srgbClr val="087F82"/>
                </a:solidFill>
                <a:latin typeface="Microsoft YaHei"/>
                <a:ea typeface="Microsoft YaHei"/>
                <a:cs typeface="Microsoft YaHei"/>
              </a:rPr>
              <a:t>01</a:t>
            </a:r>
          </a:p>
        </p:txBody>
      </p:sp>
      <p:sp>
        <p:nvSpPr>
          <p:cNvPr id="5" name="text-4">
            <a:extLst>
              <a:ext uri="{FF2B5EF4-FFF2-40B4-BE49-F238E27FC236}">
                <a16:creationId xmlns:a16="http://schemas.microsoft.com/office/drawing/2014/main" id="{AC879669-F479-4F90-BEC1-68549A694DF9}"/>
              </a:ext>
            </a:extLst>
          </p:cNvPr>
          <p:cNvSpPr>
            <a:spLocks noGrp="1"/>
          </p:cNvSpPr>
          <p:nvPr/>
        </p:nvSpPr>
        <p:spPr>
          <a:xfrm>
            <a:off x="2038350" y="1828800"/>
            <a:ext cx="8763000" cy="457200"/>
          </a:xfrm>
          <a:prstGeom prst="rect">
            <a:avLst/>
          </a:prstGeom>
          <a:noFill/>
          <a:ln w="0">
            <a:noFill/>
          </a:ln>
        </p:spPr>
        <p:txBody>
          <a:bodyPr lIns="0" tIns="0" rIns="0" bIns="0" anchor="t">
            <a:noAutofit/>
          </a:bodyPr>
          <a:lstStyle/>
          <a:p>
            <a:pPr algn="l">
              <a:defRPr sz="2625" b="1">
                <a:solidFill>
                  <a:srgbClr val="183239"/>
                </a:solidFill>
                <a:latin typeface="Microsoft YaHei"/>
                <a:ea typeface="Microsoft YaHei"/>
                <a:cs typeface="Microsoft YaHei"/>
              </a:defRPr>
            </a:pPr>
            <a:r>
              <a:rPr sz="2625" b="1">
                <a:solidFill>
                  <a:srgbClr val="183239"/>
                </a:solidFill>
                <a:latin typeface="Microsoft YaHei"/>
                <a:ea typeface="Microsoft YaHei"/>
                <a:cs typeface="Microsoft YaHei"/>
              </a:rPr>
              <a:t>Prepare records</a:t>
            </a:r>
          </a:p>
        </p:txBody>
      </p:sp>
      <p:sp>
        <p:nvSpPr>
          <p:cNvPr id="6" name="text-5">
            <a:extLst>
              <a:ext uri="{FF2B5EF4-FFF2-40B4-BE49-F238E27FC236}">
                <a16:creationId xmlns:a16="http://schemas.microsoft.com/office/drawing/2014/main" id="{F37441AE-3524-4024-9A3C-C79A34C75D2D}"/>
              </a:ext>
            </a:extLst>
          </p:cNvPr>
          <p:cNvSpPr>
            <a:spLocks noGrp="1"/>
          </p:cNvSpPr>
          <p:nvPr/>
        </p:nvSpPr>
        <p:spPr>
          <a:xfrm>
            <a:off x="2076450" y="2333625"/>
            <a:ext cx="8763000" cy="342900"/>
          </a:xfrm>
          <a:prstGeom prst="rect">
            <a:avLst/>
          </a:prstGeom>
          <a:noFill/>
          <a:ln w="0">
            <a:noFill/>
          </a:ln>
        </p:spPr>
        <p:txBody>
          <a:bodyPr lIns="0" tIns="0" rIns="0" bIns="0" anchor="t">
            <a:noAutofit/>
          </a:bodyPr>
          <a:lstStyle/>
          <a:p>
            <a:pPr algn="l">
              <a:defRPr sz="1875" b="0">
                <a:solidFill>
                  <a:srgbClr val="526970"/>
                </a:solidFill>
                <a:latin typeface="Microsoft YaHei"/>
                <a:ea typeface="Microsoft YaHei"/>
                <a:cs typeface="Microsoft YaHei"/>
              </a:defRPr>
            </a:pPr>
            <a:r>
              <a:rPr sz="1875" b="0">
                <a:solidFill>
                  <a:srgbClr val="526970"/>
                </a:solidFill>
                <a:latin typeface="Microsoft YaHei"/>
                <a:ea typeface="Microsoft YaHei"/>
                <a:cs typeface="Microsoft YaHei"/>
              </a:rPr>
              <a:t>Import source data and attach evidence</a:t>
            </a:r>
          </a:p>
        </p:txBody>
      </p:sp>
      <p:sp>
        <p:nvSpPr>
          <p:cNvPr id="7" name="text-6">
            <a:extLst>
              <a:ext uri="{FF2B5EF4-FFF2-40B4-BE49-F238E27FC236}">
                <a16:creationId xmlns:a16="http://schemas.microsoft.com/office/drawing/2014/main" id="{88D3F216-F441-4DD7-A78F-04A5CD86B2A8}"/>
              </a:ext>
            </a:extLst>
          </p:cNvPr>
          <p:cNvSpPr>
            <a:spLocks noGrp="1"/>
          </p:cNvSpPr>
          <p:nvPr/>
        </p:nvSpPr>
        <p:spPr>
          <a:xfrm>
            <a:off x="742950" y="2857500"/>
            <a:ext cx="952500" cy="723900"/>
          </a:xfrm>
          <a:prstGeom prst="rect">
            <a:avLst/>
          </a:prstGeom>
          <a:noFill/>
          <a:ln w="0">
            <a:noFill/>
          </a:ln>
        </p:spPr>
        <p:txBody>
          <a:bodyPr lIns="0" tIns="0" rIns="0" bIns="0" anchor="t">
            <a:noAutofit/>
          </a:bodyPr>
          <a:lstStyle/>
          <a:p>
            <a:pPr algn="l">
              <a:defRPr sz="3825" b="1">
                <a:solidFill>
                  <a:srgbClr val="087F82"/>
                </a:solidFill>
                <a:latin typeface="Microsoft YaHei"/>
                <a:ea typeface="Microsoft YaHei"/>
                <a:cs typeface="Microsoft YaHei"/>
              </a:defRPr>
            </a:pPr>
            <a:r>
              <a:rPr sz="3825" b="1">
                <a:solidFill>
                  <a:srgbClr val="087F82"/>
                </a:solidFill>
                <a:latin typeface="Microsoft YaHei"/>
                <a:ea typeface="Microsoft YaHei"/>
                <a:cs typeface="Microsoft YaHei"/>
              </a:rPr>
              <a:t>02</a:t>
            </a:r>
          </a:p>
        </p:txBody>
      </p:sp>
      <p:sp>
        <p:nvSpPr>
          <p:cNvPr id="8" name="text-7">
            <a:extLst>
              <a:ext uri="{FF2B5EF4-FFF2-40B4-BE49-F238E27FC236}">
                <a16:creationId xmlns:a16="http://schemas.microsoft.com/office/drawing/2014/main" id="{22E33E28-7A10-4075-8E45-1C1B6835B6C5}"/>
              </a:ext>
            </a:extLst>
          </p:cNvPr>
          <p:cNvSpPr>
            <a:spLocks noGrp="1"/>
          </p:cNvSpPr>
          <p:nvPr/>
        </p:nvSpPr>
        <p:spPr>
          <a:xfrm>
            <a:off x="2038350" y="2895600"/>
            <a:ext cx="8763000" cy="457200"/>
          </a:xfrm>
          <a:prstGeom prst="rect">
            <a:avLst/>
          </a:prstGeom>
          <a:noFill/>
          <a:ln w="0">
            <a:noFill/>
          </a:ln>
        </p:spPr>
        <p:txBody>
          <a:bodyPr lIns="0" tIns="0" rIns="0" bIns="0" anchor="t">
            <a:noAutofit/>
          </a:bodyPr>
          <a:lstStyle/>
          <a:p>
            <a:pPr algn="l">
              <a:defRPr sz="2625" b="1">
                <a:solidFill>
                  <a:srgbClr val="183239"/>
                </a:solidFill>
                <a:latin typeface="Microsoft YaHei"/>
                <a:ea typeface="Microsoft YaHei"/>
                <a:cs typeface="Microsoft YaHei"/>
              </a:defRPr>
            </a:pPr>
            <a:r>
              <a:rPr sz="2625" b="1">
                <a:solidFill>
                  <a:srgbClr val="183239"/>
                </a:solidFill>
                <a:latin typeface="Microsoft YaHei"/>
                <a:ea typeface="Microsoft YaHei"/>
                <a:cs typeface="Microsoft YaHei"/>
              </a:rPr>
              <a:t>Check and reconcile</a:t>
            </a:r>
          </a:p>
        </p:txBody>
      </p:sp>
      <p:sp>
        <p:nvSpPr>
          <p:cNvPr id="9" name="text-8">
            <a:extLst>
              <a:ext uri="{FF2B5EF4-FFF2-40B4-BE49-F238E27FC236}">
                <a16:creationId xmlns:a16="http://schemas.microsoft.com/office/drawing/2014/main" id="{54A00D93-088E-4518-B51A-B18D63BC414F}"/>
              </a:ext>
            </a:extLst>
          </p:cNvPr>
          <p:cNvSpPr>
            <a:spLocks noGrp="1"/>
          </p:cNvSpPr>
          <p:nvPr/>
        </p:nvSpPr>
        <p:spPr>
          <a:xfrm>
            <a:off x="2076450" y="3400425"/>
            <a:ext cx="8763000" cy="342900"/>
          </a:xfrm>
          <a:prstGeom prst="rect">
            <a:avLst/>
          </a:prstGeom>
          <a:noFill/>
          <a:ln w="0">
            <a:noFill/>
          </a:ln>
        </p:spPr>
        <p:txBody>
          <a:bodyPr lIns="0" tIns="0" rIns="0" bIns="0" anchor="t">
            <a:noAutofit/>
          </a:bodyPr>
          <a:lstStyle/>
          <a:p>
            <a:pPr algn="l">
              <a:defRPr sz="1875" b="0">
                <a:solidFill>
                  <a:srgbClr val="526970"/>
                </a:solidFill>
                <a:latin typeface="Microsoft YaHei"/>
                <a:ea typeface="Microsoft YaHei"/>
                <a:cs typeface="Microsoft YaHei"/>
              </a:defRPr>
            </a:pPr>
            <a:r>
              <a:rPr sz="1875" b="0">
                <a:solidFill>
                  <a:srgbClr val="526970"/>
                </a:solidFill>
                <a:latin typeface="Microsoft YaHei"/>
                <a:ea typeface="Microsoft YaHei"/>
                <a:cs typeface="Microsoft YaHei"/>
              </a:rPr>
              <a:t>Review issues and compare bank transactions</a:t>
            </a:r>
          </a:p>
        </p:txBody>
      </p:sp>
      <p:sp>
        <p:nvSpPr>
          <p:cNvPr id="10" name="text-9">
            <a:extLst>
              <a:ext uri="{FF2B5EF4-FFF2-40B4-BE49-F238E27FC236}">
                <a16:creationId xmlns:a16="http://schemas.microsoft.com/office/drawing/2014/main" id="{E2ED5AC3-408F-485F-957E-1A348F12375D}"/>
              </a:ext>
            </a:extLst>
          </p:cNvPr>
          <p:cNvSpPr>
            <a:spLocks noGrp="1"/>
          </p:cNvSpPr>
          <p:nvPr/>
        </p:nvSpPr>
        <p:spPr>
          <a:xfrm>
            <a:off x="742950" y="3924300"/>
            <a:ext cx="952500" cy="723900"/>
          </a:xfrm>
          <a:prstGeom prst="rect">
            <a:avLst/>
          </a:prstGeom>
          <a:noFill/>
          <a:ln w="0">
            <a:noFill/>
          </a:ln>
        </p:spPr>
        <p:txBody>
          <a:bodyPr lIns="0" tIns="0" rIns="0" bIns="0" anchor="t">
            <a:noAutofit/>
          </a:bodyPr>
          <a:lstStyle/>
          <a:p>
            <a:pPr algn="l">
              <a:defRPr sz="3825" b="1">
                <a:solidFill>
                  <a:srgbClr val="087F82"/>
                </a:solidFill>
                <a:latin typeface="Microsoft YaHei"/>
                <a:ea typeface="Microsoft YaHei"/>
                <a:cs typeface="Microsoft YaHei"/>
              </a:defRPr>
            </a:pPr>
            <a:r>
              <a:rPr sz="3825" b="1">
                <a:solidFill>
                  <a:srgbClr val="087F82"/>
                </a:solidFill>
                <a:latin typeface="Microsoft YaHei"/>
                <a:ea typeface="Microsoft YaHei"/>
                <a:cs typeface="Microsoft YaHei"/>
              </a:rPr>
              <a:t>03</a:t>
            </a:r>
          </a:p>
        </p:txBody>
      </p:sp>
      <p:sp>
        <p:nvSpPr>
          <p:cNvPr id="11" name="text-10">
            <a:extLst>
              <a:ext uri="{FF2B5EF4-FFF2-40B4-BE49-F238E27FC236}">
                <a16:creationId xmlns:a16="http://schemas.microsoft.com/office/drawing/2014/main" id="{EA8ED20E-1098-4B4F-8425-4E2E21653840}"/>
              </a:ext>
            </a:extLst>
          </p:cNvPr>
          <p:cNvSpPr>
            <a:spLocks noGrp="1"/>
          </p:cNvSpPr>
          <p:nvPr/>
        </p:nvSpPr>
        <p:spPr>
          <a:xfrm>
            <a:off x="2038350" y="3962400"/>
            <a:ext cx="8763000" cy="457200"/>
          </a:xfrm>
          <a:prstGeom prst="rect">
            <a:avLst/>
          </a:prstGeom>
          <a:noFill/>
          <a:ln w="0">
            <a:noFill/>
          </a:ln>
        </p:spPr>
        <p:txBody>
          <a:bodyPr lIns="0" tIns="0" rIns="0" bIns="0" anchor="t">
            <a:noAutofit/>
          </a:bodyPr>
          <a:lstStyle/>
          <a:p>
            <a:pPr algn="l">
              <a:defRPr sz="2625" b="1">
                <a:solidFill>
                  <a:srgbClr val="183239"/>
                </a:solidFill>
                <a:latin typeface="Microsoft YaHei"/>
                <a:ea typeface="Microsoft YaHei"/>
                <a:cs typeface="Microsoft YaHei"/>
              </a:defRPr>
            </a:pPr>
            <a:r>
              <a:rPr sz="2625" b="1">
                <a:solidFill>
                  <a:srgbClr val="183239"/>
                </a:solidFill>
                <a:latin typeface="Microsoft YaHei"/>
                <a:ea typeface="Microsoft YaHei"/>
                <a:cs typeface="Microsoft YaHei"/>
              </a:rPr>
              <a:t>Report and approve</a:t>
            </a:r>
          </a:p>
        </p:txBody>
      </p:sp>
      <p:sp>
        <p:nvSpPr>
          <p:cNvPr id="12" name="text-11">
            <a:extLst>
              <a:ext uri="{FF2B5EF4-FFF2-40B4-BE49-F238E27FC236}">
                <a16:creationId xmlns:a16="http://schemas.microsoft.com/office/drawing/2014/main" id="{F75B40E0-AE55-483F-B897-618E031F9E76}"/>
              </a:ext>
            </a:extLst>
          </p:cNvPr>
          <p:cNvSpPr>
            <a:spLocks noGrp="1"/>
          </p:cNvSpPr>
          <p:nvPr/>
        </p:nvSpPr>
        <p:spPr>
          <a:xfrm>
            <a:off x="2076450" y="4467225"/>
            <a:ext cx="8763000" cy="342900"/>
          </a:xfrm>
          <a:prstGeom prst="rect">
            <a:avLst/>
          </a:prstGeom>
          <a:noFill/>
          <a:ln w="0">
            <a:noFill/>
          </a:ln>
        </p:spPr>
        <p:txBody>
          <a:bodyPr lIns="0" tIns="0" rIns="0" bIns="0" anchor="t">
            <a:noAutofit/>
          </a:bodyPr>
          <a:lstStyle/>
          <a:p>
            <a:pPr algn="l">
              <a:defRPr sz="1875" b="0">
                <a:solidFill>
                  <a:srgbClr val="526970"/>
                </a:solidFill>
                <a:latin typeface="Microsoft YaHei"/>
                <a:ea typeface="Microsoft YaHei"/>
                <a:cs typeface="Microsoft YaHei"/>
              </a:defRPr>
            </a:pPr>
            <a:r>
              <a:rPr sz="1875" b="0">
                <a:solidFill>
                  <a:srgbClr val="526970"/>
                </a:solidFill>
                <a:latin typeface="Microsoft YaHei"/>
                <a:ea typeface="Microsoft YaHei"/>
                <a:cs typeface="Microsoft YaHei"/>
              </a:rPr>
              <a:t>Preserve the basis for separate review decisions</a:t>
            </a:r>
          </a:p>
        </p:txBody>
      </p:sp>
      <p:sp>
        <p:nvSpPr>
          <p:cNvPr id="13" name="text-12">
            <a:extLst>
              <a:ext uri="{FF2B5EF4-FFF2-40B4-BE49-F238E27FC236}">
                <a16:creationId xmlns:a16="http://schemas.microsoft.com/office/drawing/2014/main" id="{9923F3D5-97D0-4FF2-8598-E79928A0B4CE}"/>
              </a:ext>
            </a:extLst>
          </p:cNvPr>
          <p:cNvSpPr>
            <a:spLocks noGrp="1"/>
          </p:cNvSpPr>
          <p:nvPr/>
        </p:nvSpPr>
        <p:spPr>
          <a:xfrm>
            <a:off x="742950" y="4991100"/>
            <a:ext cx="952500" cy="723900"/>
          </a:xfrm>
          <a:prstGeom prst="rect">
            <a:avLst/>
          </a:prstGeom>
          <a:noFill/>
          <a:ln w="0">
            <a:noFill/>
          </a:ln>
        </p:spPr>
        <p:txBody>
          <a:bodyPr lIns="0" tIns="0" rIns="0" bIns="0" anchor="t">
            <a:noAutofit/>
          </a:bodyPr>
          <a:lstStyle/>
          <a:p>
            <a:pPr algn="l">
              <a:defRPr sz="3825" b="1">
                <a:solidFill>
                  <a:srgbClr val="087F82"/>
                </a:solidFill>
                <a:latin typeface="Microsoft YaHei"/>
                <a:ea typeface="Microsoft YaHei"/>
                <a:cs typeface="Microsoft YaHei"/>
              </a:defRPr>
            </a:pPr>
            <a:r>
              <a:rPr sz="3825" b="1">
                <a:solidFill>
                  <a:srgbClr val="087F82"/>
                </a:solidFill>
                <a:latin typeface="Microsoft YaHei"/>
                <a:ea typeface="Microsoft YaHei"/>
                <a:cs typeface="Microsoft YaHei"/>
              </a:rPr>
              <a:t>04</a:t>
            </a:r>
          </a:p>
        </p:txBody>
      </p:sp>
      <p:sp>
        <p:nvSpPr>
          <p:cNvPr id="14" name="text-13">
            <a:extLst>
              <a:ext uri="{FF2B5EF4-FFF2-40B4-BE49-F238E27FC236}">
                <a16:creationId xmlns:a16="http://schemas.microsoft.com/office/drawing/2014/main" id="{5CA17559-EDB7-4F5F-BED4-63C21670DA0B}"/>
              </a:ext>
            </a:extLst>
          </p:cNvPr>
          <p:cNvSpPr>
            <a:spLocks noGrp="1"/>
          </p:cNvSpPr>
          <p:nvPr/>
        </p:nvSpPr>
        <p:spPr>
          <a:xfrm>
            <a:off x="2038350" y="5029200"/>
            <a:ext cx="8763000" cy="457200"/>
          </a:xfrm>
          <a:prstGeom prst="rect">
            <a:avLst/>
          </a:prstGeom>
          <a:noFill/>
          <a:ln w="0">
            <a:noFill/>
          </a:ln>
        </p:spPr>
        <p:txBody>
          <a:bodyPr lIns="0" tIns="0" rIns="0" bIns="0" anchor="t">
            <a:noAutofit/>
          </a:bodyPr>
          <a:lstStyle/>
          <a:p>
            <a:pPr algn="l">
              <a:defRPr sz="2625" b="1">
                <a:solidFill>
                  <a:srgbClr val="183239"/>
                </a:solidFill>
                <a:latin typeface="Microsoft YaHei"/>
                <a:ea typeface="Microsoft YaHei"/>
                <a:cs typeface="Microsoft YaHei"/>
              </a:defRPr>
            </a:pPr>
            <a:r>
              <a:rPr sz="2625" b="1">
                <a:solidFill>
                  <a:srgbClr val="183239"/>
                </a:solidFill>
                <a:latin typeface="Microsoft YaHei"/>
                <a:ea typeface="Microsoft YaHei"/>
                <a:cs typeface="Microsoft YaHei"/>
              </a:rPr>
              <a:t>Seal and export</a:t>
            </a:r>
          </a:p>
        </p:txBody>
      </p:sp>
      <p:sp>
        <p:nvSpPr>
          <p:cNvPr id="15" name="text-14">
            <a:extLst>
              <a:ext uri="{FF2B5EF4-FFF2-40B4-BE49-F238E27FC236}">
                <a16:creationId xmlns:a16="http://schemas.microsoft.com/office/drawing/2014/main" id="{1AD607D9-EC1A-4826-9054-8DF141FD232D}"/>
              </a:ext>
            </a:extLst>
          </p:cNvPr>
          <p:cNvSpPr>
            <a:spLocks noGrp="1"/>
          </p:cNvSpPr>
          <p:nvPr/>
        </p:nvSpPr>
        <p:spPr>
          <a:xfrm>
            <a:off x="2076450" y="5534025"/>
            <a:ext cx="8763000" cy="342900"/>
          </a:xfrm>
          <a:prstGeom prst="rect">
            <a:avLst/>
          </a:prstGeom>
          <a:noFill/>
          <a:ln w="0">
            <a:noFill/>
          </a:ln>
        </p:spPr>
        <p:txBody>
          <a:bodyPr lIns="0" tIns="0" rIns="0" bIns="0" anchor="t">
            <a:noAutofit/>
          </a:bodyPr>
          <a:lstStyle/>
          <a:p>
            <a:pPr algn="l">
              <a:defRPr sz="1875" b="0">
                <a:solidFill>
                  <a:srgbClr val="526970"/>
                </a:solidFill>
                <a:latin typeface="Microsoft YaHei"/>
                <a:ea typeface="Microsoft YaHei"/>
                <a:cs typeface="Microsoft YaHei"/>
              </a:defRPr>
            </a:pPr>
            <a:r>
              <a:rPr sz="1875" b="0">
                <a:solidFill>
                  <a:srgbClr val="526970"/>
                </a:solidFill>
                <a:latin typeface="Microsoft YaHei"/>
                <a:ea typeface="Microsoft YaHei"/>
                <a:cs typeface="Microsoft YaHei"/>
              </a:rPr>
              <a:t>Package the approved report and its evidence</a:t>
            </a:r>
          </a:p>
        </p:txBody>
      </p:sp>
      <p:pic>
        <p:nvPicPr>
          <p:cNvPr id="17" name="Narration_Slide_4" descr="English narration for slide 4">
            <a:hlinkClick action="ppaction://media"/>
            <a:extLst>
              <a:ext uri="{FF2B5EF4-FFF2-40B4-BE49-F238E27FC236}">
                <a16:creationId xmlns:a16="http://schemas.microsoft.com/office/drawing/2014/main" id="{8C0971E4-4E50-D37B-DAF7-64E8285B0FE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 y="76200"/>
            <a:ext cx="101600" cy="101600"/>
          </a:xfrm>
          <a:prstGeom prst="rect">
            <a:avLst/>
          </a:prstGeom>
        </p:spPr>
      </p:pic>
    </p:spTree>
    <p:extLst>
      <p:ext uri="{BB962C8B-B14F-4D97-AF65-F5344CB8AC3E}">
        <p14:creationId xmlns:p14="http://schemas.microsoft.com/office/powerpoint/2010/main" val="691687499"/>
      </p:ext>
    </p:extLst>
  </p:cSld>
  <p:clrMapOvr>
    <a:masterClrMapping/>
  </p:clrMapOvr>
  <mc:AlternateContent xmlns:mc="http://schemas.openxmlformats.org/markup-compatibility/2006">
    <mc:Choice xmlns:p14="http://schemas.microsoft.com/office/powerpoint/2010/main" Requires="p14">
      <p:transition spd="slow" p14:dur="2000" advClick="0" advTm="55332"/>
    </mc:Choice>
    <mc:Fallback>
      <p:transition spd="slow" advClick="0" advTm="553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1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E8DBC97E-0776-4E93-BD59-44FC951EA4AC}"/>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The sample case</a:t>
            </a:r>
          </a:p>
        </p:txBody>
      </p:sp>
      <p:sp>
        <p:nvSpPr>
          <p:cNvPr id="2" name="slide-subtitle">
            <a:extLst>
              <a:ext uri="{FF2B5EF4-FFF2-40B4-BE49-F238E27FC236}">
                <a16:creationId xmlns:a16="http://schemas.microsoft.com/office/drawing/2014/main" id="{C696216E-5C9F-4242-8465-ED87AC2A3D65}"/>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September 2026 demonstration data in Singapore dollars</a:t>
            </a:r>
          </a:p>
        </p:txBody>
      </p:sp>
      <p:sp>
        <p:nvSpPr>
          <p:cNvPr id="3" name="page-number">
            <a:extLst>
              <a:ext uri="{FF2B5EF4-FFF2-40B4-BE49-F238E27FC236}">
                <a16:creationId xmlns:a16="http://schemas.microsoft.com/office/drawing/2014/main" id="{D31412F4-7B61-409E-A756-4DE8B6DEE4C0}"/>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05 / 20</a:t>
            </a:r>
          </a:p>
        </p:txBody>
      </p:sp>
      <p:graphicFrame>
        <p:nvGraphicFramePr>
          <p:cNvPr id="13" name="Chart"/>
          <p:cNvGraphicFramePr/>
          <p:nvPr/>
        </p:nvGraphicFramePr>
        <p:xfrm>
          <a:off x="628650" y="1866900"/>
          <a:ext cx="7877175" cy="3962400"/>
        </p:xfrm>
        <a:graphic>
          <a:graphicData uri="http://schemas.openxmlformats.org/drawingml/2006/chart">
            <c:chart xmlns:c="http://schemas.openxmlformats.org/drawingml/2006/chart" xmlns:r="http://schemas.openxmlformats.org/officeDocument/2006/relationships" r:id="rId5"/>
          </a:graphicData>
        </a:graphic>
      </p:graphicFrame>
      <p:sp>
        <p:nvSpPr>
          <p:cNvPr id="5" name="text-3">
            <a:extLst>
              <a:ext uri="{FF2B5EF4-FFF2-40B4-BE49-F238E27FC236}">
                <a16:creationId xmlns:a16="http://schemas.microsoft.com/office/drawing/2014/main" id="{1BA5076D-F424-4E44-B181-FAC0FB86713B}"/>
              </a:ext>
            </a:extLst>
          </p:cNvPr>
          <p:cNvSpPr>
            <a:spLocks noGrp="1"/>
          </p:cNvSpPr>
          <p:nvPr/>
        </p:nvSpPr>
        <p:spPr>
          <a:xfrm>
            <a:off x="9210675" y="1962150"/>
            <a:ext cx="2019300" cy="895350"/>
          </a:xfrm>
          <a:prstGeom prst="rect">
            <a:avLst/>
          </a:prstGeom>
          <a:noFill/>
          <a:ln w="0">
            <a:noFill/>
          </a:ln>
        </p:spPr>
        <p:txBody>
          <a:bodyPr lIns="0" tIns="0" rIns="0" bIns="0" anchor="t">
            <a:noAutofit/>
          </a:bodyPr>
          <a:lstStyle/>
          <a:p>
            <a:pPr algn="l">
              <a:defRPr sz="5700" b="1">
                <a:solidFill>
                  <a:srgbClr val="087F82"/>
                </a:solidFill>
                <a:latin typeface="Microsoft YaHei"/>
                <a:ea typeface="Microsoft YaHei"/>
                <a:cs typeface="Microsoft YaHei"/>
              </a:defRPr>
            </a:pPr>
            <a:r>
              <a:rPr sz="5700" b="1">
                <a:solidFill>
                  <a:srgbClr val="087F82"/>
                </a:solidFill>
                <a:latin typeface="Microsoft YaHei"/>
                <a:ea typeface="Microsoft YaHei"/>
                <a:cs typeface="Microsoft YaHei"/>
              </a:rPr>
              <a:t>6</a:t>
            </a:r>
          </a:p>
        </p:txBody>
      </p:sp>
      <p:sp>
        <p:nvSpPr>
          <p:cNvPr id="6" name="text-4">
            <a:extLst>
              <a:ext uri="{FF2B5EF4-FFF2-40B4-BE49-F238E27FC236}">
                <a16:creationId xmlns:a16="http://schemas.microsoft.com/office/drawing/2014/main" id="{F25D4ED3-0B53-4778-9EC5-BF3A8209825F}"/>
              </a:ext>
            </a:extLst>
          </p:cNvPr>
          <p:cNvSpPr>
            <a:spLocks noGrp="1"/>
          </p:cNvSpPr>
          <p:nvPr/>
        </p:nvSpPr>
        <p:spPr>
          <a:xfrm>
            <a:off x="9229725" y="2952750"/>
            <a:ext cx="2333625" cy="857250"/>
          </a:xfrm>
          <a:prstGeom prst="rect">
            <a:avLst/>
          </a:prstGeom>
          <a:noFill/>
          <a:ln w="0">
            <a:noFill/>
          </a:ln>
        </p:spPr>
        <p:txBody>
          <a:bodyPr lIns="0" tIns="0" rIns="0" bIns="0" anchor="t">
            <a:noAutofit/>
          </a:bodyPr>
          <a:lstStyle/>
          <a:p>
            <a:pPr algn="l">
              <a:defRPr sz="1950" b="1">
                <a:solidFill>
                  <a:srgbClr val="183239"/>
                </a:solidFill>
                <a:latin typeface="Microsoft YaHei"/>
                <a:ea typeface="Microsoft YaHei"/>
                <a:cs typeface="Microsoft YaHei"/>
              </a:defRPr>
            </a:pPr>
            <a:r>
              <a:rPr sz="1950" b="1">
                <a:solidFill>
                  <a:srgbClr val="183239"/>
                </a:solidFill>
                <a:latin typeface="Microsoft YaHei"/>
                <a:ea typeface="Microsoft YaHei"/>
                <a:cs typeface="Microsoft YaHei"/>
              </a:rPr>
              <a:t>Fictional employees</a:t>
            </a:r>
          </a:p>
        </p:txBody>
      </p:sp>
      <p:sp>
        <p:nvSpPr>
          <p:cNvPr id="7" name="text-5">
            <a:extLst>
              <a:ext uri="{FF2B5EF4-FFF2-40B4-BE49-F238E27FC236}">
                <a16:creationId xmlns:a16="http://schemas.microsoft.com/office/drawing/2014/main" id="{B973BEB5-6735-4577-B875-06CBA3E01F5D}"/>
              </a:ext>
            </a:extLst>
          </p:cNvPr>
          <p:cNvSpPr>
            <a:spLocks noGrp="1"/>
          </p:cNvSpPr>
          <p:nvPr/>
        </p:nvSpPr>
        <p:spPr>
          <a:xfrm>
            <a:off x="9153525" y="4086225"/>
            <a:ext cx="2371725" cy="762000"/>
          </a:xfrm>
          <a:prstGeom prst="rect">
            <a:avLst/>
          </a:prstGeom>
          <a:noFill/>
          <a:ln w="0">
            <a:noFill/>
          </a:ln>
        </p:spPr>
        <p:txBody>
          <a:bodyPr lIns="0" tIns="0" rIns="0" bIns="0" anchor="t">
            <a:noAutofit/>
          </a:bodyPr>
          <a:lstStyle/>
          <a:p>
            <a:pPr algn="l">
              <a:defRPr sz="4275" b="1">
                <a:solidFill>
                  <a:srgbClr val="087F82"/>
                </a:solidFill>
                <a:latin typeface="Microsoft YaHei"/>
                <a:ea typeface="Microsoft YaHei"/>
                <a:cs typeface="Microsoft YaHei"/>
              </a:defRPr>
            </a:pPr>
            <a:r>
              <a:rPr sz="4275" b="1">
                <a:solidFill>
                  <a:srgbClr val="087F82"/>
                </a:solidFill>
                <a:latin typeface="Microsoft YaHei"/>
                <a:ea typeface="Microsoft YaHei"/>
                <a:cs typeface="Microsoft YaHei"/>
              </a:rPr>
              <a:t>8 / 8</a:t>
            </a:r>
          </a:p>
        </p:txBody>
      </p:sp>
      <p:sp>
        <p:nvSpPr>
          <p:cNvPr id="8" name="text-6">
            <a:extLst>
              <a:ext uri="{FF2B5EF4-FFF2-40B4-BE49-F238E27FC236}">
                <a16:creationId xmlns:a16="http://schemas.microsoft.com/office/drawing/2014/main" id="{75BF77EC-72A7-4AEA-A7F7-F97F5D7CE1E0}"/>
              </a:ext>
            </a:extLst>
          </p:cNvPr>
          <p:cNvSpPr>
            <a:spLocks noGrp="1"/>
          </p:cNvSpPr>
          <p:nvPr/>
        </p:nvSpPr>
        <p:spPr>
          <a:xfrm>
            <a:off x="9229725" y="4905375"/>
            <a:ext cx="2305050" cy="106680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Ledger and bank rows matched</a:t>
            </a:r>
          </a:p>
        </p:txBody>
      </p:sp>
      <p:sp>
        <p:nvSpPr>
          <p:cNvPr id="9" name="text-7">
            <a:extLst>
              <a:ext uri="{FF2B5EF4-FFF2-40B4-BE49-F238E27FC236}">
                <a16:creationId xmlns:a16="http://schemas.microsoft.com/office/drawing/2014/main" id="{322716D3-2AF6-4A44-BC17-C1C4E488DD61}"/>
              </a:ext>
            </a:extLst>
          </p:cNvPr>
          <p:cNvSpPr>
            <a:spLocks noGrp="1"/>
          </p:cNvSpPr>
          <p:nvPr/>
        </p:nvSpPr>
        <p:spPr>
          <a:xfrm>
            <a:off x="685800" y="6096000"/>
            <a:ext cx="10287000" cy="314325"/>
          </a:xfrm>
          <a:prstGeom prst="rect">
            <a:avLst/>
          </a:prstGeom>
          <a:noFill/>
          <a:ln w="0">
            <a:noFill/>
          </a:ln>
        </p:spPr>
        <p:txBody>
          <a:bodyPr lIns="0" tIns="0" rIns="0" bIns="0" anchor="t">
            <a:noAutofit/>
          </a:bodyPr>
          <a:lstStyle/>
          <a:p>
            <a:pPr algn="l">
              <a:defRPr sz="1650" b="0">
                <a:solidFill>
                  <a:srgbClr val="526970"/>
                </a:solidFill>
                <a:latin typeface="Microsoft YaHei"/>
                <a:ea typeface="Microsoft YaHei"/>
                <a:cs typeface="Microsoft YaHei"/>
              </a:defRPr>
            </a:pPr>
            <a:r>
              <a:rPr sz="1650" b="0">
                <a:solidFill>
                  <a:srgbClr val="526970"/>
                </a:solidFill>
                <a:latin typeface="Microsoft YaHei"/>
                <a:ea typeface="Microsoft YaHei"/>
                <a:cs typeface="Microsoft YaHei"/>
              </a:rPr>
              <a:t>Synthetic data in SGD. Net bank movement does not establish profit.</a:t>
            </a:r>
          </a:p>
        </p:txBody>
      </p:sp>
      <p:pic>
        <p:nvPicPr>
          <p:cNvPr id="4" name="Narration_Slide_5" descr="English narration for slide 5">
            <a:hlinkClick action="ppaction://media"/>
            <a:extLst>
              <a:ext uri="{FF2B5EF4-FFF2-40B4-BE49-F238E27FC236}">
                <a16:creationId xmlns:a16="http://schemas.microsoft.com/office/drawing/2014/main" id="{FCEA7374-F4D0-4BC7-D81E-A068629D9B4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 y="76200"/>
            <a:ext cx="101600" cy="101600"/>
          </a:xfrm>
          <a:prstGeom prst="rect">
            <a:avLst/>
          </a:prstGeom>
        </p:spPr>
      </p:pic>
    </p:spTree>
    <p:extLst>
      <p:ext uri="{BB962C8B-B14F-4D97-AF65-F5344CB8AC3E}">
        <p14:creationId xmlns:p14="http://schemas.microsoft.com/office/powerpoint/2010/main" val="2031208647"/>
      </p:ext>
    </p:extLst>
  </p:cSld>
  <p:clrMapOvr>
    <a:masterClrMapping/>
  </p:clrMapOvr>
  <mc:AlternateContent xmlns:mc="http://schemas.openxmlformats.org/markup-compatibility/2006">
    <mc:Choice xmlns:p14="http://schemas.microsoft.com/office/powerpoint/2010/main" Requires="p14">
      <p:transition spd="slow" p14:dur="2000" advClick="0" advTm="59100"/>
    </mc:Choice>
    <mc:Fallback>
      <p:transition spd="slow" advClick="0" advTm="59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05E17623-8DD2-45F8-B219-0D783BBA66AF}"/>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A shared case workspace</a:t>
            </a:r>
          </a:p>
        </p:txBody>
      </p:sp>
      <p:sp>
        <p:nvSpPr>
          <p:cNvPr id="2" name="slide-subtitle">
            <a:extLst>
              <a:ext uri="{FF2B5EF4-FFF2-40B4-BE49-F238E27FC236}">
                <a16:creationId xmlns:a16="http://schemas.microsoft.com/office/drawing/2014/main" id="{7978F7AB-E2AB-4E75-8148-662199021E39}"/>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Actual application screen with fictional records</a:t>
            </a:r>
          </a:p>
        </p:txBody>
      </p:sp>
      <p:sp>
        <p:nvSpPr>
          <p:cNvPr id="3" name="page-number">
            <a:extLst>
              <a:ext uri="{FF2B5EF4-FFF2-40B4-BE49-F238E27FC236}">
                <a16:creationId xmlns:a16="http://schemas.microsoft.com/office/drawing/2014/main" id="{9FB8C0DC-7212-4C8E-8785-807E446547FB}"/>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06 / 20</a:t>
            </a:r>
          </a:p>
        </p:txBody>
      </p:sp>
      <p:pic>
        <p:nvPicPr>
          <p:cNvPr id="12" name="Picture 11"/>
          <p:cNvPicPr>
            <a:picLocks noChangeAspect="1"/>
          </p:cNvPicPr>
          <p:nvPr/>
        </p:nvPicPr>
        <p:blipFill>
          <a:blip r:embed="rId5"/>
          <a:srcRect l="14844" t="9074" r="1823" b="54630"/>
          <a:stretch/>
        </p:blipFill>
        <p:spPr>
          <a:xfrm>
            <a:off x="609600" y="2261045"/>
            <a:ext cx="10972800" cy="2688336"/>
          </a:xfrm>
          <a:prstGeom prst="rect">
            <a:avLst/>
          </a:prstGeom>
        </p:spPr>
      </p:pic>
      <p:sp>
        <p:nvSpPr>
          <p:cNvPr id="5" name="text-3">
            <a:extLst>
              <a:ext uri="{FF2B5EF4-FFF2-40B4-BE49-F238E27FC236}">
                <a16:creationId xmlns:a16="http://schemas.microsoft.com/office/drawing/2014/main" id="{3E6CF43B-45A7-4533-BB5F-FFDAD25E5A06}"/>
              </a:ext>
            </a:extLst>
          </p:cNvPr>
          <p:cNvSpPr>
            <a:spLocks noGrp="1"/>
          </p:cNvSpPr>
          <p:nvPr/>
        </p:nvSpPr>
        <p:spPr>
          <a:xfrm>
            <a:off x="6858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Case records</a:t>
            </a:r>
          </a:p>
        </p:txBody>
      </p:sp>
      <p:sp>
        <p:nvSpPr>
          <p:cNvPr id="6" name="text-4">
            <a:extLst>
              <a:ext uri="{FF2B5EF4-FFF2-40B4-BE49-F238E27FC236}">
                <a16:creationId xmlns:a16="http://schemas.microsoft.com/office/drawing/2014/main" id="{26641932-975C-46EF-A189-7BB3AB1EDD41}"/>
              </a:ext>
            </a:extLst>
          </p:cNvPr>
          <p:cNvSpPr>
            <a:spLocks noGrp="1"/>
          </p:cNvSpPr>
          <p:nvPr/>
        </p:nvSpPr>
        <p:spPr>
          <a:xfrm>
            <a:off x="6858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Related inputs stay within the same case</a:t>
            </a:r>
          </a:p>
        </p:txBody>
      </p:sp>
      <p:sp>
        <p:nvSpPr>
          <p:cNvPr id="7" name="text-5">
            <a:extLst>
              <a:ext uri="{FF2B5EF4-FFF2-40B4-BE49-F238E27FC236}">
                <a16:creationId xmlns:a16="http://schemas.microsoft.com/office/drawing/2014/main" id="{3702CCA9-2D5B-4AEB-A499-5CF344804C99}"/>
              </a:ext>
            </a:extLst>
          </p:cNvPr>
          <p:cNvSpPr>
            <a:spLocks noGrp="1"/>
          </p:cNvSpPr>
          <p:nvPr/>
        </p:nvSpPr>
        <p:spPr>
          <a:xfrm>
            <a:off x="63246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Review progress</a:t>
            </a:r>
          </a:p>
        </p:txBody>
      </p:sp>
      <p:sp>
        <p:nvSpPr>
          <p:cNvPr id="8" name="text-6">
            <a:extLst>
              <a:ext uri="{FF2B5EF4-FFF2-40B4-BE49-F238E27FC236}">
                <a16:creationId xmlns:a16="http://schemas.microsoft.com/office/drawing/2014/main" id="{BD8171F4-D131-49AC-96CD-7EBE7BAB586F}"/>
              </a:ext>
            </a:extLst>
          </p:cNvPr>
          <p:cNvSpPr>
            <a:spLocks noGrp="1"/>
          </p:cNvSpPr>
          <p:nvPr/>
        </p:nvSpPr>
        <p:spPr>
          <a:xfrm>
            <a:off x="63246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The overview shows the current state</a:t>
            </a:r>
          </a:p>
        </p:txBody>
      </p:sp>
      <p:pic>
        <p:nvPicPr>
          <p:cNvPr id="4" name="Narration_Slide_6" descr="English narration for slide 6">
            <a:hlinkClick action="ppaction://media"/>
            <a:extLst>
              <a:ext uri="{FF2B5EF4-FFF2-40B4-BE49-F238E27FC236}">
                <a16:creationId xmlns:a16="http://schemas.microsoft.com/office/drawing/2014/main" id="{3E46768B-F377-EA95-0FA1-6A3C9E4CB12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 y="76200"/>
            <a:ext cx="101600" cy="101600"/>
          </a:xfrm>
          <a:prstGeom prst="rect">
            <a:avLst/>
          </a:prstGeom>
        </p:spPr>
      </p:pic>
    </p:spTree>
    <p:extLst>
      <p:ext uri="{BB962C8B-B14F-4D97-AF65-F5344CB8AC3E}">
        <p14:creationId xmlns:p14="http://schemas.microsoft.com/office/powerpoint/2010/main" val="1548514840"/>
      </p:ext>
    </p:extLst>
  </p:cSld>
  <p:clrMapOvr>
    <a:masterClrMapping/>
  </p:clrMapOvr>
  <mc:AlternateContent xmlns:mc="http://schemas.openxmlformats.org/markup-compatibility/2006">
    <mc:Choice xmlns:p14="http://schemas.microsoft.com/office/powerpoint/2010/main" Requires="p14">
      <p:transition spd="slow" p14:dur="2000" advClick="0" advTm="52980"/>
    </mc:Choice>
    <mc:Fallback>
      <p:transition spd="slow" advClick="0" advTm="52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C4FC2FBC-00E8-42EE-864D-3B5D28C1B336}"/>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Import validation and payroll</a:t>
            </a:r>
          </a:p>
        </p:txBody>
      </p:sp>
      <p:sp>
        <p:nvSpPr>
          <p:cNvPr id="2" name="slide-subtitle">
            <a:extLst>
              <a:ext uri="{FF2B5EF4-FFF2-40B4-BE49-F238E27FC236}">
                <a16:creationId xmlns:a16="http://schemas.microsoft.com/office/drawing/2014/main" id="{4EE262BB-BF17-44C9-A710-E77ED063923E}"/>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Preview records before confirming an import</a:t>
            </a:r>
          </a:p>
        </p:txBody>
      </p:sp>
      <p:sp>
        <p:nvSpPr>
          <p:cNvPr id="3" name="page-number">
            <a:extLst>
              <a:ext uri="{FF2B5EF4-FFF2-40B4-BE49-F238E27FC236}">
                <a16:creationId xmlns:a16="http://schemas.microsoft.com/office/drawing/2014/main" id="{23CA6DC5-F18A-48F3-9EFE-443F0E03C23F}"/>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07 / 20</a:t>
            </a:r>
          </a:p>
        </p:txBody>
      </p:sp>
      <p:pic>
        <p:nvPicPr>
          <p:cNvPr id="12" name="Picture 11"/>
          <p:cNvPicPr>
            <a:picLocks noChangeAspect="1"/>
          </p:cNvPicPr>
          <p:nvPr/>
        </p:nvPicPr>
        <p:blipFill>
          <a:blip r:embed="rId5"/>
          <a:srcRect l="33594" t="48519" r="33594" b="15185"/>
          <a:stretch/>
        </p:blipFill>
        <p:spPr>
          <a:xfrm>
            <a:off x="5867400" y="2247900"/>
            <a:ext cx="5715000" cy="3556000"/>
          </a:xfrm>
          <a:prstGeom prst="rect">
            <a:avLst/>
          </a:prstGeom>
        </p:spPr>
      </p:pic>
      <p:sp>
        <p:nvSpPr>
          <p:cNvPr id="5" name="text-3">
            <a:extLst>
              <a:ext uri="{FF2B5EF4-FFF2-40B4-BE49-F238E27FC236}">
                <a16:creationId xmlns:a16="http://schemas.microsoft.com/office/drawing/2014/main" id="{F479A18C-C328-4032-B547-5B1C93F1B7CE}"/>
              </a:ext>
            </a:extLst>
          </p:cNvPr>
          <p:cNvSpPr>
            <a:spLocks noGrp="1"/>
          </p:cNvSpPr>
          <p:nvPr/>
        </p:nvSpPr>
        <p:spPr>
          <a:xfrm>
            <a:off x="742950" y="2324100"/>
            <a:ext cx="4762500" cy="762000"/>
          </a:xfrm>
          <a:prstGeom prst="rect">
            <a:avLst/>
          </a:prstGeom>
          <a:noFill/>
          <a:ln w="0">
            <a:noFill/>
          </a:ln>
        </p:spPr>
        <p:txBody>
          <a:bodyPr lIns="0" tIns="0" rIns="0" bIns="0" anchor="t">
            <a:noAutofit/>
          </a:bodyPr>
          <a:lstStyle/>
          <a:p>
            <a:pPr algn="l">
              <a:defRPr sz="2400" b="1">
                <a:solidFill>
                  <a:srgbClr val="183239"/>
                </a:solidFill>
                <a:latin typeface="Microsoft YaHei"/>
                <a:ea typeface="Microsoft YaHei"/>
                <a:cs typeface="Microsoft YaHei"/>
              </a:defRPr>
            </a:pPr>
            <a:r>
              <a:rPr sz="2400" b="1">
                <a:solidFill>
                  <a:srgbClr val="183239"/>
                </a:solidFill>
                <a:latin typeface="Microsoft YaHei"/>
                <a:ea typeface="Microsoft YaHei"/>
                <a:cs typeface="Microsoft YaHei"/>
              </a:rPr>
              <a:t>Validation before import</a:t>
            </a:r>
          </a:p>
        </p:txBody>
      </p:sp>
      <p:sp>
        <p:nvSpPr>
          <p:cNvPr id="6" name="text-4">
            <a:extLst>
              <a:ext uri="{FF2B5EF4-FFF2-40B4-BE49-F238E27FC236}">
                <a16:creationId xmlns:a16="http://schemas.microsoft.com/office/drawing/2014/main" id="{DF1423CE-15CC-4A9D-9553-700B363A0A93}"/>
              </a:ext>
            </a:extLst>
          </p:cNvPr>
          <p:cNvSpPr>
            <a:spLocks noGrp="1"/>
          </p:cNvSpPr>
          <p:nvPr/>
        </p:nvSpPr>
        <p:spPr>
          <a:xfrm>
            <a:off x="742950" y="3162300"/>
            <a:ext cx="4762500" cy="95250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Review the preview and resolve invalid rows</a:t>
            </a:r>
          </a:p>
        </p:txBody>
      </p:sp>
      <p:sp>
        <p:nvSpPr>
          <p:cNvPr id="7" name="text-5">
            <a:extLst>
              <a:ext uri="{FF2B5EF4-FFF2-40B4-BE49-F238E27FC236}">
                <a16:creationId xmlns:a16="http://schemas.microsoft.com/office/drawing/2014/main" id="{C1D0388B-ACFF-42A3-B270-93D539427AEB}"/>
              </a:ext>
            </a:extLst>
          </p:cNvPr>
          <p:cNvSpPr>
            <a:spLocks noGrp="1"/>
          </p:cNvSpPr>
          <p:nvPr/>
        </p:nvSpPr>
        <p:spPr>
          <a:xfrm>
            <a:off x="742950" y="4067175"/>
            <a:ext cx="4762500" cy="762000"/>
          </a:xfrm>
          <a:prstGeom prst="rect">
            <a:avLst/>
          </a:prstGeom>
          <a:noFill/>
          <a:ln w="0">
            <a:noFill/>
          </a:ln>
        </p:spPr>
        <p:txBody>
          <a:bodyPr lIns="0" tIns="0" rIns="0" bIns="0" anchor="t">
            <a:noAutofit/>
          </a:bodyPr>
          <a:lstStyle/>
          <a:p>
            <a:pPr algn="l">
              <a:defRPr sz="2400" b="1">
                <a:solidFill>
                  <a:srgbClr val="183239"/>
                </a:solidFill>
                <a:latin typeface="Microsoft YaHei"/>
                <a:ea typeface="Microsoft YaHei"/>
                <a:cs typeface="Microsoft YaHei"/>
              </a:defRPr>
            </a:pPr>
            <a:r>
              <a:rPr sz="2400" b="1">
                <a:solidFill>
                  <a:srgbClr val="183239"/>
                </a:solidFill>
                <a:latin typeface="Microsoft YaHei"/>
                <a:ea typeface="Microsoft YaHei"/>
                <a:cs typeface="Microsoft YaHei"/>
              </a:rPr>
              <a:t>Exact money handling</a:t>
            </a:r>
          </a:p>
        </p:txBody>
      </p:sp>
      <p:sp>
        <p:nvSpPr>
          <p:cNvPr id="8" name="text-6">
            <a:extLst>
              <a:ext uri="{FF2B5EF4-FFF2-40B4-BE49-F238E27FC236}">
                <a16:creationId xmlns:a16="http://schemas.microsoft.com/office/drawing/2014/main" id="{9053FF7E-161C-4554-B064-6D0F1C199AE6}"/>
              </a:ext>
            </a:extLst>
          </p:cNvPr>
          <p:cNvSpPr>
            <a:spLocks noGrp="1"/>
          </p:cNvSpPr>
          <p:nvPr/>
        </p:nvSpPr>
        <p:spPr>
          <a:xfrm>
            <a:off x="742950" y="4905375"/>
            <a:ext cx="4762500" cy="95250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Amounts use integer cents and explicit SGD</a:t>
            </a:r>
          </a:p>
        </p:txBody>
      </p:sp>
      <p:pic>
        <p:nvPicPr>
          <p:cNvPr id="4" name="Narration_Slide_7" descr="English narration for slide 7">
            <a:hlinkClick action="ppaction://media"/>
            <a:extLst>
              <a:ext uri="{FF2B5EF4-FFF2-40B4-BE49-F238E27FC236}">
                <a16:creationId xmlns:a16="http://schemas.microsoft.com/office/drawing/2014/main" id="{2F6625D4-E028-238A-937C-ED50140BCB8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 y="76200"/>
            <a:ext cx="101600" cy="101600"/>
          </a:xfrm>
          <a:prstGeom prst="rect">
            <a:avLst/>
          </a:prstGeom>
        </p:spPr>
      </p:pic>
    </p:spTree>
    <p:extLst>
      <p:ext uri="{BB962C8B-B14F-4D97-AF65-F5344CB8AC3E}">
        <p14:creationId xmlns:p14="http://schemas.microsoft.com/office/powerpoint/2010/main" val="208032338"/>
      </p:ext>
    </p:extLst>
  </p:cSld>
  <p:clrMapOvr>
    <a:masterClrMapping/>
  </p:clrMapOvr>
  <mc:AlternateContent xmlns:mc="http://schemas.openxmlformats.org/markup-compatibility/2006">
    <mc:Choice xmlns:p14="http://schemas.microsoft.com/office/powerpoint/2010/main" Requires="p14">
      <p:transition spd="slow" p14:dur="2000" advClick="0" advTm="58428"/>
    </mc:Choice>
    <mc:Fallback>
      <p:transition spd="slow" advClick="0" advTm="584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EDC44368-477A-4B08-8350-008DE649884C}"/>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Checks and issue handling</a:t>
            </a:r>
          </a:p>
        </p:txBody>
      </p:sp>
      <p:sp>
        <p:nvSpPr>
          <p:cNvPr id="2" name="slide-subtitle">
            <a:extLst>
              <a:ext uri="{FF2B5EF4-FFF2-40B4-BE49-F238E27FC236}">
                <a16:creationId xmlns:a16="http://schemas.microsoft.com/office/drawing/2014/main" id="{B0F3B609-578F-414A-96B4-8A93D6C9BEC2}"/>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Deterministic rules produce reviewable findings</a:t>
            </a:r>
          </a:p>
        </p:txBody>
      </p:sp>
      <p:sp>
        <p:nvSpPr>
          <p:cNvPr id="3" name="page-number">
            <a:extLst>
              <a:ext uri="{FF2B5EF4-FFF2-40B4-BE49-F238E27FC236}">
                <a16:creationId xmlns:a16="http://schemas.microsoft.com/office/drawing/2014/main" id="{51405FD0-329A-4B93-ABC6-C039464C36BE}"/>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08 / 20</a:t>
            </a:r>
          </a:p>
        </p:txBody>
      </p:sp>
      <p:pic>
        <p:nvPicPr>
          <p:cNvPr id="12" name="Picture 11"/>
          <p:cNvPicPr>
            <a:picLocks noChangeAspect="1"/>
          </p:cNvPicPr>
          <p:nvPr/>
        </p:nvPicPr>
        <p:blipFill>
          <a:blip r:embed="rId5"/>
          <a:srcRect l="16354" t="9722" r="2604" b="37685"/>
          <a:stretch/>
        </p:blipFill>
        <p:spPr>
          <a:xfrm>
            <a:off x="812140" y="1676400"/>
            <a:ext cx="10567719" cy="3857625"/>
          </a:xfrm>
          <a:prstGeom prst="rect">
            <a:avLst/>
          </a:prstGeom>
        </p:spPr>
      </p:pic>
      <p:sp>
        <p:nvSpPr>
          <p:cNvPr id="5" name="text-3">
            <a:extLst>
              <a:ext uri="{FF2B5EF4-FFF2-40B4-BE49-F238E27FC236}">
                <a16:creationId xmlns:a16="http://schemas.microsoft.com/office/drawing/2014/main" id="{56D50746-EE51-4441-9F6B-D30981F8CC87}"/>
              </a:ext>
            </a:extLst>
          </p:cNvPr>
          <p:cNvSpPr>
            <a:spLocks noGrp="1"/>
          </p:cNvSpPr>
          <p:nvPr/>
        </p:nvSpPr>
        <p:spPr>
          <a:xfrm>
            <a:off x="6858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14 demonstration rules</a:t>
            </a:r>
          </a:p>
        </p:txBody>
      </p:sp>
      <p:sp>
        <p:nvSpPr>
          <p:cNvPr id="6" name="text-4">
            <a:extLst>
              <a:ext uri="{FF2B5EF4-FFF2-40B4-BE49-F238E27FC236}">
                <a16:creationId xmlns:a16="http://schemas.microsoft.com/office/drawing/2014/main" id="{99E9141E-F7DC-4068-B584-01DE89E9EE80}"/>
              </a:ext>
            </a:extLst>
          </p:cNvPr>
          <p:cNvSpPr>
            <a:spLocks noGrp="1"/>
          </p:cNvSpPr>
          <p:nvPr/>
        </p:nvSpPr>
        <p:spPr>
          <a:xfrm>
            <a:off x="6858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The same inputs produce the same checks</a:t>
            </a:r>
          </a:p>
        </p:txBody>
      </p:sp>
      <p:sp>
        <p:nvSpPr>
          <p:cNvPr id="7" name="text-5">
            <a:extLst>
              <a:ext uri="{FF2B5EF4-FFF2-40B4-BE49-F238E27FC236}">
                <a16:creationId xmlns:a16="http://schemas.microsoft.com/office/drawing/2014/main" id="{AA9BC61F-6877-4745-8BAE-5FC380585D33}"/>
              </a:ext>
            </a:extLst>
          </p:cNvPr>
          <p:cNvSpPr>
            <a:spLocks noGrp="1"/>
          </p:cNvSpPr>
          <p:nvPr/>
        </p:nvSpPr>
        <p:spPr>
          <a:xfrm>
            <a:off x="63246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0 blockers, 6 manual reviews</a:t>
            </a:r>
          </a:p>
        </p:txBody>
      </p:sp>
      <p:sp>
        <p:nvSpPr>
          <p:cNvPr id="8" name="text-6">
            <a:extLst>
              <a:ext uri="{FF2B5EF4-FFF2-40B4-BE49-F238E27FC236}">
                <a16:creationId xmlns:a16="http://schemas.microsoft.com/office/drawing/2014/main" id="{5F5C822E-E583-4872-8BB9-A60626FD3FDB}"/>
              </a:ext>
            </a:extLst>
          </p:cNvPr>
          <p:cNvSpPr>
            <a:spLocks noGrp="1"/>
          </p:cNvSpPr>
          <p:nvPr/>
        </p:nvSpPr>
        <p:spPr>
          <a:xfrm>
            <a:off x="63246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Sample payroll PDFs still need human review</a:t>
            </a:r>
          </a:p>
        </p:txBody>
      </p:sp>
      <p:pic>
        <p:nvPicPr>
          <p:cNvPr id="4" name="Narration_Slide_8" descr="English narration for slide 8">
            <a:hlinkClick action="ppaction://media"/>
            <a:extLst>
              <a:ext uri="{FF2B5EF4-FFF2-40B4-BE49-F238E27FC236}">
                <a16:creationId xmlns:a16="http://schemas.microsoft.com/office/drawing/2014/main" id="{D7DE5AFD-E440-43BA-26DA-7D136518427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 y="76200"/>
            <a:ext cx="101600" cy="101600"/>
          </a:xfrm>
          <a:prstGeom prst="rect">
            <a:avLst/>
          </a:prstGeom>
        </p:spPr>
      </p:pic>
    </p:spTree>
    <p:extLst>
      <p:ext uri="{BB962C8B-B14F-4D97-AF65-F5344CB8AC3E}">
        <p14:creationId xmlns:p14="http://schemas.microsoft.com/office/powerpoint/2010/main" val="442083732"/>
      </p:ext>
    </p:extLst>
  </p:cSld>
  <p:clrMapOvr>
    <a:masterClrMapping/>
  </p:clrMapOvr>
  <mc:AlternateContent xmlns:mc="http://schemas.openxmlformats.org/markup-compatibility/2006">
    <mc:Choice xmlns:p14="http://schemas.microsoft.com/office/powerpoint/2010/main" Requires="p14">
      <p:transition spd="slow" p14:dur="2000" advClick="0" advTm="54780"/>
    </mc:Choice>
    <mc:Fallback>
      <p:transition spd="slow" advClick="0" advTm="54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B2F6CE98-5617-48FE-BC66-D83694F8C39D}"/>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Bank reconciliation</a:t>
            </a:r>
          </a:p>
        </p:txBody>
      </p:sp>
      <p:sp>
        <p:nvSpPr>
          <p:cNvPr id="2" name="slide-subtitle">
            <a:extLst>
              <a:ext uri="{FF2B5EF4-FFF2-40B4-BE49-F238E27FC236}">
                <a16:creationId xmlns:a16="http://schemas.microsoft.com/office/drawing/2014/main" id="{96CDBEEA-AF98-4903-831F-E67300B4F061}"/>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One-to-one matching between ledger and bank records</a:t>
            </a:r>
          </a:p>
        </p:txBody>
      </p:sp>
      <p:sp>
        <p:nvSpPr>
          <p:cNvPr id="3" name="page-number">
            <a:extLst>
              <a:ext uri="{FF2B5EF4-FFF2-40B4-BE49-F238E27FC236}">
                <a16:creationId xmlns:a16="http://schemas.microsoft.com/office/drawing/2014/main" id="{C960399C-72AD-4743-B6AA-D5B4B28AB4D5}"/>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09 / 20</a:t>
            </a:r>
          </a:p>
        </p:txBody>
      </p:sp>
      <p:pic>
        <p:nvPicPr>
          <p:cNvPr id="12" name="Picture 11"/>
          <p:cNvPicPr>
            <a:picLocks noChangeAspect="1"/>
          </p:cNvPicPr>
          <p:nvPr/>
        </p:nvPicPr>
        <p:blipFill>
          <a:blip r:embed="rId5"/>
          <a:srcRect l="16354" t="23611" r="2500" b="24074"/>
          <a:stretch/>
        </p:blipFill>
        <p:spPr>
          <a:xfrm>
            <a:off x="777257" y="1676400"/>
            <a:ext cx="10637486" cy="3857625"/>
          </a:xfrm>
          <a:prstGeom prst="rect">
            <a:avLst/>
          </a:prstGeom>
        </p:spPr>
      </p:pic>
      <p:sp>
        <p:nvSpPr>
          <p:cNvPr id="5" name="text-3">
            <a:extLst>
              <a:ext uri="{FF2B5EF4-FFF2-40B4-BE49-F238E27FC236}">
                <a16:creationId xmlns:a16="http://schemas.microsoft.com/office/drawing/2014/main" id="{2E476823-5309-4FD0-BFF1-C5C182D3E66C}"/>
              </a:ext>
            </a:extLst>
          </p:cNvPr>
          <p:cNvSpPr>
            <a:spLocks noGrp="1"/>
          </p:cNvSpPr>
          <p:nvPr/>
        </p:nvSpPr>
        <p:spPr>
          <a:xfrm>
            <a:off x="6858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Exact matching criteria</a:t>
            </a:r>
          </a:p>
        </p:txBody>
      </p:sp>
      <p:sp>
        <p:nvSpPr>
          <p:cNvPr id="6" name="text-4">
            <a:extLst>
              <a:ext uri="{FF2B5EF4-FFF2-40B4-BE49-F238E27FC236}">
                <a16:creationId xmlns:a16="http://schemas.microsoft.com/office/drawing/2014/main" id="{9F28C521-3EB9-4FEC-BEE6-4FC7B49849B5}"/>
              </a:ext>
            </a:extLst>
          </p:cNvPr>
          <p:cNvSpPr>
            <a:spLocks noGrp="1"/>
          </p:cNvSpPr>
          <p:nvPr/>
        </p:nvSpPr>
        <p:spPr>
          <a:xfrm>
            <a:off x="6858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Reference, amount and payment direction</a:t>
            </a:r>
          </a:p>
        </p:txBody>
      </p:sp>
      <p:sp>
        <p:nvSpPr>
          <p:cNvPr id="7" name="text-5">
            <a:extLst>
              <a:ext uri="{FF2B5EF4-FFF2-40B4-BE49-F238E27FC236}">
                <a16:creationId xmlns:a16="http://schemas.microsoft.com/office/drawing/2014/main" id="{DCE914A8-5E29-4612-B0CE-FBA81366F848}"/>
              </a:ext>
            </a:extLst>
          </p:cNvPr>
          <p:cNvSpPr>
            <a:spLocks noGrp="1"/>
          </p:cNvSpPr>
          <p:nvPr/>
        </p:nvSpPr>
        <p:spPr>
          <a:xfrm>
            <a:off x="63246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8 of 8 matched</a:t>
            </a:r>
          </a:p>
        </p:txBody>
      </p:sp>
      <p:sp>
        <p:nvSpPr>
          <p:cNvPr id="8" name="text-6">
            <a:extLst>
              <a:ext uri="{FF2B5EF4-FFF2-40B4-BE49-F238E27FC236}">
                <a16:creationId xmlns:a16="http://schemas.microsoft.com/office/drawing/2014/main" id="{5EBE6AB6-E2C3-442C-96EC-D03D56CCB1D6}"/>
              </a:ext>
            </a:extLst>
          </p:cNvPr>
          <p:cNvSpPr>
            <a:spLocks noGrp="1"/>
          </p:cNvSpPr>
          <p:nvPr/>
        </p:nvSpPr>
        <p:spPr>
          <a:xfrm>
            <a:off x="63246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The corrected sample has a complete match</a:t>
            </a:r>
          </a:p>
        </p:txBody>
      </p:sp>
      <p:pic>
        <p:nvPicPr>
          <p:cNvPr id="4" name="Narration_Slide_9" descr="English narration for slide 9">
            <a:hlinkClick action="ppaction://media"/>
            <a:extLst>
              <a:ext uri="{FF2B5EF4-FFF2-40B4-BE49-F238E27FC236}">
                <a16:creationId xmlns:a16="http://schemas.microsoft.com/office/drawing/2014/main" id="{3E355949-97C8-6C0D-B3F6-BE03A52F7E4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 y="76200"/>
            <a:ext cx="101600" cy="101600"/>
          </a:xfrm>
          <a:prstGeom prst="rect">
            <a:avLst/>
          </a:prstGeom>
        </p:spPr>
      </p:pic>
    </p:spTree>
    <p:extLst>
      <p:ext uri="{BB962C8B-B14F-4D97-AF65-F5344CB8AC3E}">
        <p14:creationId xmlns:p14="http://schemas.microsoft.com/office/powerpoint/2010/main" val="1631242733"/>
      </p:ext>
    </p:extLst>
  </p:cSld>
  <p:clrMapOvr>
    <a:masterClrMapping/>
  </p:clrMapOvr>
  <mc:AlternateContent xmlns:mc="http://schemas.openxmlformats.org/markup-compatibility/2006">
    <mc:Choice xmlns:p14="http://schemas.microsoft.com/office/powerpoint/2010/main" Requires="p14">
      <p:transition spd="slow" p14:dur="2000" advClick="0" advTm="53964"/>
    </mc:Choice>
    <mc:Fallback>
      <p:transition spd="slow" advClick="0" advTm="539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D3F2265D-E95A-4C89-A04A-35DF69DCC77B}"/>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Report snapshots</a:t>
            </a:r>
          </a:p>
        </p:txBody>
      </p:sp>
      <p:sp>
        <p:nvSpPr>
          <p:cNvPr id="2" name="slide-subtitle">
            <a:extLst>
              <a:ext uri="{FF2B5EF4-FFF2-40B4-BE49-F238E27FC236}">
                <a16:creationId xmlns:a16="http://schemas.microsoft.com/office/drawing/2014/main" id="{45518996-5F6F-437C-B1FA-DCFD80878822}"/>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The report preserves the records used in the review</a:t>
            </a:r>
          </a:p>
        </p:txBody>
      </p:sp>
      <p:sp>
        <p:nvSpPr>
          <p:cNvPr id="3" name="page-number">
            <a:extLst>
              <a:ext uri="{FF2B5EF4-FFF2-40B4-BE49-F238E27FC236}">
                <a16:creationId xmlns:a16="http://schemas.microsoft.com/office/drawing/2014/main" id="{F295FF75-0528-4149-BEBA-2C7FED2ACDDB}"/>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10 / 20</a:t>
            </a:r>
          </a:p>
        </p:txBody>
      </p:sp>
      <p:pic>
        <p:nvPicPr>
          <p:cNvPr id="12" name="Picture 11"/>
          <p:cNvPicPr>
            <a:picLocks noChangeAspect="1"/>
          </p:cNvPicPr>
          <p:nvPr/>
        </p:nvPicPr>
        <p:blipFill>
          <a:blip r:embed="rId5"/>
          <a:srcRect l="30677" t="30833" r="2656" b="29352"/>
          <a:stretch/>
        </p:blipFill>
        <p:spPr>
          <a:xfrm>
            <a:off x="609600" y="1762125"/>
            <a:ext cx="10972800" cy="3686175"/>
          </a:xfrm>
          <a:prstGeom prst="rect">
            <a:avLst/>
          </a:prstGeom>
        </p:spPr>
      </p:pic>
      <p:sp>
        <p:nvSpPr>
          <p:cNvPr id="5" name="text-3">
            <a:extLst>
              <a:ext uri="{FF2B5EF4-FFF2-40B4-BE49-F238E27FC236}">
                <a16:creationId xmlns:a16="http://schemas.microsoft.com/office/drawing/2014/main" id="{A2BE68A2-3BF7-4515-8882-5ADA26A27026}"/>
              </a:ext>
            </a:extLst>
          </p:cNvPr>
          <p:cNvSpPr>
            <a:spLocks noGrp="1"/>
          </p:cNvSpPr>
          <p:nvPr/>
        </p:nvSpPr>
        <p:spPr>
          <a:xfrm>
            <a:off x="6858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Source snapshots</a:t>
            </a:r>
          </a:p>
        </p:txBody>
      </p:sp>
      <p:sp>
        <p:nvSpPr>
          <p:cNvPr id="6" name="text-4">
            <a:extLst>
              <a:ext uri="{FF2B5EF4-FFF2-40B4-BE49-F238E27FC236}">
                <a16:creationId xmlns:a16="http://schemas.microsoft.com/office/drawing/2014/main" id="{1065B72C-EF13-493D-B0D9-44D5EE8470C0}"/>
              </a:ext>
            </a:extLst>
          </p:cNvPr>
          <p:cNvSpPr>
            <a:spLocks noGrp="1"/>
          </p:cNvSpPr>
          <p:nvPr/>
        </p:nvSpPr>
        <p:spPr>
          <a:xfrm>
            <a:off x="6858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Payroll, ledger, bank and import context</a:t>
            </a:r>
          </a:p>
        </p:txBody>
      </p:sp>
      <p:sp>
        <p:nvSpPr>
          <p:cNvPr id="7" name="text-5">
            <a:extLst>
              <a:ext uri="{FF2B5EF4-FFF2-40B4-BE49-F238E27FC236}">
                <a16:creationId xmlns:a16="http://schemas.microsoft.com/office/drawing/2014/main" id="{6F45B82A-86C9-436A-B9CC-BD09BE2E231C}"/>
              </a:ext>
            </a:extLst>
          </p:cNvPr>
          <p:cNvSpPr>
            <a:spLocks noGrp="1"/>
          </p:cNvSpPr>
          <p:nvPr/>
        </p:nvSpPr>
        <p:spPr>
          <a:xfrm>
            <a:off x="63246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Version references</a:t>
            </a:r>
          </a:p>
        </p:txBody>
      </p:sp>
      <p:sp>
        <p:nvSpPr>
          <p:cNvPr id="8" name="text-6">
            <a:extLst>
              <a:ext uri="{FF2B5EF4-FFF2-40B4-BE49-F238E27FC236}">
                <a16:creationId xmlns:a16="http://schemas.microsoft.com/office/drawing/2014/main" id="{8BC908E9-7775-4F74-A2D4-F1C7FF666246}"/>
              </a:ext>
            </a:extLst>
          </p:cNvPr>
          <p:cNvSpPr>
            <a:spLocks noGrp="1"/>
          </p:cNvSpPr>
          <p:nvPr/>
        </p:nvSpPr>
        <p:spPr>
          <a:xfrm>
            <a:off x="63246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Checks, rules and supporting evidence</a:t>
            </a:r>
          </a:p>
        </p:txBody>
      </p:sp>
      <p:pic>
        <p:nvPicPr>
          <p:cNvPr id="4" name="Narration_Slide_10" descr="English narration for slide 10">
            <a:hlinkClick action="ppaction://media"/>
            <a:extLst>
              <a:ext uri="{FF2B5EF4-FFF2-40B4-BE49-F238E27FC236}">
                <a16:creationId xmlns:a16="http://schemas.microsoft.com/office/drawing/2014/main" id="{A4B8342C-9838-1E69-9A11-C357CEBC2A6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 y="76200"/>
            <a:ext cx="101600" cy="101600"/>
          </a:xfrm>
          <a:prstGeom prst="rect">
            <a:avLst/>
          </a:prstGeom>
        </p:spPr>
      </p:pic>
    </p:spTree>
    <p:extLst>
      <p:ext uri="{BB962C8B-B14F-4D97-AF65-F5344CB8AC3E}">
        <p14:creationId xmlns:p14="http://schemas.microsoft.com/office/powerpoint/2010/main" val="292760787"/>
      </p:ext>
    </p:extLst>
  </p:cSld>
  <p:clrMapOvr>
    <a:masterClrMapping/>
  </p:clrMapOvr>
  <mc:AlternateContent xmlns:mc="http://schemas.openxmlformats.org/markup-compatibility/2006">
    <mc:Choice xmlns:p14="http://schemas.microsoft.com/office/powerpoint/2010/main" Requires="p14">
      <p:transition spd="slow" p14:dur="2000" advClick="0" advTm="54876"/>
    </mc:Choice>
    <mc:Fallback>
      <p:transition spd="slow" advClick="0" advTm="548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8061EA41-3477-4840-B761-EAA65D88ABF2}"/>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Separate review and approval</a:t>
            </a:r>
          </a:p>
        </p:txBody>
      </p:sp>
      <p:sp>
        <p:nvSpPr>
          <p:cNvPr id="2" name="slide-subtitle">
            <a:extLst>
              <a:ext uri="{FF2B5EF4-FFF2-40B4-BE49-F238E27FC236}">
                <a16:creationId xmlns:a16="http://schemas.microsoft.com/office/drawing/2014/main" id="{BB037DEE-5A0D-49A2-AFEB-0278F3CD9639}"/>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The server enforces the order and the actors</a:t>
            </a:r>
          </a:p>
        </p:txBody>
      </p:sp>
      <p:sp>
        <p:nvSpPr>
          <p:cNvPr id="3" name="page-number">
            <a:extLst>
              <a:ext uri="{FF2B5EF4-FFF2-40B4-BE49-F238E27FC236}">
                <a16:creationId xmlns:a16="http://schemas.microsoft.com/office/drawing/2014/main" id="{F20B7EB1-7C6B-4D1E-8247-6DA3634F1166}"/>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11 / 20</a:t>
            </a:r>
          </a:p>
        </p:txBody>
      </p:sp>
      <p:pic>
        <p:nvPicPr>
          <p:cNvPr id="12" name="Picture 11"/>
          <p:cNvPicPr>
            <a:picLocks noChangeAspect="1"/>
          </p:cNvPicPr>
          <p:nvPr/>
        </p:nvPicPr>
        <p:blipFill>
          <a:blip r:embed="rId5"/>
          <a:srcRect l="30625" t="18981" r="2604" b="19444"/>
          <a:stretch/>
        </p:blipFill>
        <p:spPr>
          <a:xfrm>
            <a:off x="2377598" y="1676400"/>
            <a:ext cx="7436805" cy="3857625"/>
          </a:xfrm>
          <a:prstGeom prst="rect">
            <a:avLst/>
          </a:prstGeom>
        </p:spPr>
      </p:pic>
      <p:sp>
        <p:nvSpPr>
          <p:cNvPr id="5" name="text-3">
            <a:extLst>
              <a:ext uri="{FF2B5EF4-FFF2-40B4-BE49-F238E27FC236}">
                <a16:creationId xmlns:a16="http://schemas.microsoft.com/office/drawing/2014/main" id="{B51BC8CC-CCCA-40A9-A1B7-EF8B58654459}"/>
              </a:ext>
            </a:extLst>
          </p:cNvPr>
          <p:cNvSpPr>
            <a:spLocks noGrp="1"/>
          </p:cNvSpPr>
          <p:nvPr/>
        </p:nvSpPr>
        <p:spPr>
          <a:xfrm>
            <a:off x="6858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Four decision stages</a:t>
            </a:r>
          </a:p>
        </p:txBody>
      </p:sp>
      <p:sp>
        <p:nvSpPr>
          <p:cNvPr id="6" name="text-4">
            <a:extLst>
              <a:ext uri="{FF2B5EF4-FFF2-40B4-BE49-F238E27FC236}">
                <a16:creationId xmlns:a16="http://schemas.microsoft.com/office/drawing/2014/main" id="{D99524E7-7F34-415D-839A-B2B9DF735E0A}"/>
              </a:ext>
            </a:extLst>
          </p:cNvPr>
          <p:cNvSpPr>
            <a:spLocks noGrp="1"/>
          </p:cNvSpPr>
          <p:nvPr/>
        </p:nvSpPr>
        <p:spPr>
          <a:xfrm>
            <a:off x="6858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Submission, finance, management and director</a:t>
            </a:r>
          </a:p>
        </p:txBody>
      </p:sp>
      <p:sp>
        <p:nvSpPr>
          <p:cNvPr id="7" name="text-5">
            <a:extLst>
              <a:ext uri="{FF2B5EF4-FFF2-40B4-BE49-F238E27FC236}">
                <a16:creationId xmlns:a16="http://schemas.microsoft.com/office/drawing/2014/main" id="{56EC65CF-C9CD-4FE6-AD22-2884E7D1A428}"/>
              </a:ext>
            </a:extLst>
          </p:cNvPr>
          <p:cNvSpPr>
            <a:spLocks noGrp="1"/>
          </p:cNvSpPr>
          <p:nvPr/>
        </p:nvSpPr>
        <p:spPr>
          <a:xfrm>
            <a:off x="63246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Separation of duties</a:t>
            </a:r>
          </a:p>
        </p:txBody>
      </p:sp>
      <p:sp>
        <p:nvSpPr>
          <p:cNvPr id="8" name="text-6">
            <a:extLst>
              <a:ext uri="{FF2B5EF4-FFF2-40B4-BE49-F238E27FC236}">
                <a16:creationId xmlns:a16="http://schemas.microsoft.com/office/drawing/2014/main" id="{19145FFF-614D-4C44-9BC5-4141E5A00305}"/>
              </a:ext>
            </a:extLst>
          </p:cNvPr>
          <p:cNvSpPr>
            <a:spLocks noGrp="1"/>
          </p:cNvSpPr>
          <p:nvPr/>
        </p:nvSpPr>
        <p:spPr>
          <a:xfrm>
            <a:off x="63246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Different actors review each required stage</a:t>
            </a:r>
          </a:p>
        </p:txBody>
      </p:sp>
      <p:pic>
        <p:nvPicPr>
          <p:cNvPr id="4" name="Narration_Slide_11" descr="English narration for slide 11">
            <a:hlinkClick action="ppaction://media"/>
            <a:extLst>
              <a:ext uri="{FF2B5EF4-FFF2-40B4-BE49-F238E27FC236}">
                <a16:creationId xmlns:a16="http://schemas.microsoft.com/office/drawing/2014/main" id="{3ED7FDA6-E4A6-E297-014B-72055A2E77C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 y="76200"/>
            <a:ext cx="101600" cy="101600"/>
          </a:xfrm>
          <a:prstGeom prst="rect">
            <a:avLst/>
          </a:prstGeom>
        </p:spPr>
      </p:pic>
    </p:spTree>
    <p:extLst>
      <p:ext uri="{BB962C8B-B14F-4D97-AF65-F5344CB8AC3E}">
        <p14:creationId xmlns:p14="http://schemas.microsoft.com/office/powerpoint/2010/main" val="2016531983"/>
      </p:ext>
    </p:extLst>
  </p:cSld>
  <p:clrMapOvr>
    <a:masterClrMapping/>
  </p:clrMapOvr>
  <mc:AlternateContent xmlns:mc="http://schemas.openxmlformats.org/markup-compatibility/2006">
    <mc:Choice xmlns:p14="http://schemas.microsoft.com/office/powerpoint/2010/main" Requires="p14">
      <p:transition spd="slow" p14:dur="2000" advClick="0" advTm="55548"/>
    </mc:Choice>
    <mc:Fallback>
      <p:transition spd="slow" advClick="0" advTm="555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D0C7DB9E-37B6-429A-938B-3CC24E3BA1B3}"/>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Evidence files and exports</a:t>
            </a:r>
          </a:p>
        </p:txBody>
      </p:sp>
      <p:sp>
        <p:nvSpPr>
          <p:cNvPr id="2" name="slide-subtitle">
            <a:extLst>
              <a:ext uri="{FF2B5EF4-FFF2-40B4-BE49-F238E27FC236}">
                <a16:creationId xmlns:a16="http://schemas.microsoft.com/office/drawing/2014/main" id="{75C2BFE3-8F91-4760-A5BF-A298E48F150C}"/>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Files retain their versions and recorded hashes</a:t>
            </a:r>
          </a:p>
        </p:txBody>
      </p:sp>
      <p:sp>
        <p:nvSpPr>
          <p:cNvPr id="3" name="page-number">
            <a:extLst>
              <a:ext uri="{FF2B5EF4-FFF2-40B4-BE49-F238E27FC236}">
                <a16:creationId xmlns:a16="http://schemas.microsoft.com/office/drawing/2014/main" id="{06ACA825-0404-4A7E-B1C0-4DA5A3A37A07}"/>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12 / 20</a:t>
            </a:r>
          </a:p>
        </p:txBody>
      </p:sp>
      <p:pic>
        <p:nvPicPr>
          <p:cNvPr id="12" name="Picture 11"/>
          <p:cNvPicPr>
            <a:picLocks noChangeAspect="1"/>
          </p:cNvPicPr>
          <p:nvPr/>
        </p:nvPicPr>
        <p:blipFill>
          <a:blip r:embed="rId5"/>
          <a:srcRect l="16354" t="21574" r="2500" b="30278"/>
          <a:stretch/>
        </p:blipFill>
        <p:spPr>
          <a:xfrm>
            <a:off x="609600" y="1774065"/>
            <a:ext cx="10972800" cy="3662295"/>
          </a:xfrm>
          <a:prstGeom prst="rect">
            <a:avLst/>
          </a:prstGeom>
        </p:spPr>
      </p:pic>
      <p:sp>
        <p:nvSpPr>
          <p:cNvPr id="5" name="text-3">
            <a:extLst>
              <a:ext uri="{FF2B5EF4-FFF2-40B4-BE49-F238E27FC236}">
                <a16:creationId xmlns:a16="http://schemas.microsoft.com/office/drawing/2014/main" id="{40D3002C-1C52-4D5A-85F5-0E623CEC45AB}"/>
              </a:ext>
            </a:extLst>
          </p:cNvPr>
          <p:cNvSpPr>
            <a:spLocks noGrp="1"/>
          </p:cNvSpPr>
          <p:nvPr/>
        </p:nvSpPr>
        <p:spPr>
          <a:xfrm>
            <a:off x="6858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Evidence identity</a:t>
            </a:r>
          </a:p>
        </p:txBody>
      </p:sp>
      <p:sp>
        <p:nvSpPr>
          <p:cNvPr id="6" name="text-4">
            <a:extLst>
              <a:ext uri="{FF2B5EF4-FFF2-40B4-BE49-F238E27FC236}">
                <a16:creationId xmlns:a16="http://schemas.microsoft.com/office/drawing/2014/main" id="{CAA11778-9A00-43B8-BB1A-5048FA62DCF0}"/>
              </a:ext>
            </a:extLst>
          </p:cNvPr>
          <p:cNvSpPr>
            <a:spLocks noGrp="1"/>
          </p:cNvSpPr>
          <p:nvPr/>
        </p:nvSpPr>
        <p:spPr>
          <a:xfrm>
            <a:off x="6858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Source, version and SHA-256 hash</a:t>
            </a:r>
          </a:p>
        </p:txBody>
      </p:sp>
      <p:sp>
        <p:nvSpPr>
          <p:cNvPr id="7" name="text-5">
            <a:extLst>
              <a:ext uri="{FF2B5EF4-FFF2-40B4-BE49-F238E27FC236}">
                <a16:creationId xmlns:a16="http://schemas.microsoft.com/office/drawing/2014/main" id="{A2F21E48-830F-43B8-9BBB-ED08A609B525}"/>
              </a:ext>
            </a:extLst>
          </p:cNvPr>
          <p:cNvSpPr>
            <a:spLocks noGrp="1"/>
          </p:cNvSpPr>
          <p:nvPr/>
        </p:nvSpPr>
        <p:spPr>
          <a:xfrm>
            <a:off x="63246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Export package</a:t>
            </a:r>
          </a:p>
        </p:txBody>
      </p:sp>
      <p:sp>
        <p:nvSpPr>
          <p:cNvPr id="8" name="text-6">
            <a:extLst>
              <a:ext uri="{FF2B5EF4-FFF2-40B4-BE49-F238E27FC236}">
                <a16:creationId xmlns:a16="http://schemas.microsoft.com/office/drawing/2014/main" id="{31B16D36-8E4A-4FF1-9849-5CF18530C48F}"/>
              </a:ext>
            </a:extLst>
          </p:cNvPr>
          <p:cNvSpPr>
            <a:spLocks noGrp="1"/>
          </p:cNvSpPr>
          <p:nvPr/>
        </p:nvSpPr>
        <p:spPr>
          <a:xfrm>
            <a:off x="63246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The report travels with supporting records</a:t>
            </a:r>
          </a:p>
        </p:txBody>
      </p:sp>
      <p:pic>
        <p:nvPicPr>
          <p:cNvPr id="4" name="Narration_Slide_12" descr="English narration for slide 12">
            <a:hlinkClick action="ppaction://media"/>
            <a:extLst>
              <a:ext uri="{FF2B5EF4-FFF2-40B4-BE49-F238E27FC236}">
                <a16:creationId xmlns:a16="http://schemas.microsoft.com/office/drawing/2014/main" id="{4FB7CD1E-5316-11C1-3BFC-00DB2A59FCB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 y="76200"/>
            <a:ext cx="101600" cy="101600"/>
          </a:xfrm>
          <a:prstGeom prst="rect">
            <a:avLst/>
          </a:prstGeom>
        </p:spPr>
      </p:pic>
    </p:spTree>
    <p:extLst>
      <p:ext uri="{BB962C8B-B14F-4D97-AF65-F5344CB8AC3E}">
        <p14:creationId xmlns:p14="http://schemas.microsoft.com/office/powerpoint/2010/main" val="1145385049"/>
      </p:ext>
    </p:extLst>
  </p:cSld>
  <p:clrMapOvr>
    <a:masterClrMapping/>
  </p:clrMapOvr>
  <mc:AlternateContent xmlns:mc="http://schemas.openxmlformats.org/markup-compatibility/2006">
    <mc:Choice xmlns:p14="http://schemas.microsoft.com/office/powerpoint/2010/main" Requires="p14">
      <p:transition spd="slow" p14:dur="2000" advClick="0" advTm="54612"/>
    </mc:Choice>
    <mc:Fallback>
      <p:transition spd="slow" advClick="0" advTm="546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DFC7EBDC-7CEC-4174-BFA2-86AA05BDC7DB}"/>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Activity and accountability</a:t>
            </a:r>
          </a:p>
        </p:txBody>
      </p:sp>
      <p:sp>
        <p:nvSpPr>
          <p:cNvPr id="2" name="slide-subtitle">
            <a:extLst>
              <a:ext uri="{FF2B5EF4-FFF2-40B4-BE49-F238E27FC236}">
                <a16:creationId xmlns:a16="http://schemas.microsoft.com/office/drawing/2014/main" id="{D6788F2E-B008-4E22-9683-A10239192C9F}"/>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Actions remain connected to people and report versions</a:t>
            </a:r>
          </a:p>
        </p:txBody>
      </p:sp>
      <p:sp>
        <p:nvSpPr>
          <p:cNvPr id="3" name="page-number">
            <a:extLst>
              <a:ext uri="{FF2B5EF4-FFF2-40B4-BE49-F238E27FC236}">
                <a16:creationId xmlns:a16="http://schemas.microsoft.com/office/drawing/2014/main" id="{E8B3D3A7-8F21-4867-AFF3-6410F8C0FE42}"/>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13 / 20</a:t>
            </a:r>
          </a:p>
        </p:txBody>
      </p:sp>
      <p:pic>
        <p:nvPicPr>
          <p:cNvPr id="12" name="Picture 11"/>
          <p:cNvPicPr>
            <a:picLocks noChangeAspect="1"/>
          </p:cNvPicPr>
          <p:nvPr/>
        </p:nvPicPr>
        <p:blipFill>
          <a:blip r:embed="rId5"/>
          <a:srcRect l="16354" t="44907" r="2604" b="6481"/>
          <a:stretch/>
        </p:blipFill>
        <p:spPr>
          <a:xfrm>
            <a:off x="609600" y="1754081"/>
            <a:ext cx="10972800" cy="3702262"/>
          </a:xfrm>
          <a:prstGeom prst="rect">
            <a:avLst/>
          </a:prstGeom>
        </p:spPr>
      </p:pic>
      <p:sp>
        <p:nvSpPr>
          <p:cNvPr id="5" name="text-3">
            <a:extLst>
              <a:ext uri="{FF2B5EF4-FFF2-40B4-BE49-F238E27FC236}">
                <a16:creationId xmlns:a16="http://schemas.microsoft.com/office/drawing/2014/main" id="{6DD2D1B0-51BC-4396-8511-073A3C1F9973}"/>
              </a:ext>
            </a:extLst>
          </p:cNvPr>
          <p:cNvSpPr>
            <a:spLocks noGrp="1"/>
          </p:cNvSpPr>
          <p:nvPr/>
        </p:nvSpPr>
        <p:spPr>
          <a:xfrm>
            <a:off x="6858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Who acted and when</a:t>
            </a:r>
          </a:p>
        </p:txBody>
      </p:sp>
      <p:sp>
        <p:nvSpPr>
          <p:cNvPr id="6" name="text-4">
            <a:extLst>
              <a:ext uri="{FF2B5EF4-FFF2-40B4-BE49-F238E27FC236}">
                <a16:creationId xmlns:a16="http://schemas.microsoft.com/office/drawing/2014/main" id="{5D546372-AFF5-4DC9-9655-3AE08861DA3F}"/>
              </a:ext>
            </a:extLst>
          </p:cNvPr>
          <p:cNvSpPr>
            <a:spLocks noGrp="1"/>
          </p:cNvSpPr>
          <p:nvPr/>
        </p:nvSpPr>
        <p:spPr>
          <a:xfrm>
            <a:off x="6858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Review actions have an activity record</a:t>
            </a:r>
          </a:p>
        </p:txBody>
      </p:sp>
      <p:sp>
        <p:nvSpPr>
          <p:cNvPr id="7" name="text-5">
            <a:extLst>
              <a:ext uri="{FF2B5EF4-FFF2-40B4-BE49-F238E27FC236}">
                <a16:creationId xmlns:a16="http://schemas.microsoft.com/office/drawing/2014/main" id="{838EF547-17F1-4FE5-B7E0-AEB4D749B4D8}"/>
              </a:ext>
            </a:extLst>
          </p:cNvPr>
          <p:cNvSpPr>
            <a:spLocks noGrp="1"/>
          </p:cNvSpPr>
          <p:nvPr/>
        </p:nvSpPr>
        <p:spPr>
          <a:xfrm>
            <a:off x="63246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Historical context</a:t>
            </a:r>
          </a:p>
        </p:txBody>
      </p:sp>
      <p:sp>
        <p:nvSpPr>
          <p:cNvPr id="8" name="text-6">
            <a:extLst>
              <a:ext uri="{FF2B5EF4-FFF2-40B4-BE49-F238E27FC236}">
                <a16:creationId xmlns:a16="http://schemas.microsoft.com/office/drawing/2014/main" id="{1E3D55AA-5235-4249-AC91-3DA5EE28F946}"/>
              </a:ext>
            </a:extLst>
          </p:cNvPr>
          <p:cNvSpPr>
            <a:spLocks noGrp="1"/>
          </p:cNvSpPr>
          <p:nvPr/>
        </p:nvSpPr>
        <p:spPr>
          <a:xfrm>
            <a:off x="63246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Earlier report versions remain traceable</a:t>
            </a:r>
          </a:p>
        </p:txBody>
      </p:sp>
      <p:pic>
        <p:nvPicPr>
          <p:cNvPr id="4" name="Narration_Slide_13" descr="English narration for slide 13">
            <a:hlinkClick action="ppaction://media"/>
            <a:extLst>
              <a:ext uri="{FF2B5EF4-FFF2-40B4-BE49-F238E27FC236}">
                <a16:creationId xmlns:a16="http://schemas.microsoft.com/office/drawing/2014/main" id="{7FD2061D-AE09-0DC0-0BB5-EC893B316C1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 y="76200"/>
            <a:ext cx="101600" cy="101600"/>
          </a:xfrm>
          <a:prstGeom prst="rect">
            <a:avLst/>
          </a:prstGeom>
        </p:spPr>
      </p:pic>
    </p:spTree>
    <p:extLst>
      <p:ext uri="{BB962C8B-B14F-4D97-AF65-F5344CB8AC3E}">
        <p14:creationId xmlns:p14="http://schemas.microsoft.com/office/powerpoint/2010/main" val="782357285"/>
      </p:ext>
    </p:extLst>
  </p:cSld>
  <p:clrMapOvr>
    <a:masterClrMapping/>
  </p:clrMapOvr>
  <mc:AlternateContent xmlns:mc="http://schemas.openxmlformats.org/markup-compatibility/2006">
    <mc:Choice xmlns:p14="http://schemas.microsoft.com/office/powerpoint/2010/main" Requires="p14">
      <p:transition spd="slow" p14:dur="2000" advClick="0" advTm="58524"/>
    </mc:Choice>
    <mc:Fallback>
      <p:transition spd="slow" advClick="0" advTm="585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4"/>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59B159F0-08A0-4C58-8779-59A74D65F8A2}"/>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Recruitment and onboarding</a:t>
            </a:r>
          </a:p>
        </p:txBody>
      </p:sp>
      <p:sp>
        <p:nvSpPr>
          <p:cNvPr id="2" name="slide-subtitle">
            <a:extLst>
              <a:ext uri="{FF2B5EF4-FFF2-40B4-BE49-F238E27FC236}">
                <a16:creationId xmlns:a16="http://schemas.microsoft.com/office/drawing/2014/main" id="{8935012B-7D12-4E9C-BF84-C6DDAFF0AD94}"/>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Candidate progress connects to essential employee records</a:t>
            </a:r>
          </a:p>
        </p:txBody>
      </p:sp>
      <p:sp>
        <p:nvSpPr>
          <p:cNvPr id="3" name="page-number">
            <a:extLst>
              <a:ext uri="{FF2B5EF4-FFF2-40B4-BE49-F238E27FC236}">
                <a16:creationId xmlns:a16="http://schemas.microsoft.com/office/drawing/2014/main" id="{BCA3B799-93D0-47C3-958B-1F4E38C94A91}"/>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14 / 20</a:t>
            </a:r>
          </a:p>
        </p:txBody>
      </p:sp>
      <p:pic>
        <p:nvPicPr>
          <p:cNvPr id="12" name="Picture 11"/>
          <p:cNvPicPr>
            <a:picLocks noChangeAspect="1"/>
          </p:cNvPicPr>
          <p:nvPr/>
        </p:nvPicPr>
        <p:blipFill>
          <a:blip r:embed="rId5"/>
          <a:srcRect l="16354" t="52963" r="2500" b="17870"/>
          <a:stretch/>
        </p:blipFill>
        <p:spPr>
          <a:xfrm>
            <a:off x="609600" y="2495960"/>
            <a:ext cx="10972800" cy="2218506"/>
          </a:xfrm>
          <a:prstGeom prst="rect">
            <a:avLst/>
          </a:prstGeom>
        </p:spPr>
      </p:pic>
      <p:sp>
        <p:nvSpPr>
          <p:cNvPr id="5" name="text-3">
            <a:extLst>
              <a:ext uri="{FF2B5EF4-FFF2-40B4-BE49-F238E27FC236}">
                <a16:creationId xmlns:a16="http://schemas.microsoft.com/office/drawing/2014/main" id="{776857CF-09AF-42E7-8A90-5FB10B5410F3}"/>
              </a:ext>
            </a:extLst>
          </p:cNvPr>
          <p:cNvSpPr>
            <a:spLocks noGrp="1"/>
          </p:cNvSpPr>
          <p:nvPr/>
        </p:nvSpPr>
        <p:spPr>
          <a:xfrm>
            <a:off x="6858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Recruitment stages</a:t>
            </a:r>
          </a:p>
        </p:txBody>
      </p:sp>
      <p:sp>
        <p:nvSpPr>
          <p:cNvPr id="6" name="text-4">
            <a:extLst>
              <a:ext uri="{FF2B5EF4-FFF2-40B4-BE49-F238E27FC236}">
                <a16:creationId xmlns:a16="http://schemas.microsoft.com/office/drawing/2014/main" id="{9910DA4A-7801-41CE-9312-BF547D4DD327}"/>
              </a:ext>
            </a:extLst>
          </p:cNvPr>
          <p:cNvSpPr>
            <a:spLocks noGrp="1"/>
          </p:cNvSpPr>
          <p:nvPr/>
        </p:nvSpPr>
        <p:spPr>
          <a:xfrm>
            <a:off x="6858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Job requirements, candidates and scorecards</a:t>
            </a:r>
          </a:p>
        </p:txBody>
      </p:sp>
      <p:sp>
        <p:nvSpPr>
          <p:cNvPr id="7" name="text-5">
            <a:extLst>
              <a:ext uri="{FF2B5EF4-FFF2-40B4-BE49-F238E27FC236}">
                <a16:creationId xmlns:a16="http://schemas.microsoft.com/office/drawing/2014/main" id="{D22B706C-D46B-44C0-9B48-39C73A7809BA}"/>
              </a:ext>
            </a:extLst>
          </p:cNvPr>
          <p:cNvSpPr>
            <a:spLocks noGrp="1"/>
          </p:cNvSpPr>
          <p:nvPr/>
        </p:nvSpPr>
        <p:spPr>
          <a:xfrm>
            <a:off x="6324600" y="5705475"/>
            <a:ext cx="523875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Onboarding handoff</a:t>
            </a:r>
          </a:p>
        </p:txBody>
      </p:sp>
      <p:sp>
        <p:nvSpPr>
          <p:cNvPr id="8" name="text-6">
            <a:extLst>
              <a:ext uri="{FF2B5EF4-FFF2-40B4-BE49-F238E27FC236}">
                <a16:creationId xmlns:a16="http://schemas.microsoft.com/office/drawing/2014/main" id="{0237C425-4158-4F04-A15B-5DE26BCA0E13}"/>
              </a:ext>
            </a:extLst>
          </p:cNvPr>
          <p:cNvSpPr>
            <a:spLocks noGrp="1"/>
          </p:cNvSpPr>
          <p:nvPr/>
        </p:nvSpPr>
        <p:spPr>
          <a:xfrm>
            <a:off x="6324600" y="6143625"/>
            <a:ext cx="523875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Create the employee information needed next</a:t>
            </a:r>
          </a:p>
        </p:txBody>
      </p:sp>
      <p:pic>
        <p:nvPicPr>
          <p:cNvPr id="4" name="Narration_Slide_14" descr="English narration for slide 14">
            <a:hlinkClick action="ppaction://media"/>
            <a:extLst>
              <a:ext uri="{FF2B5EF4-FFF2-40B4-BE49-F238E27FC236}">
                <a16:creationId xmlns:a16="http://schemas.microsoft.com/office/drawing/2014/main" id="{B45C2A05-06D0-883F-55BB-3AF319D1F59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 y="76200"/>
            <a:ext cx="101600" cy="101600"/>
          </a:xfrm>
          <a:prstGeom prst="rect">
            <a:avLst/>
          </a:prstGeom>
        </p:spPr>
      </p:pic>
    </p:spTree>
    <p:extLst>
      <p:ext uri="{BB962C8B-B14F-4D97-AF65-F5344CB8AC3E}">
        <p14:creationId xmlns:p14="http://schemas.microsoft.com/office/powerpoint/2010/main" val="630257822"/>
      </p:ext>
    </p:extLst>
  </p:cSld>
  <p:clrMapOvr>
    <a:masterClrMapping/>
  </p:clrMapOvr>
  <mc:AlternateContent xmlns:mc="http://schemas.openxmlformats.org/markup-compatibility/2006">
    <mc:Choice xmlns:p14="http://schemas.microsoft.com/office/powerpoint/2010/main" Requires="p14">
      <p:transition spd="slow" p14:dur="2000" advClick="0" advTm="59580"/>
    </mc:Choice>
    <mc:Fallback>
      <p:transition spd="slow" advClick="0" advTm="59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458CA8CC-69C2-4D42-A124-6735CE9B47A0}"/>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AI assistance and its limits</a:t>
            </a:r>
          </a:p>
        </p:txBody>
      </p:sp>
      <p:sp>
        <p:nvSpPr>
          <p:cNvPr id="2" name="slide-subtitle">
            <a:extLst>
              <a:ext uri="{FF2B5EF4-FFF2-40B4-BE49-F238E27FC236}">
                <a16:creationId xmlns:a16="http://schemas.microsoft.com/office/drawing/2014/main" id="{C00F6FFB-EB68-480D-8EB4-97789E8E1A38}"/>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The default demonstration uses a Mock model</a:t>
            </a:r>
          </a:p>
        </p:txBody>
      </p:sp>
      <p:sp>
        <p:nvSpPr>
          <p:cNvPr id="3" name="page-number">
            <a:extLst>
              <a:ext uri="{FF2B5EF4-FFF2-40B4-BE49-F238E27FC236}">
                <a16:creationId xmlns:a16="http://schemas.microsoft.com/office/drawing/2014/main" id="{CC0E0420-9C33-4314-9F13-1F286C926F73}"/>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15 / 20</a:t>
            </a:r>
          </a:p>
        </p:txBody>
      </p:sp>
      <p:pic>
        <p:nvPicPr>
          <p:cNvPr id="14" name="Picture 13"/>
          <p:cNvPicPr>
            <a:picLocks noChangeAspect="1"/>
          </p:cNvPicPr>
          <p:nvPr/>
        </p:nvPicPr>
        <p:blipFill>
          <a:blip r:embed="rId5"/>
          <a:srcRect l="16354" t="9722" r="3438" b="37963"/>
          <a:stretch/>
        </p:blipFill>
        <p:spPr>
          <a:xfrm>
            <a:off x="838706" y="1676400"/>
            <a:ext cx="10514588" cy="3857625"/>
          </a:xfrm>
          <a:prstGeom prst="rect">
            <a:avLst/>
          </a:prstGeom>
        </p:spPr>
      </p:pic>
      <p:sp>
        <p:nvSpPr>
          <p:cNvPr id="5" name="text-3">
            <a:extLst>
              <a:ext uri="{FF2B5EF4-FFF2-40B4-BE49-F238E27FC236}">
                <a16:creationId xmlns:a16="http://schemas.microsoft.com/office/drawing/2014/main" id="{593D286A-10E1-48B0-A098-8ADE200BAC3A}"/>
              </a:ext>
            </a:extLst>
          </p:cNvPr>
          <p:cNvSpPr>
            <a:spLocks noGrp="1"/>
          </p:cNvSpPr>
          <p:nvPr/>
        </p:nvSpPr>
        <p:spPr>
          <a:xfrm>
            <a:off x="685800" y="5705475"/>
            <a:ext cx="342900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Allowed support</a:t>
            </a:r>
          </a:p>
        </p:txBody>
      </p:sp>
      <p:sp>
        <p:nvSpPr>
          <p:cNvPr id="6" name="text-4">
            <a:extLst>
              <a:ext uri="{FF2B5EF4-FFF2-40B4-BE49-F238E27FC236}">
                <a16:creationId xmlns:a16="http://schemas.microsoft.com/office/drawing/2014/main" id="{B757EFAE-8414-4D28-A9EC-CCCB27E0FAB3}"/>
              </a:ext>
            </a:extLst>
          </p:cNvPr>
          <p:cNvSpPr>
            <a:spLocks noGrp="1"/>
          </p:cNvSpPr>
          <p:nvPr/>
        </p:nvSpPr>
        <p:spPr>
          <a:xfrm>
            <a:off x="685800" y="6143625"/>
            <a:ext cx="342900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Read evidence and save drafts</a:t>
            </a:r>
          </a:p>
        </p:txBody>
      </p:sp>
      <p:sp>
        <p:nvSpPr>
          <p:cNvPr id="7" name="text-5">
            <a:extLst>
              <a:ext uri="{FF2B5EF4-FFF2-40B4-BE49-F238E27FC236}">
                <a16:creationId xmlns:a16="http://schemas.microsoft.com/office/drawing/2014/main" id="{F302C9B0-A5A3-42AE-B41B-24686E4F7F1C}"/>
              </a:ext>
            </a:extLst>
          </p:cNvPr>
          <p:cNvSpPr>
            <a:spLocks noGrp="1"/>
          </p:cNvSpPr>
          <p:nvPr/>
        </p:nvSpPr>
        <p:spPr>
          <a:xfrm>
            <a:off x="4410075" y="5705475"/>
            <a:ext cx="342900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Restricted actions</a:t>
            </a:r>
          </a:p>
        </p:txBody>
      </p:sp>
      <p:sp>
        <p:nvSpPr>
          <p:cNvPr id="8" name="text-6">
            <a:extLst>
              <a:ext uri="{FF2B5EF4-FFF2-40B4-BE49-F238E27FC236}">
                <a16:creationId xmlns:a16="http://schemas.microsoft.com/office/drawing/2014/main" id="{D3CC92FB-D041-499C-8CEF-8011B0369395}"/>
              </a:ext>
            </a:extLst>
          </p:cNvPr>
          <p:cNvSpPr>
            <a:spLocks noGrp="1"/>
          </p:cNvSpPr>
          <p:nvPr/>
        </p:nvSpPr>
        <p:spPr>
          <a:xfrm>
            <a:off x="4410075" y="6143625"/>
            <a:ext cx="342900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No payments or approvals</a:t>
            </a:r>
          </a:p>
        </p:txBody>
      </p:sp>
      <p:sp>
        <p:nvSpPr>
          <p:cNvPr id="9" name="text-7">
            <a:extLst>
              <a:ext uri="{FF2B5EF4-FFF2-40B4-BE49-F238E27FC236}">
                <a16:creationId xmlns:a16="http://schemas.microsoft.com/office/drawing/2014/main" id="{E57D214A-06FA-429D-B4FB-57D2FFD152BC}"/>
              </a:ext>
            </a:extLst>
          </p:cNvPr>
          <p:cNvSpPr>
            <a:spLocks noGrp="1"/>
          </p:cNvSpPr>
          <p:nvPr/>
        </p:nvSpPr>
        <p:spPr>
          <a:xfrm>
            <a:off x="8134350" y="5705475"/>
            <a:ext cx="3429000" cy="361950"/>
          </a:xfrm>
          <a:prstGeom prst="rect">
            <a:avLst/>
          </a:prstGeom>
          <a:noFill/>
          <a:ln w="0">
            <a:noFill/>
          </a:ln>
        </p:spPr>
        <p:txBody>
          <a:bodyPr lIns="0" tIns="0" rIns="0" bIns="0" anchor="t">
            <a:noAutofit/>
          </a:bodyPr>
          <a:lstStyle/>
          <a:p>
            <a:pPr algn="l">
              <a:defRPr sz="1875" b="1">
                <a:solidFill>
                  <a:srgbClr val="183239"/>
                </a:solidFill>
                <a:latin typeface="Microsoft YaHei"/>
                <a:ea typeface="Microsoft YaHei"/>
                <a:cs typeface="Microsoft YaHei"/>
              </a:defRPr>
            </a:pPr>
            <a:r>
              <a:rPr sz="1875" b="1">
                <a:solidFill>
                  <a:srgbClr val="183239"/>
                </a:solidFill>
                <a:latin typeface="Microsoft YaHei"/>
                <a:ea typeface="Microsoft YaHei"/>
                <a:cs typeface="Microsoft YaHei"/>
              </a:rPr>
              <a:t>Current model</a:t>
            </a:r>
          </a:p>
        </p:txBody>
      </p:sp>
      <p:sp>
        <p:nvSpPr>
          <p:cNvPr id="10" name="text-8">
            <a:extLst>
              <a:ext uri="{FF2B5EF4-FFF2-40B4-BE49-F238E27FC236}">
                <a16:creationId xmlns:a16="http://schemas.microsoft.com/office/drawing/2014/main" id="{847035DB-8E70-4E8C-9A99-B8C0D97FD5AF}"/>
              </a:ext>
            </a:extLst>
          </p:cNvPr>
          <p:cNvSpPr>
            <a:spLocks noGrp="1"/>
          </p:cNvSpPr>
          <p:nvPr/>
        </p:nvSpPr>
        <p:spPr>
          <a:xfrm>
            <a:off x="8134350" y="6143625"/>
            <a:ext cx="3429000" cy="609600"/>
          </a:xfrm>
          <a:prstGeom prst="rect">
            <a:avLst/>
          </a:prstGeom>
          <a:noFill/>
          <a:ln w="0">
            <a:noFill/>
          </a:ln>
        </p:spPr>
        <p:txBody>
          <a:bodyPr lIns="0" tIns="0" rIns="0" bIns="0" anchor="t">
            <a:noAutofit/>
          </a:bodyPr>
          <a:lstStyle/>
          <a:p>
            <a:pPr algn="l">
              <a:defRPr sz="1725" b="0">
                <a:solidFill>
                  <a:srgbClr val="526970"/>
                </a:solidFill>
                <a:latin typeface="Microsoft YaHei"/>
                <a:ea typeface="Microsoft YaHei"/>
                <a:cs typeface="Microsoft YaHei"/>
              </a:defRPr>
            </a:pPr>
            <a:r>
              <a:rPr sz="1725" b="0">
                <a:solidFill>
                  <a:srgbClr val="526970"/>
                </a:solidFill>
                <a:latin typeface="Microsoft YaHei"/>
                <a:ea typeface="Microsoft YaHei"/>
                <a:cs typeface="Microsoft YaHei"/>
              </a:rPr>
              <a:t>Mock output for demonstration</a:t>
            </a:r>
          </a:p>
        </p:txBody>
      </p:sp>
      <p:pic>
        <p:nvPicPr>
          <p:cNvPr id="4" name="Narration_Slide_15" descr="English narration for slide 15">
            <a:hlinkClick action="ppaction://media"/>
            <a:extLst>
              <a:ext uri="{FF2B5EF4-FFF2-40B4-BE49-F238E27FC236}">
                <a16:creationId xmlns:a16="http://schemas.microsoft.com/office/drawing/2014/main" id="{5A9901BE-F4B8-7785-8687-72591DEDC44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00" y="76200"/>
            <a:ext cx="101600" cy="101600"/>
          </a:xfrm>
          <a:prstGeom prst="rect">
            <a:avLst/>
          </a:prstGeom>
        </p:spPr>
      </p:pic>
    </p:spTree>
    <p:extLst>
      <p:ext uri="{BB962C8B-B14F-4D97-AF65-F5344CB8AC3E}">
        <p14:creationId xmlns:p14="http://schemas.microsoft.com/office/powerpoint/2010/main" val="804789833"/>
      </p:ext>
    </p:extLst>
  </p:cSld>
  <p:clrMapOvr>
    <a:masterClrMapping/>
  </p:clrMapOvr>
  <mc:AlternateContent xmlns:mc="http://schemas.openxmlformats.org/markup-compatibility/2006">
    <mc:Choice xmlns:p14="http://schemas.microsoft.com/office/powerpoint/2010/main" Requires="p14">
      <p:transition spd="slow" p14:dur="2000" advClick="0" advTm="55956"/>
    </mc:Choice>
    <mc:Fallback>
      <p:transition spd="slow" advClick="0" advTm="559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4"/>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3738BD81-A1B8-4C77-A10A-D3EBFB843751}"/>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Implementation and cloud deployment</a:t>
            </a:r>
          </a:p>
        </p:txBody>
      </p:sp>
      <p:sp>
        <p:nvSpPr>
          <p:cNvPr id="2" name="slide-subtitle">
            <a:extLst>
              <a:ext uri="{FF2B5EF4-FFF2-40B4-BE49-F238E27FC236}">
                <a16:creationId xmlns:a16="http://schemas.microsoft.com/office/drawing/2014/main" id="{4C196147-6B91-4DA4-9A1F-E5A3AFB134EE}"/>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A local reference edition and a deployed cloud edition</a:t>
            </a:r>
          </a:p>
        </p:txBody>
      </p:sp>
      <p:sp>
        <p:nvSpPr>
          <p:cNvPr id="3" name="page-number">
            <a:extLst>
              <a:ext uri="{FF2B5EF4-FFF2-40B4-BE49-F238E27FC236}">
                <a16:creationId xmlns:a16="http://schemas.microsoft.com/office/drawing/2014/main" id="{8FB47AF7-9DDE-4F6A-9017-ED096DC7DC88}"/>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16 / 20</a:t>
            </a:r>
          </a:p>
        </p:txBody>
      </p:sp>
      <p:graphicFrame>
        <p:nvGraphicFramePr>
          <p:cNvPr id="9" name="Table 8"/>
          <p:cNvGraphicFramePr/>
          <p:nvPr/>
        </p:nvGraphicFramePr>
        <p:xfrm>
          <a:off x="609600" y="1714500"/>
          <a:ext cx="10972800" cy="3905250"/>
        </p:xfrm>
        <a:graphic>
          <a:graphicData uri="http://schemas.openxmlformats.org/drawingml/2006/table">
            <a:tbl>
              <a:tblPr/>
              <a:tblGrid>
                <a:gridCol w="2886075">
                  <a:extLst>
                    <a:ext uri="{9D8B030D-6E8A-4147-A177-3AD203B41FA5}">
                      <a16:colId xmlns:a16="http://schemas.microsoft.com/office/drawing/2014/main" val="20000"/>
                    </a:ext>
                  </a:extLst>
                </a:gridCol>
                <a:gridCol w="8086725">
                  <a:extLst>
                    <a:ext uri="{9D8B030D-6E8A-4147-A177-3AD203B41FA5}">
                      <a16:colId xmlns:a16="http://schemas.microsoft.com/office/drawing/2014/main" val="20001"/>
                    </a:ext>
                  </a:extLst>
                </a:gridCol>
              </a:tblGrid>
              <a:tr h="781050">
                <a:tc>
                  <a:txBody>
                    <a:bodyPr/>
                    <a:lstStyle/>
                    <a:p>
                      <a:pPr algn="l"/>
                      <a:r>
                        <a:rPr sz="1800" b="1">
                          <a:solidFill>
                            <a:srgbClr val="FFFFFF"/>
                          </a:solidFill>
                          <a:latin typeface="Microsoft YaHei"/>
                          <a:ea typeface="Microsoft YaHei"/>
                          <a:cs typeface="Microsoft YaHei"/>
                        </a:rPr>
                        <a:t>Layer</a:t>
                      </a:r>
                    </a:p>
                  </a:txBody>
                  <a:tcPr marL="152400" marR="152400" marT="85725" marB="85725" anchor="ctr">
                    <a:solidFill>
                      <a:srgbClr val="15363C"/>
                    </a:solidFill>
                  </a:tcPr>
                </a:tc>
                <a:tc>
                  <a:txBody>
                    <a:bodyPr/>
                    <a:lstStyle/>
                    <a:p>
                      <a:pPr algn="l"/>
                      <a:r>
                        <a:rPr sz="1800" b="1">
                          <a:solidFill>
                            <a:srgbClr val="FFFFFF"/>
                          </a:solidFill>
                          <a:latin typeface="Microsoft YaHei"/>
                          <a:ea typeface="Microsoft YaHei"/>
                          <a:cs typeface="Microsoft YaHei"/>
                        </a:rPr>
                        <a:t>Implementation</a:t>
                      </a:r>
                    </a:p>
                  </a:txBody>
                  <a:tcPr marL="152400" marR="152400" marT="85725" marB="85725" anchor="ctr">
                    <a:solidFill>
                      <a:srgbClr val="15363C"/>
                    </a:solidFill>
                  </a:tcPr>
                </a:tc>
                <a:extLst>
                  <a:ext uri="{0D108BD9-81ED-4DB2-BD59-A6C34878D82A}">
                    <a16:rowId xmlns:a16="http://schemas.microsoft.com/office/drawing/2014/main" val="10000"/>
                  </a:ext>
                </a:extLst>
              </a:tr>
              <a:tr h="781050">
                <a:tc>
                  <a:txBody>
                    <a:bodyPr/>
                    <a:lstStyle/>
                    <a:p>
                      <a:pPr algn="l"/>
                      <a:r>
                        <a:rPr sz="1800" b="0">
                          <a:solidFill>
                            <a:srgbClr val="183239"/>
                          </a:solidFill>
                          <a:latin typeface="Microsoft YaHei"/>
                          <a:ea typeface="Microsoft YaHei"/>
                          <a:cs typeface="Microsoft YaHei"/>
                        </a:rPr>
                        <a:t>Browser</a:t>
                      </a:r>
                    </a:p>
                  </a:txBody>
                  <a:tcPr marL="152400" marR="152400" marT="85725" marB="85725" anchor="ctr">
                    <a:solidFill>
                      <a:srgbClr val="FFFFFF"/>
                    </a:solidFill>
                  </a:tcPr>
                </a:tc>
                <a:tc>
                  <a:txBody>
                    <a:bodyPr/>
                    <a:lstStyle/>
                    <a:p>
                      <a:pPr algn="l"/>
                      <a:r>
                        <a:rPr sz="1800" b="0">
                          <a:solidFill>
                            <a:srgbClr val="183239"/>
                          </a:solidFill>
                          <a:latin typeface="Microsoft YaHei"/>
                          <a:ea typeface="Microsoft YaHei"/>
                          <a:cs typeface="Microsoft YaHei"/>
                        </a:rPr>
                        <a:t>HTML, CSS and JavaScript workspace</a:t>
                      </a:r>
                    </a:p>
                  </a:txBody>
                  <a:tcPr marL="152400" marR="152400" marT="85725" marB="85725" anchor="ctr">
                    <a:solidFill>
                      <a:srgbClr val="FFFFFF"/>
                    </a:solidFill>
                  </a:tcPr>
                </a:tc>
                <a:extLst>
                  <a:ext uri="{0D108BD9-81ED-4DB2-BD59-A6C34878D82A}">
                    <a16:rowId xmlns:a16="http://schemas.microsoft.com/office/drawing/2014/main" val="10001"/>
                  </a:ext>
                </a:extLst>
              </a:tr>
              <a:tr h="781050">
                <a:tc>
                  <a:txBody>
                    <a:bodyPr/>
                    <a:lstStyle/>
                    <a:p>
                      <a:pPr algn="l"/>
                      <a:r>
                        <a:rPr sz="1800" b="0">
                          <a:solidFill>
                            <a:srgbClr val="183239"/>
                          </a:solidFill>
                          <a:latin typeface="Microsoft YaHei"/>
                          <a:ea typeface="Microsoft YaHei"/>
                          <a:cs typeface="Microsoft YaHei"/>
                        </a:rPr>
                        <a:t>Application</a:t>
                      </a:r>
                    </a:p>
                  </a:txBody>
                  <a:tcPr marL="152400" marR="152400" marT="85725" marB="85725" anchor="ctr">
                    <a:solidFill>
                      <a:srgbClr val="EEF3F0"/>
                    </a:solidFill>
                  </a:tcPr>
                </a:tc>
                <a:tc>
                  <a:txBody>
                    <a:bodyPr/>
                    <a:lstStyle/>
                    <a:p>
                      <a:pPr algn="l"/>
                      <a:r>
                        <a:rPr sz="1800" b="0">
                          <a:solidFill>
                            <a:srgbClr val="183239"/>
                          </a:solidFill>
                          <a:latin typeface="Microsoft YaHei"/>
                          <a:ea typeface="Microsoft YaHei"/>
                          <a:cs typeface="Microsoft YaHei"/>
                        </a:rPr>
                        <a:t>Node.js APIs, sessions and permissions</a:t>
                      </a:r>
                    </a:p>
                  </a:txBody>
                  <a:tcPr marL="152400" marR="152400" marT="85725" marB="85725" anchor="ctr">
                    <a:solidFill>
                      <a:srgbClr val="EEF3F0"/>
                    </a:solidFill>
                  </a:tcPr>
                </a:tc>
                <a:extLst>
                  <a:ext uri="{0D108BD9-81ED-4DB2-BD59-A6C34878D82A}">
                    <a16:rowId xmlns:a16="http://schemas.microsoft.com/office/drawing/2014/main" val="10002"/>
                  </a:ext>
                </a:extLst>
              </a:tr>
              <a:tr h="781050">
                <a:tc>
                  <a:txBody>
                    <a:bodyPr/>
                    <a:lstStyle/>
                    <a:p>
                      <a:pPr algn="l"/>
                      <a:r>
                        <a:rPr sz="1800" b="0">
                          <a:solidFill>
                            <a:srgbClr val="183239"/>
                          </a:solidFill>
                          <a:latin typeface="Microsoft YaHei"/>
                          <a:ea typeface="Microsoft YaHei"/>
                          <a:cs typeface="Microsoft YaHei"/>
                        </a:rPr>
                        <a:t>Business controls</a:t>
                      </a:r>
                    </a:p>
                  </a:txBody>
                  <a:tcPr marL="152400" marR="152400" marT="85725" marB="85725" anchor="ctr">
                    <a:solidFill>
                      <a:srgbClr val="FFFFFF"/>
                    </a:solidFill>
                  </a:tcPr>
                </a:tc>
                <a:tc>
                  <a:txBody>
                    <a:bodyPr/>
                    <a:lstStyle/>
                    <a:p>
                      <a:pPr algn="l"/>
                      <a:r>
                        <a:rPr sz="1800" b="0">
                          <a:solidFill>
                            <a:srgbClr val="183239"/>
                          </a:solidFill>
                          <a:latin typeface="Microsoft YaHei"/>
                          <a:ea typeface="Microsoft YaHei"/>
                          <a:cs typeface="Microsoft YaHei"/>
                        </a:rPr>
                        <a:t>Checks, reconciliation, approvals and snapshots</a:t>
                      </a:r>
                    </a:p>
                  </a:txBody>
                  <a:tcPr marL="152400" marR="152400" marT="85725" marB="85725" anchor="ctr">
                    <a:solidFill>
                      <a:srgbClr val="FFFFFF"/>
                    </a:solidFill>
                  </a:tcPr>
                </a:tc>
                <a:extLst>
                  <a:ext uri="{0D108BD9-81ED-4DB2-BD59-A6C34878D82A}">
                    <a16:rowId xmlns:a16="http://schemas.microsoft.com/office/drawing/2014/main" val="10003"/>
                  </a:ext>
                </a:extLst>
              </a:tr>
              <a:tr h="781050">
                <a:tc>
                  <a:txBody>
                    <a:bodyPr/>
                    <a:lstStyle/>
                    <a:p>
                      <a:pPr algn="l"/>
                      <a:r>
                        <a:rPr sz="1800" b="0">
                          <a:solidFill>
                            <a:srgbClr val="183239"/>
                          </a:solidFill>
                          <a:latin typeface="Microsoft YaHei"/>
                          <a:ea typeface="Microsoft YaHei"/>
                          <a:cs typeface="Microsoft YaHei"/>
                        </a:rPr>
                        <a:t>Persistence</a:t>
                      </a:r>
                    </a:p>
                  </a:txBody>
                  <a:tcPr marL="152400" marR="152400" marT="85725" marB="85725" anchor="ctr">
                    <a:solidFill>
                      <a:srgbClr val="EEF3F0"/>
                    </a:solidFill>
                  </a:tcPr>
                </a:tc>
                <a:tc>
                  <a:txBody>
                    <a:bodyPr/>
                    <a:lstStyle/>
                    <a:p>
                      <a:pPr algn="l"/>
                      <a:r>
                        <a:rPr sz="1800" b="0">
                          <a:solidFill>
                            <a:srgbClr val="183239"/>
                          </a:solidFill>
                          <a:latin typeface="Microsoft YaHei"/>
                          <a:ea typeface="Microsoft YaHei"/>
                          <a:cs typeface="Microsoft YaHei"/>
                        </a:rPr>
                        <a:t>Local: SQLite and files</a:t>
                      </a:r>
                    </a:p>
                    <a:p>
                      <a:pPr algn="l"/>
                      <a:r>
                        <a:rPr sz="1800" b="0">
                          <a:solidFill>
                            <a:srgbClr val="183239"/>
                          </a:solidFill>
                          <a:latin typeface="Microsoft YaHei"/>
                          <a:ea typeface="Microsoft YaHei"/>
                          <a:cs typeface="Microsoft YaHei"/>
                        </a:rPr>
                        <a:t>Cloud: Neon PostgreSQL and private Vercel Blob</a:t>
                      </a:r>
                    </a:p>
                  </a:txBody>
                  <a:tcPr marL="152400" marR="152400" marT="85725" marB="85725" anchor="ctr">
                    <a:solidFill>
                      <a:srgbClr val="EEF3F0"/>
                    </a:solidFill>
                  </a:tcPr>
                </a:tc>
                <a:extLst>
                  <a:ext uri="{0D108BD9-81ED-4DB2-BD59-A6C34878D82A}">
                    <a16:rowId xmlns:a16="http://schemas.microsoft.com/office/drawing/2014/main" val="10004"/>
                  </a:ext>
                </a:extLst>
              </a:tr>
            </a:tbl>
          </a:graphicData>
        </a:graphic>
      </p:graphicFrame>
      <p:sp>
        <p:nvSpPr>
          <p:cNvPr id="5" name="text-3">
            <a:extLst>
              <a:ext uri="{FF2B5EF4-FFF2-40B4-BE49-F238E27FC236}">
                <a16:creationId xmlns:a16="http://schemas.microsoft.com/office/drawing/2014/main" id="{D9FB23C2-958F-473F-A670-57DD8B4BA218}"/>
              </a:ext>
            </a:extLst>
          </p:cNvPr>
          <p:cNvSpPr>
            <a:spLocks noGrp="1"/>
          </p:cNvSpPr>
          <p:nvPr/>
        </p:nvSpPr>
        <p:spPr>
          <a:xfrm>
            <a:off x="685800" y="5934075"/>
            <a:ext cx="10687050" cy="438150"/>
          </a:xfrm>
          <a:prstGeom prst="rect">
            <a:avLst/>
          </a:prstGeom>
          <a:noFill/>
          <a:ln w="0">
            <a:noFill/>
          </a:ln>
        </p:spPr>
        <p:txBody>
          <a:bodyPr lIns="0" tIns="0" rIns="0" bIns="0" anchor="t">
            <a:noAutofit/>
          </a:bodyPr>
          <a:lstStyle/>
          <a:p>
            <a:pPr algn="l">
              <a:defRPr sz="1800" b="0">
                <a:solidFill>
                  <a:srgbClr val="526970"/>
                </a:solidFill>
                <a:latin typeface="Microsoft YaHei"/>
                <a:ea typeface="Microsoft YaHei"/>
                <a:cs typeface="Microsoft YaHei"/>
              </a:defRPr>
            </a:pPr>
            <a:r>
              <a:rPr sz="1800" b="0">
                <a:solidFill>
                  <a:srgbClr val="526970"/>
                </a:solidFill>
                <a:latin typeface="Microsoft YaHei"/>
                <a:ea typeface="Microsoft YaHei"/>
                <a:cs typeface="Microsoft YaHei"/>
              </a:rPr>
              <a:t>The application and presentation website are now available on Vercel.</a:t>
            </a:r>
          </a:p>
        </p:txBody>
      </p:sp>
      <p:pic>
        <p:nvPicPr>
          <p:cNvPr id="4" name="Narration_Slide_16" descr="English narration for slide 16">
            <a:hlinkClick action="ppaction://media"/>
            <a:extLst>
              <a:ext uri="{FF2B5EF4-FFF2-40B4-BE49-F238E27FC236}">
                <a16:creationId xmlns:a16="http://schemas.microsoft.com/office/drawing/2014/main" id="{718E90D0-5329-5ECF-E5F9-782B41C389A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 y="76200"/>
            <a:ext cx="101600" cy="101600"/>
          </a:xfrm>
          <a:prstGeom prst="rect">
            <a:avLst/>
          </a:prstGeom>
        </p:spPr>
      </p:pic>
    </p:spTree>
    <p:extLst>
      <p:ext uri="{BB962C8B-B14F-4D97-AF65-F5344CB8AC3E}">
        <p14:creationId xmlns:p14="http://schemas.microsoft.com/office/powerpoint/2010/main" val="1973044790"/>
      </p:ext>
    </p:extLst>
  </p:cSld>
  <p:clrMapOvr>
    <a:masterClrMapping/>
  </p:clrMapOvr>
  <mc:AlternateContent xmlns:mc="http://schemas.openxmlformats.org/markup-compatibility/2006">
    <mc:Choice xmlns:p14="http://schemas.microsoft.com/office/powerpoint/2010/main" Requires="p14">
      <p:transition spd="slow" p14:dur="2000" advClick="0" advTm="65556"/>
    </mc:Choice>
    <mc:Fallback>
      <p:transition spd="slow" advClick="0" advTm="655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4"/>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336A0291-059C-4A9F-A334-49D54BE33E99}"/>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Verification results</a:t>
            </a:r>
          </a:p>
        </p:txBody>
      </p:sp>
      <p:sp>
        <p:nvSpPr>
          <p:cNvPr id="2" name="slide-subtitle">
            <a:extLst>
              <a:ext uri="{FF2B5EF4-FFF2-40B4-BE49-F238E27FC236}">
                <a16:creationId xmlns:a16="http://schemas.microsoft.com/office/drawing/2014/main" id="{12FAE8B2-2EBE-4D8E-93E7-DCCAB1538E1A}"/>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Local baseline and cloud deployment checks</a:t>
            </a:r>
          </a:p>
        </p:txBody>
      </p:sp>
      <p:sp>
        <p:nvSpPr>
          <p:cNvPr id="3" name="page-number">
            <a:extLst>
              <a:ext uri="{FF2B5EF4-FFF2-40B4-BE49-F238E27FC236}">
                <a16:creationId xmlns:a16="http://schemas.microsoft.com/office/drawing/2014/main" id="{93494491-FD74-40AD-A607-B3FB9A0E5AA5}"/>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17 / 20</a:t>
            </a:r>
          </a:p>
        </p:txBody>
      </p:sp>
      <p:sp>
        <p:nvSpPr>
          <p:cNvPr id="4" name="text-3">
            <a:extLst>
              <a:ext uri="{FF2B5EF4-FFF2-40B4-BE49-F238E27FC236}">
                <a16:creationId xmlns:a16="http://schemas.microsoft.com/office/drawing/2014/main" id="{D42084DF-B701-4F11-87EB-BD2A94BA6092}"/>
              </a:ext>
            </a:extLst>
          </p:cNvPr>
          <p:cNvSpPr>
            <a:spLocks noGrp="1"/>
          </p:cNvSpPr>
          <p:nvPr/>
        </p:nvSpPr>
        <p:spPr>
          <a:xfrm>
            <a:off x="704850" y="1981200"/>
            <a:ext cx="5715000" cy="1447800"/>
          </a:xfrm>
          <a:prstGeom prst="rect">
            <a:avLst/>
          </a:prstGeom>
          <a:noFill/>
          <a:ln w="0">
            <a:noFill/>
          </a:ln>
        </p:spPr>
        <p:txBody>
          <a:bodyPr lIns="0" tIns="0" rIns="0" bIns="0" anchor="t">
            <a:noAutofit/>
          </a:bodyPr>
          <a:lstStyle/>
          <a:p>
            <a:pPr algn="l">
              <a:defRPr sz="9300" b="1">
                <a:solidFill>
                  <a:srgbClr val="087F82"/>
                </a:solidFill>
                <a:latin typeface="Microsoft YaHei"/>
                <a:ea typeface="Microsoft YaHei"/>
                <a:cs typeface="Microsoft YaHei"/>
              </a:defRPr>
            </a:pPr>
            <a:r>
              <a:rPr sz="9300" b="1">
                <a:solidFill>
                  <a:srgbClr val="087F82"/>
                </a:solidFill>
                <a:latin typeface="Microsoft YaHei"/>
                <a:ea typeface="Microsoft YaHei"/>
                <a:cs typeface="Microsoft YaHei"/>
              </a:rPr>
              <a:t>116</a:t>
            </a:r>
          </a:p>
        </p:txBody>
      </p:sp>
      <p:sp>
        <p:nvSpPr>
          <p:cNvPr id="5" name="text-4">
            <a:extLst>
              <a:ext uri="{FF2B5EF4-FFF2-40B4-BE49-F238E27FC236}">
                <a16:creationId xmlns:a16="http://schemas.microsoft.com/office/drawing/2014/main" id="{2F8D9231-2D32-40FB-8A68-A80C556C1232}"/>
              </a:ext>
            </a:extLst>
          </p:cNvPr>
          <p:cNvSpPr>
            <a:spLocks noGrp="1"/>
          </p:cNvSpPr>
          <p:nvPr/>
        </p:nvSpPr>
        <p:spPr>
          <a:xfrm>
            <a:off x="828675" y="3590925"/>
            <a:ext cx="5619750" cy="857250"/>
          </a:xfrm>
          <a:prstGeom prst="rect">
            <a:avLst/>
          </a:prstGeom>
          <a:noFill/>
          <a:ln w="0">
            <a:noFill/>
          </a:ln>
        </p:spPr>
        <p:txBody>
          <a:bodyPr lIns="0" tIns="0" rIns="0" bIns="0" anchor="t">
            <a:noAutofit/>
          </a:bodyPr>
          <a:lstStyle/>
          <a:p>
            <a:pPr algn="l">
              <a:defRPr sz="2550" b="1">
                <a:solidFill>
                  <a:srgbClr val="183239"/>
                </a:solidFill>
                <a:latin typeface="Microsoft YaHei"/>
                <a:ea typeface="Microsoft YaHei"/>
                <a:cs typeface="Microsoft YaHei"/>
              </a:defRPr>
            </a:pPr>
            <a:r>
              <a:rPr sz="2550" b="1">
                <a:solidFill>
                  <a:srgbClr val="183239"/>
                </a:solidFill>
                <a:latin typeface="Microsoft YaHei"/>
                <a:ea typeface="Microsoft YaHei"/>
                <a:cs typeface="Microsoft YaHei"/>
              </a:rPr>
              <a:t>Local baseline tests passed</a:t>
            </a:r>
          </a:p>
        </p:txBody>
      </p:sp>
      <p:sp>
        <p:nvSpPr>
          <p:cNvPr id="6" name="text-5">
            <a:extLst>
              <a:ext uri="{FF2B5EF4-FFF2-40B4-BE49-F238E27FC236}">
                <a16:creationId xmlns:a16="http://schemas.microsoft.com/office/drawing/2014/main" id="{956ACB5B-7947-4B55-A681-AD189AA07479}"/>
              </a:ext>
            </a:extLst>
          </p:cNvPr>
          <p:cNvSpPr>
            <a:spLocks noGrp="1"/>
          </p:cNvSpPr>
          <p:nvPr/>
        </p:nvSpPr>
        <p:spPr>
          <a:xfrm>
            <a:off x="838200" y="4810125"/>
            <a:ext cx="5391150" cy="485775"/>
          </a:xfrm>
          <a:prstGeom prst="rect">
            <a:avLst/>
          </a:prstGeom>
          <a:noFill/>
          <a:ln w="0">
            <a:noFill/>
          </a:ln>
        </p:spPr>
        <p:txBody>
          <a:bodyPr lIns="0" tIns="0" rIns="0" bIns="0" anchor="t">
            <a:noAutofit/>
          </a:bodyPr>
          <a:lstStyle/>
          <a:p>
            <a:pPr algn="l">
              <a:defRPr sz="2250" b="1">
                <a:solidFill>
                  <a:srgbClr val="183239"/>
                </a:solidFill>
                <a:latin typeface="Microsoft YaHei"/>
                <a:ea typeface="Microsoft YaHei"/>
                <a:cs typeface="Microsoft YaHei"/>
              </a:defRPr>
            </a:pPr>
            <a:r>
              <a:rPr sz="2250" b="1">
                <a:solidFill>
                  <a:srgbClr val="183239"/>
                </a:solidFill>
                <a:latin typeface="Microsoft YaHei"/>
                <a:ea typeface="Microsoft YaHei"/>
                <a:cs typeface="Microsoft YaHei"/>
              </a:rPr>
              <a:t>0 failures</a:t>
            </a:r>
          </a:p>
        </p:txBody>
      </p:sp>
      <p:sp>
        <p:nvSpPr>
          <p:cNvPr id="7" name="text-6">
            <a:extLst>
              <a:ext uri="{FF2B5EF4-FFF2-40B4-BE49-F238E27FC236}">
                <a16:creationId xmlns:a16="http://schemas.microsoft.com/office/drawing/2014/main" id="{9A4FA747-63A9-45BE-8588-9278610C80A6}"/>
              </a:ext>
            </a:extLst>
          </p:cNvPr>
          <p:cNvSpPr>
            <a:spLocks noGrp="1"/>
          </p:cNvSpPr>
          <p:nvPr/>
        </p:nvSpPr>
        <p:spPr>
          <a:xfrm>
            <a:off x="838200" y="5505450"/>
            <a:ext cx="5619750" cy="876300"/>
          </a:xfrm>
          <a:prstGeom prst="rect">
            <a:avLst/>
          </a:prstGeom>
          <a:noFill/>
          <a:ln w="0">
            <a:noFill/>
          </a:ln>
        </p:spPr>
        <p:txBody>
          <a:bodyPr lIns="0" tIns="0" rIns="0" bIns="0" anchor="t">
            <a:noAutofit/>
          </a:bodyPr>
          <a:lstStyle/>
          <a:p>
            <a:pPr algn="l">
              <a:defRPr sz="2025" b="0">
                <a:solidFill>
                  <a:srgbClr val="526970"/>
                </a:solidFill>
                <a:latin typeface="Microsoft YaHei"/>
                <a:ea typeface="Microsoft YaHei"/>
                <a:cs typeface="Microsoft YaHei"/>
              </a:defRPr>
            </a:pPr>
            <a:r>
              <a:rPr sz="2025" b="0">
                <a:solidFill>
                  <a:srgbClr val="526970"/>
                </a:solidFill>
                <a:latin typeface="Microsoft YaHei"/>
                <a:ea typeface="Microsoft YaHei"/>
                <a:cs typeface="Microsoft YaHei"/>
              </a:rPr>
              <a:t>71 source files passed syntax checks</a:t>
            </a:r>
          </a:p>
        </p:txBody>
      </p:sp>
      <p:sp>
        <p:nvSpPr>
          <p:cNvPr id="8" name="text-7">
            <a:extLst>
              <a:ext uri="{FF2B5EF4-FFF2-40B4-BE49-F238E27FC236}">
                <a16:creationId xmlns:a16="http://schemas.microsoft.com/office/drawing/2014/main" id="{DDD73FD7-C194-4F99-B60F-335F1AB4BD43}"/>
              </a:ext>
            </a:extLst>
          </p:cNvPr>
          <p:cNvSpPr>
            <a:spLocks noGrp="1"/>
          </p:cNvSpPr>
          <p:nvPr/>
        </p:nvSpPr>
        <p:spPr>
          <a:xfrm>
            <a:off x="6896100" y="2114550"/>
            <a:ext cx="4572000" cy="438150"/>
          </a:xfrm>
          <a:prstGeom prst="rect">
            <a:avLst/>
          </a:prstGeom>
          <a:noFill/>
          <a:ln w="0">
            <a:noFill/>
          </a:ln>
        </p:spPr>
        <p:txBody>
          <a:bodyPr lIns="0" tIns="0" rIns="0" bIns="0" anchor="t">
            <a:noAutofit/>
          </a:bodyPr>
          <a:lstStyle/>
          <a:p>
            <a:pPr algn="l">
              <a:defRPr sz="2175" b="1">
                <a:solidFill>
                  <a:srgbClr val="183239"/>
                </a:solidFill>
                <a:latin typeface="Microsoft YaHei"/>
                <a:ea typeface="Microsoft YaHei"/>
                <a:cs typeface="Microsoft YaHei"/>
              </a:defRPr>
            </a:pPr>
            <a:r>
              <a:rPr sz="2175" b="1">
                <a:solidFill>
                  <a:srgbClr val="183239"/>
                </a:solidFill>
                <a:latin typeface="Microsoft YaHei"/>
                <a:ea typeface="Microsoft YaHei"/>
                <a:cs typeface="Microsoft YaHei"/>
              </a:rPr>
              <a:t>131 automated tests</a:t>
            </a:r>
          </a:p>
        </p:txBody>
      </p:sp>
      <p:sp>
        <p:nvSpPr>
          <p:cNvPr id="9" name="text-8">
            <a:extLst>
              <a:ext uri="{FF2B5EF4-FFF2-40B4-BE49-F238E27FC236}">
                <a16:creationId xmlns:a16="http://schemas.microsoft.com/office/drawing/2014/main" id="{4E2D90AD-A6CF-4F09-B516-B7C325662E9F}"/>
              </a:ext>
            </a:extLst>
          </p:cNvPr>
          <p:cNvSpPr>
            <a:spLocks noGrp="1"/>
          </p:cNvSpPr>
          <p:nvPr/>
        </p:nvSpPr>
        <p:spPr>
          <a:xfrm>
            <a:off x="6896100" y="2628900"/>
            <a:ext cx="4572000" cy="742950"/>
          </a:xfrm>
          <a:prstGeom prst="rect">
            <a:avLst/>
          </a:prstGeom>
          <a:noFill/>
          <a:ln w="0">
            <a:noFill/>
          </a:ln>
        </p:spPr>
        <p:txBody>
          <a:bodyPr lIns="0" tIns="0" rIns="0" bIns="0" anchor="t">
            <a:noAutofit/>
          </a:bodyPr>
          <a:lstStyle/>
          <a:p>
            <a:pPr algn="l">
              <a:defRPr sz="1800" b="0">
                <a:solidFill>
                  <a:srgbClr val="526970"/>
                </a:solidFill>
                <a:latin typeface="Microsoft YaHei"/>
                <a:ea typeface="Microsoft YaHei"/>
                <a:cs typeface="Microsoft YaHei"/>
              </a:defRPr>
            </a:pPr>
            <a:r>
              <a:rPr sz="1800" b="0">
                <a:solidFill>
                  <a:srgbClr val="526970"/>
                </a:solidFill>
                <a:latin typeface="Microsoft YaHei"/>
                <a:ea typeface="Microsoft YaHei"/>
                <a:cs typeface="Microsoft YaHei"/>
              </a:rPr>
              <a:t>Deployment edition passed its test suite</a:t>
            </a:r>
          </a:p>
        </p:txBody>
      </p:sp>
      <p:sp>
        <p:nvSpPr>
          <p:cNvPr id="10" name="text-9">
            <a:extLst>
              <a:ext uri="{FF2B5EF4-FFF2-40B4-BE49-F238E27FC236}">
                <a16:creationId xmlns:a16="http://schemas.microsoft.com/office/drawing/2014/main" id="{960F5786-DDAD-419B-83A8-EEA5D097401A}"/>
              </a:ext>
            </a:extLst>
          </p:cNvPr>
          <p:cNvSpPr>
            <a:spLocks noGrp="1"/>
          </p:cNvSpPr>
          <p:nvPr/>
        </p:nvSpPr>
        <p:spPr>
          <a:xfrm>
            <a:off x="6896100" y="3467100"/>
            <a:ext cx="4572000" cy="438150"/>
          </a:xfrm>
          <a:prstGeom prst="rect">
            <a:avLst/>
          </a:prstGeom>
          <a:noFill/>
          <a:ln w="0">
            <a:noFill/>
          </a:ln>
        </p:spPr>
        <p:txBody>
          <a:bodyPr lIns="0" tIns="0" rIns="0" bIns="0" anchor="t">
            <a:noAutofit/>
          </a:bodyPr>
          <a:lstStyle/>
          <a:p>
            <a:pPr algn="l">
              <a:defRPr sz="2175" b="1">
                <a:solidFill>
                  <a:srgbClr val="183239"/>
                </a:solidFill>
                <a:latin typeface="Microsoft YaHei"/>
                <a:ea typeface="Microsoft YaHei"/>
                <a:cs typeface="Microsoft YaHei"/>
              </a:defRPr>
            </a:pPr>
            <a:r>
              <a:rPr sz="2175" b="1">
                <a:solidFill>
                  <a:srgbClr val="183239"/>
                </a:solidFill>
                <a:latin typeface="Microsoft YaHei"/>
                <a:ea typeface="Microsoft YaHei"/>
                <a:cs typeface="Microsoft YaHei"/>
              </a:rPr>
              <a:t>24 live HTTP checks</a:t>
            </a:r>
          </a:p>
        </p:txBody>
      </p:sp>
      <p:sp>
        <p:nvSpPr>
          <p:cNvPr id="11" name="text-10">
            <a:extLst>
              <a:ext uri="{FF2B5EF4-FFF2-40B4-BE49-F238E27FC236}">
                <a16:creationId xmlns:a16="http://schemas.microsoft.com/office/drawing/2014/main" id="{70018254-E05F-4794-B281-E27BB21B2CBF}"/>
              </a:ext>
            </a:extLst>
          </p:cNvPr>
          <p:cNvSpPr>
            <a:spLocks noGrp="1"/>
          </p:cNvSpPr>
          <p:nvPr/>
        </p:nvSpPr>
        <p:spPr>
          <a:xfrm>
            <a:off x="6896100" y="3981450"/>
            <a:ext cx="4572000" cy="742950"/>
          </a:xfrm>
          <a:prstGeom prst="rect">
            <a:avLst/>
          </a:prstGeom>
          <a:noFill/>
          <a:ln w="0">
            <a:noFill/>
          </a:ln>
        </p:spPr>
        <p:txBody>
          <a:bodyPr lIns="0" tIns="0" rIns="0" bIns="0" anchor="t">
            <a:noAutofit/>
          </a:bodyPr>
          <a:lstStyle/>
          <a:p>
            <a:pPr algn="l">
              <a:defRPr sz="1800" b="0">
                <a:solidFill>
                  <a:srgbClr val="526970"/>
                </a:solidFill>
                <a:latin typeface="Microsoft YaHei"/>
                <a:ea typeface="Microsoft YaHei"/>
                <a:cs typeface="Microsoft YaHei"/>
              </a:defRPr>
            </a:pPr>
            <a:r>
              <a:rPr sz="1800" b="0">
                <a:solidFill>
                  <a:srgbClr val="526970"/>
                </a:solidFill>
                <a:latin typeface="Microsoft YaHei"/>
                <a:ea typeface="Microsoft YaHei"/>
                <a:cs typeface="Microsoft YaHei"/>
              </a:rPr>
              <a:t>Cloud behaviour and persistence verified</a:t>
            </a:r>
          </a:p>
        </p:txBody>
      </p:sp>
      <p:sp>
        <p:nvSpPr>
          <p:cNvPr id="12" name="text-11">
            <a:extLst>
              <a:ext uri="{FF2B5EF4-FFF2-40B4-BE49-F238E27FC236}">
                <a16:creationId xmlns:a16="http://schemas.microsoft.com/office/drawing/2014/main" id="{E86383A7-1DEF-4761-8803-C174C3D4CC0C}"/>
              </a:ext>
            </a:extLst>
          </p:cNvPr>
          <p:cNvSpPr>
            <a:spLocks noGrp="1"/>
          </p:cNvSpPr>
          <p:nvPr/>
        </p:nvSpPr>
        <p:spPr>
          <a:xfrm>
            <a:off x="6896100" y="4819650"/>
            <a:ext cx="4572000" cy="438150"/>
          </a:xfrm>
          <a:prstGeom prst="rect">
            <a:avLst/>
          </a:prstGeom>
          <a:noFill/>
          <a:ln w="0">
            <a:noFill/>
          </a:ln>
        </p:spPr>
        <p:txBody>
          <a:bodyPr lIns="0" tIns="0" rIns="0" bIns="0" anchor="t">
            <a:noAutofit/>
          </a:bodyPr>
          <a:lstStyle/>
          <a:p>
            <a:pPr algn="l">
              <a:defRPr sz="2175" b="1">
                <a:solidFill>
                  <a:srgbClr val="183239"/>
                </a:solidFill>
                <a:latin typeface="Microsoft YaHei"/>
                <a:ea typeface="Microsoft YaHei"/>
                <a:cs typeface="Microsoft YaHei"/>
              </a:defRPr>
            </a:pPr>
            <a:r>
              <a:rPr sz="2175" b="1">
                <a:solidFill>
                  <a:srgbClr val="183239"/>
                </a:solidFill>
                <a:latin typeface="Microsoft YaHei"/>
                <a:ea typeface="Microsoft YaHei"/>
                <a:cs typeface="Microsoft YaHei"/>
              </a:rPr>
              <a:t>Review coverage</a:t>
            </a:r>
          </a:p>
        </p:txBody>
      </p:sp>
      <p:sp>
        <p:nvSpPr>
          <p:cNvPr id="13" name="text-12">
            <a:extLst>
              <a:ext uri="{FF2B5EF4-FFF2-40B4-BE49-F238E27FC236}">
                <a16:creationId xmlns:a16="http://schemas.microsoft.com/office/drawing/2014/main" id="{36E22E25-457F-4110-B6E0-10AA3126B50A}"/>
              </a:ext>
            </a:extLst>
          </p:cNvPr>
          <p:cNvSpPr>
            <a:spLocks noGrp="1"/>
          </p:cNvSpPr>
          <p:nvPr/>
        </p:nvSpPr>
        <p:spPr>
          <a:xfrm>
            <a:off x="6896100" y="5334000"/>
            <a:ext cx="4572000" cy="742950"/>
          </a:xfrm>
          <a:prstGeom prst="rect">
            <a:avLst/>
          </a:prstGeom>
          <a:noFill/>
          <a:ln w="0">
            <a:noFill/>
          </a:ln>
        </p:spPr>
        <p:txBody>
          <a:bodyPr lIns="0" tIns="0" rIns="0" bIns="0" anchor="t">
            <a:noAutofit/>
          </a:bodyPr>
          <a:lstStyle/>
          <a:p>
            <a:pPr algn="l">
              <a:defRPr sz="1800" b="0">
                <a:solidFill>
                  <a:srgbClr val="526970"/>
                </a:solidFill>
                <a:latin typeface="Microsoft YaHei"/>
                <a:ea typeface="Microsoft YaHei"/>
                <a:cs typeface="Microsoft YaHei"/>
              </a:defRPr>
            </a:pPr>
            <a:r>
              <a:rPr sz="1800" b="0">
                <a:solidFill>
                  <a:srgbClr val="526970"/>
                </a:solidFill>
                <a:latin typeface="Microsoft YaHei"/>
                <a:ea typeface="Microsoft YaHei"/>
                <a:cs typeface="Microsoft YaHei"/>
              </a:rPr>
              <a:t>Money, access, workflow and evidence</a:t>
            </a:r>
          </a:p>
        </p:txBody>
      </p:sp>
      <p:sp>
        <p:nvSpPr>
          <p:cNvPr id="14" name="text-13">
            <a:extLst>
              <a:ext uri="{FF2B5EF4-FFF2-40B4-BE49-F238E27FC236}">
                <a16:creationId xmlns:a16="http://schemas.microsoft.com/office/drawing/2014/main" id="{04CF7076-D541-46A7-B9E2-9B90349BAA7C}"/>
              </a:ext>
            </a:extLst>
          </p:cNvPr>
          <p:cNvSpPr>
            <a:spLocks noGrp="1"/>
          </p:cNvSpPr>
          <p:nvPr/>
        </p:nvSpPr>
        <p:spPr>
          <a:xfrm>
            <a:off x="7162800" y="6200775"/>
            <a:ext cx="4000500" cy="257175"/>
          </a:xfrm>
          <a:prstGeom prst="rect">
            <a:avLst/>
          </a:prstGeom>
          <a:noFill/>
          <a:ln w="0">
            <a:noFill/>
          </a:ln>
        </p:spPr>
        <p:txBody>
          <a:bodyPr lIns="0" tIns="0" rIns="0" bIns="0" anchor="t">
            <a:noAutofit/>
          </a:bodyPr>
          <a:lstStyle/>
          <a:p>
            <a:pPr algn="l">
              <a:defRPr sz="1350" b="0">
                <a:solidFill>
                  <a:srgbClr val="526970"/>
                </a:solidFill>
                <a:latin typeface="Microsoft YaHei"/>
                <a:ea typeface="Microsoft YaHei"/>
                <a:cs typeface="Microsoft YaHei"/>
              </a:defRPr>
            </a:pPr>
            <a:r>
              <a:rPr sz="1350" b="0">
                <a:solidFill>
                  <a:srgbClr val="526970"/>
                </a:solidFill>
                <a:latin typeface="Microsoft YaHei"/>
                <a:ea typeface="Microsoft YaHei"/>
                <a:cs typeface="Microsoft YaHei"/>
              </a:rPr>
              <a:t>Checked 27 September 2026</a:t>
            </a:r>
          </a:p>
        </p:txBody>
      </p:sp>
      <p:pic>
        <p:nvPicPr>
          <p:cNvPr id="16" name="Narration_Slide_17" descr="English narration for slide 17">
            <a:hlinkClick action="ppaction://media"/>
            <a:extLst>
              <a:ext uri="{FF2B5EF4-FFF2-40B4-BE49-F238E27FC236}">
                <a16:creationId xmlns:a16="http://schemas.microsoft.com/office/drawing/2014/main" id="{8595B414-B58C-7170-4D5C-E906C73DEDE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 y="76200"/>
            <a:ext cx="101600" cy="101600"/>
          </a:xfrm>
          <a:prstGeom prst="rect">
            <a:avLst/>
          </a:prstGeom>
        </p:spPr>
      </p:pic>
    </p:spTree>
    <p:extLst>
      <p:ext uri="{BB962C8B-B14F-4D97-AF65-F5344CB8AC3E}">
        <p14:creationId xmlns:p14="http://schemas.microsoft.com/office/powerpoint/2010/main" val="670017182"/>
      </p:ext>
    </p:extLst>
  </p:cSld>
  <p:clrMapOvr>
    <a:masterClrMapping/>
  </p:clrMapOvr>
  <mc:AlternateContent xmlns:mc="http://schemas.openxmlformats.org/markup-compatibility/2006">
    <mc:Choice xmlns:p14="http://schemas.microsoft.com/office/powerpoint/2010/main" Requires="p14">
      <p:transition spd="slow" p14:dur="2000" advClick="0" advTm="63660"/>
    </mc:Choice>
    <mc:Fallback>
      <p:transition spd="slow" advClick="0" advTm="63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16"/>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D9308DD1-1B66-4127-998E-40D547566A18}"/>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Current boundaries</a:t>
            </a:r>
          </a:p>
        </p:txBody>
      </p:sp>
      <p:sp>
        <p:nvSpPr>
          <p:cNvPr id="2" name="slide-subtitle">
            <a:extLst>
              <a:ext uri="{FF2B5EF4-FFF2-40B4-BE49-F238E27FC236}">
                <a16:creationId xmlns:a16="http://schemas.microsoft.com/office/drawing/2014/main" id="{70CB27D7-FBD7-4120-A1D4-9ED90170FBB0}"/>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Implemented behaviour and work still required</a:t>
            </a:r>
          </a:p>
        </p:txBody>
      </p:sp>
      <p:sp>
        <p:nvSpPr>
          <p:cNvPr id="3" name="page-number">
            <a:extLst>
              <a:ext uri="{FF2B5EF4-FFF2-40B4-BE49-F238E27FC236}">
                <a16:creationId xmlns:a16="http://schemas.microsoft.com/office/drawing/2014/main" id="{F8E31CCA-D13C-4F64-BB52-1B8215D8B76E}"/>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18 / 20</a:t>
            </a:r>
          </a:p>
        </p:txBody>
      </p:sp>
      <p:graphicFrame>
        <p:nvGraphicFramePr>
          <p:cNvPr id="8" name="Table 7"/>
          <p:cNvGraphicFramePr/>
          <p:nvPr/>
        </p:nvGraphicFramePr>
        <p:xfrm>
          <a:off x="609600" y="1695450"/>
          <a:ext cx="10972800" cy="4514850"/>
        </p:xfrm>
        <a:graphic>
          <a:graphicData uri="http://schemas.openxmlformats.org/drawingml/2006/table">
            <a:tbl>
              <a:tblPr/>
              <a:tblGrid>
                <a:gridCol w="226695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514850">
                  <a:extLst>
                    <a:ext uri="{9D8B030D-6E8A-4147-A177-3AD203B41FA5}">
                      <a16:colId xmlns:a16="http://schemas.microsoft.com/office/drawing/2014/main" val="20002"/>
                    </a:ext>
                  </a:extLst>
                </a:gridCol>
              </a:tblGrid>
              <a:tr h="752475">
                <a:tc>
                  <a:txBody>
                    <a:bodyPr/>
                    <a:lstStyle/>
                    <a:p>
                      <a:pPr algn="l"/>
                      <a:r>
                        <a:rPr sz="1800" b="1">
                          <a:solidFill>
                            <a:srgbClr val="FFFFFF"/>
                          </a:solidFill>
                          <a:latin typeface="Microsoft YaHei"/>
                          <a:ea typeface="Microsoft YaHei"/>
                          <a:cs typeface="Microsoft YaHei"/>
                        </a:rPr>
                        <a:t>Area</a:t>
                      </a:r>
                    </a:p>
                  </a:txBody>
                  <a:tcPr marL="152400" marR="152400" marT="85725" marB="85725" anchor="ctr">
                    <a:solidFill>
                      <a:srgbClr val="15363C"/>
                    </a:solidFill>
                  </a:tcPr>
                </a:tc>
                <a:tc>
                  <a:txBody>
                    <a:bodyPr/>
                    <a:lstStyle/>
                    <a:p>
                      <a:pPr algn="l"/>
                      <a:r>
                        <a:rPr sz="1800" b="1">
                          <a:solidFill>
                            <a:srgbClr val="FFFFFF"/>
                          </a:solidFill>
                          <a:latin typeface="Microsoft YaHei"/>
                          <a:ea typeface="Microsoft YaHei"/>
                          <a:cs typeface="Microsoft YaHei"/>
                        </a:rPr>
                        <a:t>Current state</a:t>
                      </a:r>
                    </a:p>
                  </a:txBody>
                  <a:tcPr marL="152400" marR="152400" marT="85725" marB="85725" anchor="ctr">
                    <a:solidFill>
                      <a:srgbClr val="15363C"/>
                    </a:solidFill>
                  </a:tcPr>
                </a:tc>
                <a:tc>
                  <a:txBody>
                    <a:bodyPr/>
                    <a:lstStyle/>
                    <a:p>
                      <a:pPr algn="l"/>
                      <a:r>
                        <a:rPr sz="1800" b="1">
                          <a:solidFill>
                            <a:srgbClr val="FFFFFF"/>
                          </a:solidFill>
                          <a:latin typeface="Microsoft YaHei"/>
                          <a:ea typeface="Microsoft YaHei"/>
                          <a:cs typeface="Microsoft YaHei"/>
                        </a:rPr>
                        <a:t>Still required</a:t>
                      </a:r>
                    </a:p>
                  </a:txBody>
                  <a:tcPr marL="152400" marR="152400" marT="85725" marB="85725" anchor="ctr">
                    <a:solidFill>
                      <a:srgbClr val="15363C"/>
                    </a:solidFill>
                  </a:tcPr>
                </a:tc>
                <a:extLst>
                  <a:ext uri="{0D108BD9-81ED-4DB2-BD59-A6C34878D82A}">
                    <a16:rowId xmlns:a16="http://schemas.microsoft.com/office/drawing/2014/main" val="10000"/>
                  </a:ext>
                </a:extLst>
              </a:tr>
              <a:tr h="752475">
                <a:tc>
                  <a:txBody>
                    <a:bodyPr/>
                    <a:lstStyle/>
                    <a:p>
                      <a:pPr algn="l"/>
                      <a:r>
                        <a:rPr sz="1800" b="0">
                          <a:solidFill>
                            <a:srgbClr val="183239"/>
                          </a:solidFill>
                          <a:latin typeface="Microsoft YaHei"/>
                          <a:ea typeface="Microsoft YaHei"/>
                          <a:cs typeface="Microsoft YaHei"/>
                        </a:rPr>
                        <a:t>Checks</a:t>
                      </a:r>
                    </a:p>
                  </a:txBody>
                  <a:tcPr marL="152400" marR="152400" marT="85725" marB="85725" anchor="ctr">
                    <a:solidFill>
                      <a:srgbClr val="FFFFFF"/>
                    </a:solidFill>
                  </a:tcPr>
                </a:tc>
                <a:tc>
                  <a:txBody>
                    <a:bodyPr/>
                    <a:lstStyle/>
                    <a:p>
                      <a:pPr algn="l"/>
                      <a:r>
                        <a:rPr sz="1800" b="0">
                          <a:solidFill>
                            <a:srgbClr val="183239"/>
                          </a:solidFill>
                          <a:latin typeface="Microsoft YaHei"/>
                          <a:ea typeface="Microsoft YaHei"/>
                          <a:cs typeface="Microsoft YaHei"/>
                        </a:rPr>
                        <a:t>14 demonstration rules</a:t>
                      </a:r>
                    </a:p>
                  </a:txBody>
                  <a:tcPr marL="152400" marR="152400" marT="85725" marB="85725" anchor="ctr">
                    <a:solidFill>
                      <a:srgbClr val="FFFFFF"/>
                    </a:solidFill>
                  </a:tcPr>
                </a:tc>
                <a:tc>
                  <a:txBody>
                    <a:bodyPr/>
                    <a:lstStyle/>
                    <a:p>
                      <a:pPr algn="l"/>
                      <a:r>
                        <a:rPr sz="1800" b="0">
                          <a:solidFill>
                            <a:srgbClr val="183239"/>
                          </a:solidFill>
                          <a:latin typeface="Microsoft YaHei"/>
                          <a:ea typeface="Microsoft YaHei"/>
                          <a:cs typeface="Microsoft YaHei"/>
                        </a:rPr>
                        <a:t>Professional rule validation</a:t>
                      </a:r>
                    </a:p>
                  </a:txBody>
                  <a:tcPr marL="152400" marR="152400" marT="85725" marB="85725" anchor="ctr">
                    <a:solidFill>
                      <a:srgbClr val="FFFFFF"/>
                    </a:solidFill>
                  </a:tcPr>
                </a:tc>
                <a:extLst>
                  <a:ext uri="{0D108BD9-81ED-4DB2-BD59-A6C34878D82A}">
                    <a16:rowId xmlns:a16="http://schemas.microsoft.com/office/drawing/2014/main" val="10001"/>
                  </a:ext>
                </a:extLst>
              </a:tr>
              <a:tr h="752475">
                <a:tc>
                  <a:txBody>
                    <a:bodyPr/>
                    <a:lstStyle/>
                    <a:p>
                      <a:pPr algn="l"/>
                      <a:r>
                        <a:rPr sz="1800" b="0">
                          <a:solidFill>
                            <a:srgbClr val="183239"/>
                          </a:solidFill>
                          <a:latin typeface="Microsoft YaHei"/>
                          <a:ea typeface="Microsoft YaHei"/>
                          <a:cs typeface="Microsoft YaHei"/>
                        </a:rPr>
                        <a:t>AI</a:t>
                      </a:r>
                    </a:p>
                  </a:txBody>
                  <a:tcPr marL="152400" marR="152400" marT="85725" marB="85725" anchor="ctr">
                    <a:solidFill>
                      <a:srgbClr val="EEF3F0"/>
                    </a:solidFill>
                  </a:tcPr>
                </a:tc>
                <a:tc>
                  <a:txBody>
                    <a:bodyPr/>
                    <a:lstStyle/>
                    <a:p>
                      <a:pPr algn="l"/>
                      <a:r>
                        <a:rPr sz="1800" b="0">
                          <a:solidFill>
                            <a:srgbClr val="183239"/>
                          </a:solidFill>
                          <a:latin typeface="Microsoft YaHei"/>
                          <a:ea typeface="Microsoft YaHei"/>
                          <a:cs typeface="Microsoft YaHei"/>
                        </a:rPr>
                        <a:t>Mock model by default</a:t>
                      </a:r>
                    </a:p>
                  </a:txBody>
                  <a:tcPr marL="152400" marR="152400" marT="85725" marB="85725" anchor="ctr">
                    <a:solidFill>
                      <a:srgbClr val="EEF3F0"/>
                    </a:solidFill>
                  </a:tcPr>
                </a:tc>
                <a:tc>
                  <a:txBody>
                    <a:bodyPr/>
                    <a:lstStyle/>
                    <a:p>
                      <a:pPr algn="l"/>
                      <a:r>
                        <a:rPr sz="1800" b="0">
                          <a:solidFill>
                            <a:srgbClr val="183239"/>
                          </a:solidFill>
                          <a:latin typeface="Microsoft YaHei"/>
                          <a:ea typeface="Microsoft YaHei"/>
                          <a:cs typeface="Microsoft YaHei"/>
                        </a:rPr>
                        <a:t>Live model evaluation</a:t>
                      </a:r>
                    </a:p>
                  </a:txBody>
                  <a:tcPr marL="152400" marR="152400" marT="85725" marB="85725" anchor="ctr">
                    <a:solidFill>
                      <a:srgbClr val="EEF3F0"/>
                    </a:solidFill>
                  </a:tcPr>
                </a:tc>
                <a:extLst>
                  <a:ext uri="{0D108BD9-81ED-4DB2-BD59-A6C34878D82A}">
                    <a16:rowId xmlns:a16="http://schemas.microsoft.com/office/drawing/2014/main" val="10002"/>
                  </a:ext>
                </a:extLst>
              </a:tr>
              <a:tr h="752475">
                <a:tc>
                  <a:txBody>
                    <a:bodyPr/>
                    <a:lstStyle/>
                    <a:p>
                      <a:pPr algn="l"/>
                      <a:r>
                        <a:rPr sz="1800" b="0">
                          <a:solidFill>
                            <a:srgbClr val="183239"/>
                          </a:solidFill>
                          <a:latin typeface="Microsoft YaHei"/>
                          <a:ea typeface="Microsoft YaHei"/>
                          <a:cs typeface="Microsoft YaHei"/>
                        </a:rPr>
                        <a:t>Meetings</a:t>
                      </a:r>
                    </a:p>
                  </a:txBody>
                  <a:tcPr marL="152400" marR="152400" marT="85725" marB="85725" anchor="ctr">
                    <a:solidFill>
                      <a:srgbClr val="FFFFFF"/>
                    </a:solidFill>
                  </a:tcPr>
                </a:tc>
                <a:tc>
                  <a:txBody>
                    <a:bodyPr/>
                    <a:lstStyle/>
                    <a:p>
                      <a:pPr algn="l"/>
                      <a:r>
                        <a:rPr sz="1800" b="0">
                          <a:solidFill>
                            <a:srgbClr val="183239"/>
                          </a:solidFill>
                          <a:latin typeface="Microsoft YaHei"/>
                          <a:ea typeface="Microsoft YaHei"/>
                          <a:cs typeface="Microsoft YaHei"/>
                        </a:rPr>
                        <a:t>Simulated workflow</a:t>
                      </a:r>
                    </a:p>
                  </a:txBody>
                  <a:tcPr marL="152400" marR="152400" marT="85725" marB="85725" anchor="ctr">
                    <a:solidFill>
                      <a:srgbClr val="FFFFFF"/>
                    </a:solidFill>
                  </a:tcPr>
                </a:tc>
                <a:tc>
                  <a:txBody>
                    <a:bodyPr/>
                    <a:lstStyle/>
                    <a:p>
                      <a:pPr algn="l"/>
                      <a:r>
                        <a:rPr sz="1800" b="0">
                          <a:solidFill>
                            <a:srgbClr val="183239"/>
                          </a:solidFill>
                          <a:latin typeface="Microsoft YaHei"/>
                          <a:ea typeface="Microsoft YaHei"/>
                          <a:cs typeface="Microsoft YaHei"/>
                        </a:rPr>
                        <a:t>Microsoft Graph integration</a:t>
                      </a:r>
                    </a:p>
                  </a:txBody>
                  <a:tcPr marL="152400" marR="152400" marT="85725" marB="85725" anchor="ctr">
                    <a:solidFill>
                      <a:srgbClr val="FFFFFF"/>
                    </a:solidFill>
                  </a:tcPr>
                </a:tc>
                <a:extLst>
                  <a:ext uri="{0D108BD9-81ED-4DB2-BD59-A6C34878D82A}">
                    <a16:rowId xmlns:a16="http://schemas.microsoft.com/office/drawing/2014/main" val="10003"/>
                  </a:ext>
                </a:extLst>
              </a:tr>
              <a:tr h="752475">
                <a:tc>
                  <a:txBody>
                    <a:bodyPr/>
                    <a:lstStyle/>
                    <a:p>
                      <a:pPr algn="l"/>
                      <a:r>
                        <a:rPr sz="1800" b="0">
                          <a:solidFill>
                            <a:srgbClr val="183239"/>
                          </a:solidFill>
                          <a:latin typeface="Microsoft YaHei"/>
                          <a:ea typeface="Microsoft YaHei"/>
                          <a:cs typeface="Microsoft YaHei"/>
                        </a:rPr>
                        <a:t>Evidence</a:t>
                      </a:r>
                    </a:p>
                  </a:txBody>
                  <a:tcPr marL="152400" marR="152400" marT="85725" marB="85725" anchor="ctr">
                    <a:solidFill>
                      <a:srgbClr val="EEF3F0"/>
                    </a:solidFill>
                  </a:tcPr>
                </a:tc>
                <a:tc>
                  <a:txBody>
                    <a:bodyPr/>
                    <a:lstStyle/>
                    <a:p>
                      <a:pPr algn="l"/>
                      <a:r>
                        <a:rPr sz="1800" b="0">
                          <a:solidFill>
                            <a:srgbClr val="183239"/>
                          </a:solidFill>
                          <a:latin typeface="Microsoft YaHei"/>
                          <a:ea typeface="Microsoft YaHei"/>
                          <a:cs typeface="Microsoft YaHei"/>
                        </a:rPr>
                        <a:t>Files, versions and hashes</a:t>
                      </a:r>
                    </a:p>
                  </a:txBody>
                  <a:tcPr marL="152400" marR="152400" marT="85725" marB="85725" anchor="ctr">
                    <a:solidFill>
                      <a:srgbClr val="EEF3F0"/>
                    </a:solidFill>
                  </a:tcPr>
                </a:tc>
                <a:tc>
                  <a:txBody>
                    <a:bodyPr/>
                    <a:lstStyle/>
                    <a:p>
                      <a:pPr algn="l"/>
                      <a:r>
                        <a:rPr sz="1800" b="0">
                          <a:solidFill>
                            <a:srgbClr val="183239"/>
                          </a:solidFill>
                          <a:latin typeface="Microsoft YaHei"/>
                          <a:ea typeface="Microsoft YaHei"/>
                          <a:cs typeface="Microsoft YaHei"/>
                        </a:rPr>
                        <a:t>Human review, optional OCR</a:t>
                      </a:r>
                    </a:p>
                  </a:txBody>
                  <a:tcPr marL="152400" marR="152400" marT="85725" marB="85725" anchor="ctr">
                    <a:solidFill>
                      <a:srgbClr val="EEF3F0"/>
                    </a:solidFill>
                  </a:tcPr>
                </a:tc>
                <a:extLst>
                  <a:ext uri="{0D108BD9-81ED-4DB2-BD59-A6C34878D82A}">
                    <a16:rowId xmlns:a16="http://schemas.microsoft.com/office/drawing/2014/main" val="10004"/>
                  </a:ext>
                </a:extLst>
              </a:tr>
              <a:tr h="752475">
                <a:tc>
                  <a:txBody>
                    <a:bodyPr/>
                    <a:lstStyle/>
                    <a:p>
                      <a:pPr algn="l"/>
                      <a:r>
                        <a:rPr sz="1800" b="0">
                          <a:solidFill>
                            <a:srgbClr val="183239"/>
                          </a:solidFill>
                          <a:latin typeface="Microsoft YaHei"/>
                          <a:ea typeface="Microsoft YaHei"/>
                          <a:cs typeface="Microsoft YaHei"/>
                        </a:rPr>
                        <a:t>Cloud operation</a:t>
                      </a:r>
                    </a:p>
                  </a:txBody>
                  <a:tcPr marL="152400" marR="152400" marT="85725" marB="85725" anchor="ctr">
                    <a:solidFill>
                      <a:srgbClr val="FFFFFF"/>
                    </a:solidFill>
                  </a:tcPr>
                </a:tc>
                <a:tc>
                  <a:txBody>
                    <a:bodyPr/>
                    <a:lstStyle/>
                    <a:p>
                      <a:pPr algn="l"/>
                      <a:r>
                        <a:rPr sz="1800" b="0">
                          <a:solidFill>
                            <a:srgbClr val="183239"/>
                          </a:solidFill>
                          <a:latin typeface="Microsoft YaHei"/>
                          <a:ea typeface="Microsoft YaHei"/>
                          <a:cs typeface="Microsoft YaHei"/>
                        </a:rPr>
                        <a:t>Vercel, PostgreSQL and Blob</a:t>
                      </a:r>
                    </a:p>
                  </a:txBody>
                  <a:tcPr marL="152400" marR="152400" marT="85725" marB="85725" anchor="ctr">
                    <a:solidFill>
                      <a:srgbClr val="FFFFFF"/>
                    </a:solidFill>
                  </a:tcPr>
                </a:tc>
                <a:tc>
                  <a:txBody>
                    <a:bodyPr/>
                    <a:lstStyle/>
                    <a:p>
                      <a:pPr algn="l"/>
                      <a:r>
                        <a:rPr sz="1800" b="0">
                          <a:solidFill>
                            <a:srgbClr val="183239"/>
                          </a:solidFill>
                          <a:latin typeface="Microsoft YaHei"/>
                          <a:ea typeface="Microsoft YaHei"/>
                          <a:cs typeface="Microsoft YaHei"/>
                        </a:rPr>
                        <a:t>SSO, recovery and security review</a:t>
                      </a:r>
                    </a:p>
                  </a:txBody>
                  <a:tcPr marL="152400" marR="152400" marT="85725" marB="85725" anchor="ctr">
                    <a:solidFill>
                      <a:srgbClr val="FFFFFF"/>
                    </a:solidFill>
                  </a:tcPr>
                </a:tc>
                <a:extLst>
                  <a:ext uri="{0D108BD9-81ED-4DB2-BD59-A6C34878D82A}">
                    <a16:rowId xmlns:a16="http://schemas.microsoft.com/office/drawing/2014/main" val="10005"/>
                  </a:ext>
                </a:extLst>
              </a:tr>
            </a:tbl>
          </a:graphicData>
        </a:graphic>
      </p:graphicFrame>
      <p:pic>
        <p:nvPicPr>
          <p:cNvPr id="4" name="Narration_Slide_18" descr="English narration for slide 18">
            <a:hlinkClick action="ppaction://media"/>
            <a:extLst>
              <a:ext uri="{FF2B5EF4-FFF2-40B4-BE49-F238E27FC236}">
                <a16:creationId xmlns:a16="http://schemas.microsoft.com/office/drawing/2014/main" id="{E47ED827-87EC-4EAD-32F4-B321FBEE9D5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 y="76200"/>
            <a:ext cx="101600" cy="101600"/>
          </a:xfrm>
          <a:prstGeom prst="rect">
            <a:avLst/>
          </a:prstGeom>
        </p:spPr>
      </p:pic>
    </p:spTree>
    <p:extLst>
      <p:ext uri="{BB962C8B-B14F-4D97-AF65-F5344CB8AC3E}">
        <p14:creationId xmlns:p14="http://schemas.microsoft.com/office/powerpoint/2010/main" val="656939498"/>
      </p:ext>
    </p:extLst>
  </p:cSld>
  <p:clrMapOvr>
    <a:masterClrMapping/>
  </p:clrMapOvr>
  <mc:AlternateContent xmlns:mc="http://schemas.openxmlformats.org/markup-compatibility/2006">
    <mc:Choice xmlns:p14="http://schemas.microsoft.com/office/powerpoint/2010/main" Requires="p14">
      <p:transition spd="slow" p14:dur="2000" advClick="0" advTm="62652"/>
    </mc:Choice>
    <mc:Fallback>
      <p:transition spd="slow" advClick="0" advTm="626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4"/>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6" name="slide-title">
            <a:extLst>
              <a:ext uri="{FF2B5EF4-FFF2-40B4-BE49-F238E27FC236}">
                <a16:creationId xmlns:a16="http://schemas.microsoft.com/office/drawing/2014/main" id="{7102ED3E-C83A-4D25-8290-EEEF2153E094}"/>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183239"/>
                </a:solidFill>
                <a:latin typeface="Microsoft YaHei"/>
                <a:ea typeface="Microsoft YaHei"/>
                <a:cs typeface="Microsoft YaHei"/>
              </a:defRPr>
            </a:pPr>
            <a:r>
              <a:rPr sz="3450" b="1">
                <a:solidFill>
                  <a:srgbClr val="183239"/>
                </a:solidFill>
                <a:latin typeface="Microsoft YaHei"/>
                <a:ea typeface="Microsoft YaHei"/>
                <a:cs typeface="Microsoft YaHei"/>
              </a:rPr>
              <a:t>The next stage</a:t>
            </a:r>
          </a:p>
        </p:txBody>
      </p:sp>
      <p:sp>
        <p:nvSpPr>
          <p:cNvPr id="2" name="slide-subtitle">
            <a:extLst>
              <a:ext uri="{FF2B5EF4-FFF2-40B4-BE49-F238E27FC236}">
                <a16:creationId xmlns:a16="http://schemas.microsoft.com/office/drawing/2014/main" id="{CE72828A-3397-4E31-8A4F-967FD60561EA}"/>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526970"/>
                </a:solidFill>
                <a:latin typeface="Microsoft YaHei"/>
                <a:ea typeface="Microsoft YaHei"/>
                <a:cs typeface="Microsoft YaHei"/>
              </a:defRPr>
            </a:pPr>
            <a:r>
              <a:rPr sz="1950" b="0">
                <a:solidFill>
                  <a:srgbClr val="526970"/>
                </a:solidFill>
                <a:latin typeface="Microsoft YaHei"/>
                <a:ea typeface="Microsoft YaHei"/>
                <a:cs typeface="Microsoft YaHei"/>
              </a:rPr>
              <a:t>Recommended work before an operational pilot</a:t>
            </a:r>
          </a:p>
        </p:txBody>
      </p:sp>
      <p:sp>
        <p:nvSpPr>
          <p:cNvPr id="3" name="page-number">
            <a:extLst>
              <a:ext uri="{FF2B5EF4-FFF2-40B4-BE49-F238E27FC236}">
                <a16:creationId xmlns:a16="http://schemas.microsoft.com/office/drawing/2014/main" id="{DAFEBFD4-CB45-4720-8DC8-6930E90D9A7C}"/>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526970"/>
                </a:solidFill>
                <a:latin typeface="Microsoft YaHei"/>
                <a:ea typeface="Microsoft YaHei"/>
                <a:cs typeface="Microsoft YaHei"/>
              </a:defRPr>
            </a:pPr>
            <a:r>
              <a:rPr sz="1200" b="0">
                <a:solidFill>
                  <a:srgbClr val="526970"/>
                </a:solidFill>
                <a:latin typeface="Microsoft YaHei"/>
                <a:ea typeface="Microsoft YaHei"/>
                <a:cs typeface="Microsoft YaHei"/>
              </a:rPr>
              <a:t>19 / 20</a:t>
            </a:r>
          </a:p>
        </p:txBody>
      </p:sp>
      <p:sp>
        <p:nvSpPr>
          <p:cNvPr id="4" name="text-3">
            <a:extLst>
              <a:ext uri="{FF2B5EF4-FFF2-40B4-BE49-F238E27FC236}">
                <a16:creationId xmlns:a16="http://schemas.microsoft.com/office/drawing/2014/main" id="{2D190677-C42C-44B7-99B4-D0352DA4B65A}"/>
              </a:ext>
            </a:extLst>
          </p:cNvPr>
          <p:cNvSpPr>
            <a:spLocks noGrp="1"/>
          </p:cNvSpPr>
          <p:nvPr/>
        </p:nvSpPr>
        <p:spPr>
          <a:xfrm>
            <a:off x="733425" y="1809750"/>
            <a:ext cx="952500" cy="695325"/>
          </a:xfrm>
          <a:prstGeom prst="rect">
            <a:avLst/>
          </a:prstGeom>
          <a:noFill/>
          <a:ln w="0">
            <a:noFill/>
          </a:ln>
        </p:spPr>
        <p:txBody>
          <a:bodyPr lIns="0" tIns="0" rIns="0" bIns="0" anchor="t">
            <a:noAutofit/>
          </a:bodyPr>
          <a:lstStyle/>
          <a:p>
            <a:pPr algn="l">
              <a:defRPr sz="3600" b="1">
                <a:solidFill>
                  <a:srgbClr val="087F82"/>
                </a:solidFill>
                <a:latin typeface="Microsoft YaHei"/>
                <a:ea typeface="Microsoft YaHei"/>
                <a:cs typeface="Microsoft YaHei"/>
              </a:defRPr>
            </a:pPr>
            <a:r>
              <a:rPr sz="3600" b="1">
                <a:solidFill>
                  <a:srgbClr val="087F82"/>
                </a:solidFill>
                <a:latin typeface="Microsoft YaHei"/>
                <a:ea typeface="Microsoft YaHei"/>
                <a:cs typeface="Microsoft YaHei"/>
              </a:rPr>
              <a:t>01</a:t>
            </a:r>
          </a:p>
        </p:txBody>
      </p:sp>
      <p:sp>
        <p:nvSpPr>
          <p:cNvPr id="5" name="text-4">
            <a:extLst>
              <a:ext uri="{FF2B5EF4-FFF2-40B4-BE49-F238E27FC236}">
                <a16:creationId xmlns:a16="http://schemas.microsoft.com/office/drawing/2014/main" id="{124202C9-0782-41D4-89F7-6AD081C6D4F2}"/>
              </a:ext>
            </a:extLst>
          </p:cNvPr>
          <p:cNvSpPr>
            <a:spLocks noGrp="1"/>
          </p:cNvSpPr>
          <p:nvPr/>
        </p:nvSpPr>
        <p:spPr>
          <a:xfrm>
            <a:off x="2000250" y="1809750"/>
            <a:ext cx="8953500" cy="419100"/>
          </a:xfrm>
          <a:prstGeom prst="rect">
            <a:avLst/>
          </a:prstGeom>
          <a:noFill/>
          <a:ln w="0">
            <a:noFill/>
          </a:ln>
        </p:spPr>
        <p:txBody>
          <a:bodyPr lIns="0" tIns="0" rIns="0" bIns="0" anchor="t">
            <a:noAutofit/>
          </a:bodyPr>
          <a:lstStyle/>
          <a:p>
            <a:pPr algn="l">
              <a:defRPr sz="2400" b="1">
                <a:solidFill>
                  <a:srgbClr val="183239"/>
                </a:solidFill>
                <a:latin typeface="Microsoft YaHei"/>
                <a:ea typeface="Microsoft YaHei"/>
                <a:cs typeface="Microsoft YaHei"/>
              </a:defRPr>
            </a:pPr>
            <a:r>
              <a:rPr sz="2400" b="1">
                <a:solidFill>
                  <a:srgbClr val="183239"/>
                </a:solidFill>
                <a:latin typeface="Microsoft YaHei"/>
                <a:ea typeface="Microsoft YaHei"/>
                <a:cs typeface="Microsoft YaHei"/>
              </a:rPr>
              <a:t>Business acceptance</a:t>
            </a:r>
          </a:p>
        </p:txBody>
      </p:sp>
      <p:sp>
        <p:nvSpPr>
          <p:cNvPr id="6" name="text-5">
            <a:extLst>
              <a:ext uri="{FF2B5EF4-FFF2-40B4-BE49-F238E27FC236}">
                <a16:creationId xmlns:a16="http://schemas.microsoft.com/office/drawing/2014/main" id="{5C5E7EDD-5377-49C7-A43A-0C05868F2ACE}"/>
              </a:ext>
            </a:extLst>
          </p:cNvPr>
          <p:cNvSpPr>
            <a:spLocks noGrp="1"/>
          </p:cNvSpPr>
          <p:nvPr/>
        </p:nvSpPr>
        <p:spPr>
          <a:xfrm>
            <a:off x="2000250" y="2305050"/>
            <a:ext cx="8953500" cy="523875"/>
          </a:xfrm>
          <a:prstGeom prst="rect">
            <a:avLst/>
          </a:prstGeom>
          <a:noFill/>
          <a:ln w="0">
            <a:noFill/>
          </a:ln>
        </p:spPr>
        <p:txBody>
          <a:bodyPr lIns="0" tIns="0" rIns="0" bIns="0" anchor="t">
            <a:noAutofit/>
          </a:bodyPr>
          <a:lstStyle/>
          <a:p>
            <a:pPr algn="l">
              <a:defRPr sz="1800" b="0">
                <a:solidFill>
                  <a:srgbClr val="526970"/>
                </a:solidFill>
                <a:latin typeface="Microsoft YaHei"/>
                <a:ea typeface="Microsoft YaHei"/>
                <a:cs typeface="Microsoft YaHei"/>
              </a:defRPr>
            </a:pPr>
            <a:r>
              <a:rPr sz="1800" b="0">
                <a:solidFill>
                  <a:srgbClr val="526970"/>
                </a:solidFill>
                <a:latin typeface="Microsoft YaHei"/>
                <a:ea typeface="Microsoft YaHei"/>
                <a:cs typeface="Microsoft YaHei"/>
              </a:rPr>
              <a:t>Review the rules and workflow with actual users</a:t>
            </a:r>
          </a:p>
        </p:txBody>
      </p:sp>
      <p:sp>
        <p:nvSpPr>
          <p:cNvPr id="7" name="text-6">
            <a:extLst>
              <a:ext uri="{FF2B5EF4-FFF2-40B4-BE49-F238E27FC236}">
                <a16:creationId xmlns:a16="http://schemas.microsoft.com/office/drawing/2014/main" id="{605AFCA6-C87C-4B42-BC4B-E757A25A5A1C}"/>
              </a:ext>
            </a:extLst>
          </p:cNvPr>
          <p:cNvSpPr>
            <a:spLocks noGrp="1"/>
          </p:cNvSpPr>
          <p:nvPr/>
        </p:nvSpPr>
        <p:spPr>
          <a:xfrm>
            <a:off x="733425" y="2867025"/>
            <a:ext cx="952500" cy="695325"/>
          </a:xfrm>
          <a:prstGeom prst="rect">
            <a:avLst/>
          </a:prstGeom>
          <a:noFill/>
          <a:ln w="0">
            <a:noFill/>
          </a:ln>
        </p:spPr>
        <p:txBody>
          <a:bodyPr lIns="0" tIns="0" rIns="0" bIns="0" anchor="t">
            <a:noAutofit/>
          </a:bodyPr>
          <a:lstStyle/>
          <a:p>
            <a:pPr algn="l">
              <a:defRPr sz="3600" b="1">
                <a:solidFill>
                  <a:srgbClr val="087F82"/>
                </a:solidFill>
                <a:latin typeface="Microsoft YaHei"/>
                <a:ea typeface="Microsoft YaHei"/>
                <a:cs typeface="Microsoft YaHei"/>
              </a:defRPr>
            </a:pPr>
            <a:r>
              <a:rPr sz="3600" b="1">
                <a:solidFill>
                  <a:srgbClr val="087F82"/>
                </a:solidFill>
                <a:latin typeface="Microsoft YaHei"/>
                <a:ea typeface="Microsoft YaHei"/>
                <a:cs typeface="Microsoft YaHei"/>
              </a:rPr>
              <a:t>02</a:t>
            </a:r>
          </a:p>
        </p:txBody>
      </p:sp>
      <p:sp>
        <p:nvSpPr>
          <p:cNvPr id="8" name="text-7">
            <a:extLst>
              <a:ext uri="{FF2B5EF4-FFF2-40B4-BE49-F238E27FC236}">
                <a16:creationId xmlns:a16="http://schemas.microsoft.com/office/drawing/2014/main" id="{9F3B0D85-B4EE-4594-AD55-D8889304A65A}"/>
              </a:ext>
            </a:extLst>
          </p:cNvPr>
          <p:cNvSpPr>
            <a:spLocks noGrp="1"/>
          </p:cNvSpPr>
          <p:nvPr/>
        </p:nvSpPr>
        <p:spPr>
          <a:xfrm>
            <a:off x="2000250" y="2867025"/>
            <a:ext cx="8953500" cy="419100"/>
          </a:xfrm>
          <a:prstGeom prst="rect">
            <a:avLst/>
          </a:prstGeom>
          <a:noFill/>
          <a:ln w="0">
            <a:noFill/>
          </a:ln>
        </p:spPr>
        <p:txBody>
          <a:bodyPr lIns="0" tIns="0" rIns="0" bIns="0" anchor="t">
            <a:noAutofit/>
          </a:bodyPr>
          <a:lstStyle/>
          <a:p>
            <a:pPr algn="l">
              <a:defRPr sz="2400" b="1">
                <a:solidFill>
                  <a:srgbClr val="183239"/>
                </a:solidFill>
                <a:latin typeface="Microsoft YaHei"/>
                <a:ea typeface="Microsoft YaHei"/>
                <a:cs typeface="Microsoft YaHei"/>
              </a:defRPr>
            </a:pPr>
            <a:r>
              <a:rPr sz="2400" b="1">
                <a:solidFill>
                  <a:srgbClr val="183239"/>
                </a:solidFill>
                <a:latin typeface="Microsoft YaHei"/>
                <a:ea typeface="Microsoft YaHei"/>
                <a:cs typeface="Microsoft YaHei"/>
              </a:rPr>
              <a:t>Operational readiness</a:t>
            </a:r>
          </a:p>
        </p:txBody>
      </p:sp>
      <p:sp>
        <p:nvSpPr>
          <p:cNvPr id="9" name="text-8">
            <a:extLst>
              <a:ext uri="{FF2B5EF4-FFF2-40B4-BE49-F238E27FC236}">
                <a16:creationId xmlns:a16="http://schemas.microsoft.com/office/drawing/2014/main" id="{2D4C99EF-A31C-40B3-89EF-45F50F0F74C0}"/>
              </a:ext>
            </a:extLst>
          </p:cNvPr>
          <p:cNvSpPr>
            <a:spLocks noGrp="1"/>
          </p:cNvSpPr>
          <p:nvPr/>
        </p:nvSpPr>
        <p:spPr>
          <a:xfrm>
            <a:off x="2000250" y="3362325"/>
            <a:ext cx="8953500" cy="523875"/>
          </a:xfrm>
          <a:prstGeom prst="rect">
            <a:avLst/>
          </a:prstGeom>
          <a:noFill/>
          <a:ln w="0">
            <a:noFill/>
          </a:ln>
        </p:spPr>
        <p:txBody>
          <a:bodyPr lIns="0" tIns="0" rIns="0" bIns="0" anchor="t">
            <a:noAutofit/>
          </a:bodyPr>
          <a:lstStyle/>
          <a:p>
            <a:pPr algn="l">
              <a:defRPr sz="1800" b="0">
                <a:solidFill>
                  <a:srgbClr val="526970"/>
                </a:solidFill>
                <a:latin typeface="Microsoft YaHei"/>
                <a:ea typeface="Microsoft YaHei"/>
                <a:cs typeface="Microsoft YaHei"/>
              </a:defRPr>
            </a:pPr>
            <a:r>
              <a:rPr sz="1800" b="0">
                <a:solidFill>
                  <a:srgbClr val="526970"/>
                </a:solidFill>
                <a:latin typeface="Microsoft YaHei"/>
                <a:ea typeface="Microsoft YaHei"/>
                <a:cs typeface="Microsoft YaHei"/>
              </a:rPr>
              <a:t>Test identity, backup and recovery</a:t>
            </a:r>
          </a:p>
        </p:txBody>
      </p:sp>
      <p:sp>
        <p:nvSpPr>
          <p:cNvPr id="10" name="text-9">
            <a:extLst>
              <a:ext uri="{FF2B5EF4-FFF2-40B4-BE49-F238E27FC236}">
                <a16:creationId xmlns:a16="http://schemas.microsoft.com/office/drawing/2014/main" id="{E8BAD4E7-2F8C-44EC-B5C7-10779892C102}"/>
              </a:ext>
            </a:extLst>
          </p:cNvPr>
          <p:cNvSpPr>
            <a:spLocks noGrp="1"/>
          </p:cNvSpPr>
          <p:nvPr/>
        </p:nvSpPr>
        <p:spPr>
          <a:xfrm>
            <a:off x="733425" y="3924300"/>
            <a:ext cx="952500" cy="695325"/>
          </a:xfrm>
          <a:prstGeom prst="rect">
            <a:avLst/>
          </a:prstGeom>
          <a:noFill/>
          <a:ln w="0">
            <a:noFill/>
          </a:ln>
        </p:spPr>
        <p:txBody>
          <a:bodyPr lIns="0" tIns="0" rIns="0" bIns="0" anchor="t">
            <a:noAutofit/>
          </a:bodyPr>
          <a:lstStyle/>
          <a:p>
            <a:pPr algn="l">
              <a:defRPr sz="3600" b="1">
                <a:solidFill>
                  <a:srgbClr val="087F82"/>
                </a:solidFill>
                <a:latin typeface="Microsoft YaHei"/>
                <a:ea typeface="Microsoft YaHei"/>
                <a:cs typeface="Microsoft YaHei"/>
              </a:defRPr>
            </a:pPr>
            <a:r>
              <a:rPr sz="3600" b="1">
                <a:solidFill>
                  <a:srgbClr val="087F82"/>
                </a:solidFill>
                <a:latin typeface="Microsoft YaHei"/>
                <a:ea typeface="Microsoft YaHei"/>
                <a:cs typeface="Microsoft YaHei"/>
              </a:rPr>
              <a:t>03</a:t>
            </a:r>
          </a:p>
        </p:txBody>
      </p:sp>
      <p:sp>
        <p:nvSpPr>
          <p:cNvPr id="11" name="text-10">
            <a:extLst>
              <a:ext uri="{FF2B5EF4-FFF2-40B4-BE49-F238E27FC236}">
                <a16:creationId xmlns:a16="http://schemas.microsoft.com/office/drawing/2014/main" id="{1C39E25B-5308-4DFE-87D1-77958D54DE52}"/>
              </a:ext>
            </a:extLst>
          </p:cNvPr>
          <p:cNvSpPr>
            <a:spLocks noGrp="1"/>
          </p:cNvSpPr>
          <p:nvPr/>
        </p:nvSpPr>
        <p:spPr>
          <a:xfrm>
            <a:off x="2000250" y="3924300"/>
            <a:ext cx="8953500" cy="419100"/>
          </a:xfrm>
          <a:prstGeom prst="rect">
            <a:avLst/>
          </a:prstGeom>
          <a:noFill/>
          <a:ln w="0">
            <a:noFill/>
          </a:ln>
        </p:spPr>
        <p:txBody>
          <a:bodyPr lIns="0" tIns="0" rIns="0" bIns="0" anchor="t">
            <a:noAutofit/>
          </a:bodyPr>
          <a:lstStyle/>
          <a:p>
            <a:pPr algn="l">
              <a:defRPr sz="2400" b="1">
                <a:solidFill>
                  <a:srgbClr val="183239"/>
                </a:solidFill>
                <a:latin typeface="Microsoft YaHei"/>
                <a:ea typeface="Microsoft YaHei"/>
                <a:cs typeface="Microsoft YaHei"/>
              </a:defRPr>
            </a:pPr>
            <a:r>
              <a:rPr sz="2400" b="1">
                <a:solidFill>
                  <a:srgbClr val="183239"/>
                </a:solidFill>
                <a:latin typeface="Microsoft YaHei"/>
                <a:ea typeface="Microsoft YaHei"/>
                <a:cs typeface="Microsoft YaHei"/>
              </a:rPr>
              <a:t>External integrations</a:t>
            </a:r>
          </a:p>
        </p:txBody>
      </p:sp>
      <p:sp>
        <p:nvSpPr>
          <p:cNvPr id="12" name="text-11">
            <a:extLst>
              <a:ext uri="{FF2B5EF4-FFF2-40B4-BE49-F238E27FC236}">
                <a16:creationId xmlns:a16="http://schemas.microsoft.com/office/drawing/2014/main" id="{95B6D555-5C5B-4D82-B253-AF8B68745A9B}"/>
              </a:ext>
            </a:extLst>
          </p:cNvPr>
          <p:cNvSpPr>
            <a:spLocks noGrp="1"/>
          </p:cNvSpPr>
          <p:nvPr/>
        </p:nvSpPr>
        <p:spPr>
          <a:xfrm>
            <a:off x="2000250" y="4419600"/>
            <a:ext cx="8953500" cy="523875"/>
          </a:xfrm>
          <a:prstGeom prst="rect">
            <a:avLst/>
          </a:prstGeom>
          <a:noFill/>
          <a:ln w="0">
            <a:noFill/>
          </a:ln>
        </p:spPr>
        <p:txBody>
          <a:bodyPr lIns="0" tIns="0" rIns="0" bIns="0" anchor="t">
            <a:noAutofit/>
          </a:bodyPr>
          <a:lstStyle/>
          <a:p>
            <a:pPr algn="l">
              <a:defRPr sz="1800" b="0">
                <a:solidFill>
                  <a:srgbClr val="526970"/>
                </a:solidFill>
                <a:latin typeface="Microsoft YaHei"/>
                <a:ea typeface="Microsoft YaHei"/>
                <a:cs typeface="Microsoft YaHei"/>
              </a:defRPr>
            </a:pPr>
            <a:r>
              <a:rPr sz="1800" b="0">
                <a:solidFill>
                  <a:srgbClr val="526970"/>
                </a:solidFill>
                <a:latin typeface="Microsoft YaHei"/>
                <a:ea typeface="Microsoft YaHei"/>
                <a:cs typeface="Microsoft YaHei"/>
              </a:rPr>
              <a:t>Connect and verify one service at a time</a:t>
            </a:r>
          </a:p>
        </p:txBody>
      </p:sp>
      <p:sp>
        <p:nvSpPr>
          <p:cNvPr id="13" name="text-12">
            <a:extLst>
              <a:ext uri="{FF2B5EF4-FFF2-40B4-BE49-F238E27FC236}">
                <a16:creationId xmlns:a16="http://schemas.microsoft.com/office/drawing/2014/main" id="{5A9EF2BB-6F8A-4694-B384-FF42BA8A69A0}"/>
              </a:ext>
            </a:extLst>
          </p:cNvPr>
          <p:cNvSpPr>
            <a:spLocks noGrp="1"/>
          </p:cNvSpPr>
          <p:nvPr/>
        </p:nvSpPr>
        <p:spPr>
          <a:xfrm>
            <a:off x="733425" y="4981575"/>
            <a:ext cx="952500" cy="695325"/>
          </a:xfrm>
          <a:prstGeom prst="rect">
            <a:avLst/>
          </a:prstGeom>
          <a:noFill/>
          <a:ln w="0">
            <a:noFill/>
          </a:ln>
        </p:spPr>
        <p:txBody>
          <a:bodyPr lIns="0" tIns="0" rIns="0" bIns="0" anchor="t">
            <a:noAutofit/>
          </a:bodyPr>
          <a:lstStyle/>
          <a:p>
            <a:pPr algn="l">
              <a:defRPr sz="3600" b="1">
                <a:solidFill>
                  <a:srgbClr val="087F82"/>
                </a:solidFill>
                <a:latin typeface="Microsoft YaHei"/>
                <a:ea typeface="Microsoft YaHei"/>
                <a:cs typeface="Microsoft YaHei"/>
              </a:defRPr>
            </a:pPr>
            <a:r>
              <a:rPr sz="3600" b="1">
                <a:solidFill>
                  <a:srgbClr val="087F82"/>
                </a:solidFill>
                <a:latin typeface="Microsoft YaHei"/>
                <a:ea typeface="Microsoft YaHei"/>
                <a:cs typeface="Microsoft YaHei"/>
              </a:rPr>
              <a:t>04</a:t>
            </a:r>
          </a:p>
        </p:txBody>
      </p:sp>
      <p:sp>
        <p:nvSpPr>
          <p:cNvPr id="14" name="text-13">
            <a:extLst>
              <a:ext uri="{FF2B5EF4-FFF2-40B4-BE49-F238E27FC236}">
                <a16:creationId xmlns:a16="http://schemas.microsoft.com/office/drawing/2014/main" id="{3ED85735-2538-43A2-AA4E-C3D752CD66DF}"/>
              </a:ext>
            </a:extLst>
          </p:cNvPr>
          <p:cNvSpPr>
            <a:spLocks noGrp="1"/>
          </p:cNvSpPr>
          <p:nvPr/>
        </p:nvSpPr>
        <p:spPr>
          <a:xfrm>
            <a:off x="2000250" y="4981575"/>
            <a:ext cx="8953500" cy="419100"/>
          </a:xfrm>
          <a:prstGeom prst="rect">
            <a:avLst/>
          </a:prstGeom>
          <a:noFill/>
          <a:ln w="0">
            <a:noFill/>
          </a:ln>
        </p:spPr>
        <p:txBody>
          <a:bodyPr lIns="0" tIns="0" rIns="0" bIns="0" anchor="t">
            <a:noAutofit/>
          </a:bodyPr>
          <a:lstStyle/>
          <a:p>
            <a:pPr algn="l">
              <a:defRPr sz="2400" b="1">
                <a:solidFill>
                  <a:srgbClr val="183239"/>
                </a:solidFill>
                <a:latin typeface="Microsoft YaHei"/>
                <a:ea typeface="Microsoft YaHei"/>
                <a:cs typeface="Microsoft YaHei"/>
              </a:defRPr>
            </a:pPr>
            <a:r>
              <a:rPr sz="2400" b="1">
                <a:solidFill>
                  <a:srgbClr val="183239"/>
                </a:solidFill>
                <a:latin typeface="Microsoft YaHei"/>
                <a:ea typeface="Microsoft YaHei"/>
                <a:cs typeface="Microsoft YaHei"/>
              </a:rPr>
              <a:t>Pilot evaluation</a:t>
            </a:r>
          </a:p>
        </p:txBody>
      </p:sp>
      <p:sp>
        <p:nvSpPr>
          <p:cNvPr id="15" name="text-14">
            <a:extLst>
              <a:ext uri="{FF2B5EF4-FFF2-40B4-BE49-F238E27FC236}">
                <a16:creationId xmlns:a16="http://schemas.microsoft.com/office/drawing/2014/main" id="{330BF629-BB6D-4778-ACAD-5C83246CDF20}"/>
              </a:ext>
            </a:extLst>
          </p:cNvPr>
          <p:cNvSpPr>
            <a:spLocks noGrp="1"/>
          </p:cNvSpPr>
          <p:nvPr/>
        </p:nvSpPr>
        <p:spPr>
          <a:xfrm>
            <a:off x="2000250" y="5476875"/>
            <a:ext cx="8953500" cy="523875"/>
          </a:xfrm>
          <a:prstGeom prst="rect">
            <a:avLst/>
          </a:prstGeom>
          <a:noFill/>
          <a:ln w="0">
            <a:noFill/>
          </a:ln>
        </p:spPr>
        <p:txBody>
          <a:bodyPr lIns="0" tIns="0" rIns="0" bIns="0" anchor="t">
            <a:noAutofit/>
          </a:bodyPr>
          <a:lstStyle/>
          <a:p>
            <a:pPr algn="l">
              <a:defRPr sz="1800" b="0">
                <a:solidFill>
                  <a:srgbClr val="526970"/>
                </a:solidFill>
                <a:latin typeface="Microsoft YaHei"/>
                <a:ea typeface="Microsoft YaHei"/>
                <a:cs typeface="Microsoft YaHei"/>
              </a:defRPr>
            </a:pPr>
            <a:r>
              <a:rPr sz="1800" b="0">
                <a:solidFill>
                  <a:srgbClr val="526970"/>
                </a:solidFill>
                <a:latin typeface="Microsoft YaHei"/>
                <a:ea typeface="Microsoft YaHei"/>
                <a:cs typeface="Microsoft YaHei"/>
              </a:rPr>
              <a:t>Measure review quality and time with agreed criteria</a:t>
            </a:r>
          </a:p>
        </p:txBody>
      </p:sp>
      <p:pic>
        <p:nvPicPr>
          <p:cNvPr id="17" name="Narration_Slide_19" descr="English narration for slide 19">
            <a:hlinkClick action="ppaction://media"/>
            <a:extLst>
              <a:ext uri="{FF2B5EF4-FFF2-40B4-BE49-F238E27FC236}">
                <a16:creationId xmlns:a16="http://schemas.microsoft.com/office/drawing/2014/main" id="{274AD63B-F434-5BC9-DDCE-6C0807B9499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 y="76200"/>
            <a:ext cx="101600" cy="101600"/>
          </a:xfrm>
          <a:prstGeom prst="rect">
            <a:avLst/>
          </a:prstGeom>
        </p:spPr>
      </p:pic>
    </p:spTree>
    <p:extLst>
      <p:ext uri="{BB962C8B-B14F-4D97-AF65-F5344CB8AC3E}">
        <p14:creationId xmlns:p14="http://schemas.microsoft.com/office/powerpoint/2010/main" val="1325489054"/>
      </p:ext>
    </p:extLst>
  </p:cSld>
  <p:clrMapOvr>
    <a:masterClrMapping/>
  </p:clrMapOvr>
  <mc:AlternateContent xmlns:mc="http://schemas.openxmlformats.org/markup-compatibility/2006">
    <mc:Choice xmlns:p14="http://schemas.microsoft.com/office/powerpoint/2010/main" Requires="p14">
      <p:transition spd="slow" p14:dur="2000" advClick="0" advTm="60252"/>
    </mc:Choice>
    <mc:Fallback>
      <p:transition spd="slow" advClick="0" advTm="602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17"/>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5363C"/>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214DDCCE-A8B0-4754-8E8E-7CB6DF6C1A5F}"/>
              </a:ext>
            </a:extLst>
          </p:cNvPr>
          <p:cNvSpPr>
            <a:spLocks noGrp="1"/>
          </p:cNvSpPr>
          <p:nvPr/>
        </p:nvSpPr>
        <p:spPr>
          <a:xfrm>
            <a:off x="609600" y="457200"/>
            <a:ext cx="10953750" cy="619125"/>
          </a:xfrm>
          <a:prstGeom prst="rect">
            <a:avLst/>
          </a:prstGeom>
          <a:noFill/>
          <a:ln w="0">
            <a:noFill/>
          </a:ln>
        </p:spPr>
        <p:txBody>
          <a:bodyPr lIns="0" tIns="0" rIns="0" bIns="0" anchor="t">
            <a:noAutofit/>
          </a:bodyPr>
          <a:lstStyle/>
          <a:p>
            <a:pPr algn="l">
              <a:defRPr sz="3450" b="1">
                <a:solidFill>
                  <a:srgbClr val="FFFFFF"/>
                </a:solidFill>
                <a:latin typeface="Microsoft YaHei"/>
                <a:ea typeface="Microsoft YaHei"/>
                <a:cs typeface="Microsoft YaHei"/>
              </a:defRPr>
            </a:pPr>
            <a:r>
              <a:rPr sz="3450" b="1">
                <a:solidFill>
                  <a:srgbClr val="FFFFFF"/>
                </a:solidFill>
                <a:latin typeface="Microsoft YaHei"/>
                <a:ea typeface="Microsoft YaHei"/>
                <a:cs typeface="Microsoft YaHei"/>
              </a:rPr>
              <a:t>Project recap and discussion</a:t>
            </a:r>
          </a:p>
        </p:txBody>
      </p:sp>
      <p:sp>
        <p:nvSpPr>
          <p:cNvPr id="2" name="slide-subtitle">
            <a:extLst>
              <a:ext uri="{FF2B5EF4-FFF2-40B4-BE49-F238E27FC236}">
                <a16:creationId xmlns:a16="http://schemas.microsoft.com/office/drawing/2014/main" id="{D54B6220-6B68-454E-B028-10C4D050D02F}"/>
              </a:ext>
            </a:extLst>
          </p:cNvPr>
          <p:cNvSpPr>
            <a:spLocks noGrp="1"/>
          </p:cNvSpPr>
          <p:nvPr/>
        </p:nvSpPr>
        <p:spPr>
          <a:xfrm>
            <a:off x="628650" y="1085850"/>
            <a:ext cx="10801350" cy="400050"/>
          </a:xfrm>
          <a:prstGeom prst="rect">
            <a:avLst/>
          </a:prstGeom>
          <a:noFill/>
          <a:ln w="0">
            <a:noFill/>
          </a:ln>
        </p:spPr>
        <p:txBody>
          <a:bodyPr lIns="0" tIns="0" rIns="0" bIns="0" anchor="t">
            <a:noAutofit/>
          </a:bodyPr>
          <a:lstStyle/>
          <a:p>
            <a:pPr algn="l">
              <a:defRPr sz="1950" b="0">
                <a:solidFill>
                  <a:srgbClr val="A5CEC9"/>
                </a:solidFill>
                <a:latin typeface="Microsoft YaHei"/>
                <a:ea typeface="Microsoft YaHei"/>
                <a:cs typeface="Microsoft YaHei"/>
              </a:defRPr>
            </a:pPr>
            <a:r>
              <a:rPr sz="1950" b="0">
                <a:solidFill>
                  <a:srgbClr val="A5CEC9"/>
                </a:solidFill>
                <a:latin typeface="Microsoft YaHei"/>
                <a:ea typeface="Microsoft YaHei"/>
                <a:cs typeface="Microsoft YaHei"/>
              </a:rPr>
              <a:t>PeopleLedger</a:t>
            </a:r>
          </a:p>
        </p:txBody>
      </p:sp>
      <p:sp>
        <p:nvSpPr>
          <p:cNvPr id="3" name="page-number">
            <a:extLst>
              <a:ext uri="{FF2B5EF4-FFF2-40B4-BE49-F238E27FC236}">
                <a16:creationId xmlns:a16="http://schemas.microsoft.com/office/drawing/2014/main" id="{CD79B1AC-AA9D-4122-81DA-C8664F09AE48}"/>
              </a:ext>
            </a:extLst>
          </p:cNvPr>
          <p:cNvSpPr>
            <a:spLocks noGrp="1"/>
          </p:cNvSpPr>
          <p:nvPr/>
        </p:nvSpPr>
        <p:spPr>
          <a:xfrm>
            <a:off x="10572750" y="6467475"/>
            <a:ext cx="1000125" cy="228600"/>
          </a:xfrm>
          <a:prstGeom prst="rect">
            <a:avLst/>
          </a:prstGeom>
          <a:noFill/>
          <a:ln w="0">
            <a:noFill/>
          </a:ln>
        </p:spPr>
        <p:txBody>
          <a:bodyPr lIns="0" tIns="0" rIns="0" bIns="0" anchor="t">
            <a:noAutofit/>
          </a:bodyPr>
          <a:lstStyle/>
          <a:p>
            <a:pPr algn="r">
              <a:defRPr sz="1200" b="0">
                <a:solidFill>
                  <a:srgbClr val="A5CEC9"/>
                </a:solidFill>
                <a:latin typeface="Microsoft YaHei"/>
                <a:ea typeface="Microsoft YaHei"/>
                <a:cs typeface="Microsoft YaHei"/>
              </a:defRPr>
            </a:pPr>
            <a:r>
              <a:rPr sz="1200" b="0">
                <a:solidFill>
                  <a:srgbClr val="A5CEC9"/>
                </a:solidFill>
                <a:latin typeface="Microsoft YaHei"/>
                <a:ea typeface="Microsoft YaHei"/>
                <a:cs typeface="Microsoft YaHei"/>
              </a:rPr>
              <a:t>20 / 20</a:t>
            </a:r>
          </a:p>
        </p:txBody>
      </p:sp>
      <p:sp>
        <p:nvSpPr>
          <p:cNvPr id="4" name="text-3">
            <a:extLst>
              <a:ext uri="{FF2B5EF4-FFF2-40B4-BE49-F238E27FC236}">
                <a16:creationId xmlns:a16="http://schemas.microsoft.com/office/drawing/2014/main" id="{E4F9740B-CB07-4BA7-B8FE-93D26354ED61}"/>
              </a:ext>
            </a:extLst>
          </p:cNvPr>
          <p:cNvSpPr>
            <a:spLocks noGrp="1"/>
          </p:cNvSpPr>
          <p:nvPr/>
        </p:nvSpPr>
        <p:spPr>
          <a:xfrm>
            <a:off x="790575" y="2105025"/>
            <a:ext cx="10382250" cy="542925"/>
          </a:xfrm>
          <a:prstGeom prst="rect">
            <a:avLst/>
          </a:prstGeom>
          <a:noFill/>
          <a:ln w="0">
            <a:noFill/>
          </a:ln>
        </p:spPr>
        <p:txBody>
          <a:bodyPr lIns="0" tIns="0" rIns="0" bIns="0" anchor="t">
            <a:noAutofit/>
          </a:bodyPr>
          <a:lstStyle/>
          <a:p>
            <a:pPr algn="l">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A working review process</a:t>
            </a:r>
          </a:p>
        </p:txBody>
      </p:sp>
      <p:sp>
        <p:nvSpPr>
          <p:cNvPr id="5" name="text-4">
            <a:extLst>
              <a:ext uri="{FF2B5EF4-FFF2-40B4-BE49-F238E27FC236}">
                <a16:creationId xmlns:a16="http://schemas.microsoft.com/office/drawing/2014/main" id="{9AB5847E-82D1-45E0-BC9D-55E6A619FF5F}"/>
              </a:ext>
            </a:extLst>
          </p:cNvPr>
          <p:cNvSpPr>
            <a:spLocks noGrp="1"/>
          </p:cNvSpPr>
          <p:nvPr/>
        </p:nvSpPr>
        <p:spPr>
          <a:xfrm>
            <a:off x="790575" y="2724150"/>
            <a:ext cx="10382250" cy="581025"/>
          </a:xfrm>
          <a:prstGeom prst="rect">
            <a:avLst/>
          </a:prstGeom>
          <a:noFill/>
          <a:ln w="0">
            <a:noFill/>
          </a:ln>
        </p:spPr>
        <p:txBody>
          <a:bodyPr lIns="0" tIns="0" rIns="0" bIns="0" anchor="t">
            <a:noAutofit/>
          </a:bodyPr>
          <a:lstStyle/>
          <a:p>
            <a:pPr algn="l">
              <a:defRPr sz="2025" b="0">
                <a:solidFill>
                  <a:srgbClr val="A5CEC9"/>
                </a:solidFill>
                <a:latin typeface="Microsoft YaHei"/>
                <a:ea typeface="Microsoft YaHei"/>
                <a:cs typeface="Microsoft YaHei"/>
              </a:defRPr>
            </a:pPr>
            <a:r>
              <a:rPr sz="2025" b="0">
                <a:solidFill>
                  <a:srgbClr val="A5CEC9"/>
                </a:solidFill>
                <a:latin typeface="Microsoft YaHei"/>
                <a:ea typeface="Microsoft YaHei"/>
                <a:cs typeface="Microsoft YaHei"/>
              </a:rPr>
              <a:t>Preparation through approval and evidence export</a:t>
            </a:r>
          </a:p>
        </p:txBody>
      </p:sp>
      <p:sp>
        <p:nvSpPr>
          <p:cNvPr id="6" name="text-5">
            <a:extLst>
              <a:ext uri="{FF2B5EF4-FFF2-40B4-BE49-F238E27FC236}">
                <a16:creationId xmlns:a16="http://schemas.microsoft.com/office/drawing/2014/main" id="{D098C32E-3648-4E66-9C1C-0F7FE61D68D8}"/>
              </a:ext>
            </a:extLst>
          </p:cNvPr>
          <p:cNvSpPr>
            <a:spLocks noGrp="1"/>
          </p:cNvSpPr>
          <p:nvPr/>
        </p:nvSpPr>
        <p:spPr>
          <a:xfrm>
            <a:off x="790575" y="3371850"/>
            <a:ext cx="10382250" cy="542925"/>
          </a:xfrm>
          <a:prstGeom prst="rect">
            <a:avLst/>
          </a:prstGeom>
          <a:noFill/>
          <a:ln w="0">
            <a:noFill/>
          </a:ln>
        </p:spPr>
        <p:txBody>
          <a:bodyPr lIns="0" tIns="0" rIns="0" bIns="0" anchor="t">
            <a:noAutofit/>
          </a:bodyPr>
          <a:lstStyle/>
          <a:p>
            <a:pPr algn="l">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Traceable review decisions</a:t>
            </a:r>
          </a:p>
        </p:txBody>
      </p:sp>
      <p:sp>
        <p:nvSpPr>
          <p:cNvPr id="7" name="text-6">
            <a:extLst>
              <a:ext uri="{FF2B5EF4-FFF2-40B4-BE49-F238E27FC236}">
                <a16:creationId xmlns:a16="http://schemas.microsoft.com/office/drawing/2014/main" id="{5982ED1B-4565-401C-AF92-3436E40325DA}"/>
              </a:ext>
            </a:extLst>
          </p:cNvPr>
          <p:cNvSpPr>
            <a:spLocks noGrp="1"/>
          </p:cNvSpPr>
          <p:nvPr/>
        </p:nvSpPr>
        <p:spPr>
          <a:xfrm>
            <a:off x="790575" y="3990975"/>
            <a:ext cx="10382250" cy="581025"/>
          </a:xfrm>
          <a:prstGeom prst="rect">
            <a:avLst/>
          </a:prstGeom>
          <a:noFill/>
          <a:ln w="0">
            <a:noFill/>
          </a:ln>
        </p:spPr>
        <p:txBody>
          <a:bodyPr lIns="0" tIns="0" rIns="0" bIns="0" anchor="t">
            <a:noAutofit/>
          </a:bodyPr>
          <a:lstStyle/>
          <a:p>
            <a:pPr algn="l">
              <a:defRPr sz="2025" b="0">
                <a:solidFill>
                  <a:srgbClr val="A5CEC9"/>
                </a:solidFill>
                <a:latin typeface="Microsoft YaHei"/>
                <a:ea typeface="Microsoft YaHei"/>
                <a:cs typeface="Microsoft YaHei"/>
              </a:defRPr>
            </a:pPr>
            <a:r>
              <a:rPr sz="2025" b="0">
                <a:solidFill>
                  <a:srgbClr val="A5CEC9"/>
                </a:solidFill>
                <a:latin typeface="Microsoft YaHei"/>
                <a:ea typeface="Microsoft YaHei"/>
                <a:cs typeface="Microsoft YaHei"/>
              </a:rPr>
              <a:t>Reports retain their supporting records</a:t>
            </a:r>
          </a:p>
        </p:txBody>
      </p:sp>
      <p:sp>
        <p:nvSpPr>
          <p:cNvPr id="8" name="text-7">
            <a:extLst>
              <a:ext uri="{FF2B5EF4-FFF2-40B4-BE49-F238E27FC236}">
                <a16:creationId xmlns:a16="http://schemas.microsoft.com/office/drawing/2014/main" id="{2245B573-43F3-4394-AA34-EDEAA9F13B94}"/>
              </a:ext>
            </a:extLst>
          </p:cNvPr>
          <p:cNvSpPr>
            <a:spLocks noGrp="1"/>
          </p:cNvSpPr>
          <p:nvPr/>
        </p:nvSpPr>
        <p:spPr>
          <a:xfrm>
            <a:off x="790575" y="4638675"/>
            <a:ext cx="10382250" cy="542925"/>
          </a:xfrm>
          <a:prstGeom prst="rect">
            <a:avLst/>
          </a:prstGeom>
          <a:noFill/>
          <a:ln w="0">
            <a:noFill/>
          </a:ln>
        </p:spPr>
        <p:txBody>
          <a:bodyPr lIns="0" tIns="0" rIns="0" bIns="0" anchor="t">
            <a:noAutofit/>
          </a:bodyPr>
          <a:lstStyle/>
          <a:p>
            <a:pPr algn="l">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A deployed demonstration</a:t>
            </a:r>
          </a:p>
        </p:txBody>
      </p:sp>
      <p:sp>
        <p:nvSpPr>
          <p:cNvPr id="9" name="text-8">
            <a:extLst>
              <a:ext uri="{FF2B5EF4-FFF2-40B4-BE49-F238E27FC236}">
                <a16:creationId xmlns:a16="http://schemas.microsoft.com/office/drawing/2014/main" id="{63DE6E2A-7985-4495-82A6-CFA656628AF1}"/>
              </a:ext>
            </a:extLst>
          </p:cNvPr>
          <p:cNvSpPr>
            <a:spLocks noGrp="1"/>
          </p:cNvSpPr>
          <p:nvPr/>
        </p:nvSpPr>
        <p:spPr>
          <a:xfrm>
            <a:off x="790575" y="5257800"/>
            <a:ext cx="10382250" cy="581025"/>
          </a:xfrm>
          <a:prstGeom prst="rect">
            <a:avLst/>
          </a:prstGeom>
          <a:noFill/>
          <a:ln w="0">
            <a:noFill/>
          </a:ln>
        </p:spPr>
        <p:txBody>
          <a:bodyPr lIns="0" tIns="0" rIns="0" bIns="0" anchor="t">
            <a:noAutofit/>
          </a:bodyPr>
          <a:lstStyle/>
          <a:p>
            <a:pPr algn="l">
              <a:defRPr sz="2025" b="0">
                <a:solidFill>
                  <a:srgbClr val="A5CEC9"/>
                </a:solidFill>
                <a:latin typeface="Microsoft YaHei"/>
                <a:ea typeface="Microsoft YaHei"/>
                <a:cs typeface="Microsoft YaHei"/>
              </a:defRPr>
            </a:pPr>
            <a:r>
              <a:rPr sz="2025" b="0">
                <a:solidFill>
                  <a:srgbClr val="A5CEC9"/>
                </a:solidFill>
                <a:latin typeface="Microsoft YaHei"/>
                <a:ea typeface="Microsoft YaHei"/>
                <a:cs typeface="Microsoft YaHei"/>
              </a:rPr>
              <a:t>Application and narrated presentation on Vercel</a:t>
            </a:r>
          </a:p>
        </p:txBody>
      </p:sp>
      <p:pic>
        <p:nvPicPr>
          <p:cNvPr id="11" name="Narration_Slide_20" descr="English narration for slide 20">
            <a:hlinkClick action="ppaction://media"/>
            <a:extLst>
              <a:ext uri="{FF2B5EF4-FFF2-40B4-BE49-F238E27FC236}">
                <a16:creationId xmlns:a16="http://schemas.microsoft.com/office/drawing/2014/main" id="{D0A3705B-F83D-3613-7C61-599A7CD3721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6200" y="76200"/>
            <a:ext cx="101600" cy="101600"/>
          </a:xfrm>
          <a:prstGeom prst="rect">
            <a:avLst/>
          </a:prstGeom>
        </p:spPr>
      </p:pic>
    </p:spTree>
    <p:extLst>
      <p:ext uri="{BB962C8B-B14F-4D97-AF65-F5344CB8AC3E}">
        <p14:creationId xmlns:p14="http://schemas.microsoft.com/office/powerpoint/2010/main" val="1505613154"/>
      </p:ext>
    </p:extLst>
  </p:cSld>
  <p:clrMapOvr>
    <a:masterClrMapping/>
  </p:clrMapOvr>
  <mc:AlternateContent xmlns:mc="http://schemas.openxmlformats.org/markup-compatibility/2006">
    <mc:Choice xmlns:p14="http://schemas.microsoft.com/office/powerpoint/2010/main" Requires="p14">
      <p:transition spd="slow" p14:dur="2000" advClick="0" advTm="63564"/>
    </mc:Choice>
    <mc:Fallback>
      <p:transition spd="slow" advClick="0" advTm="635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remove" display="0">
                  <p:stCondLst>
                    <p:cond delay="indefinite"/>
                  </p:stCondLst>
                  <p:endCondLst>
                    <p:cond evt="onStopAudio" delay="0">
                      <p:tgtEl>
                        <p:sldTgt/>
                      </p:tgtEl>
                    </p:cond>
                  </p:endCondLst>
                </p:cTn>
                <p:tgtEl>
                  <p:spTgt spid="11"/>
                </p:tgtEl>
              </p:cMediaNode>
            </p:audio>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4791</Words>
  <Application>Microsoft Office PowerPoint</Application>
  <DocSecurity>0</DocSecurity>
  <PresentationFormat>Widescreen</PresentationFormat>
  <Paragraphs>427</Paragraphs>
  <Slides>20</Slides>
  <Notes>20</Notes>
  <HiddenSlides>0</HiddenSlides>
  <MMClips>20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Microsoft YaHei</vt: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Ting Sun</cp:lastModifiedBy>
  <cp:revision>1</cp:revision>
  <dcterms:created xsi:type="dcterms:W3CDTF">2026-09-27T15:31:17Z</dcterms:created>
  <dcterms:modified xsi:type="dcterms:W3CDTF">2026-09-27T15:34:28Z</dcterms:modified>
</cp:coreProperties>
</file>