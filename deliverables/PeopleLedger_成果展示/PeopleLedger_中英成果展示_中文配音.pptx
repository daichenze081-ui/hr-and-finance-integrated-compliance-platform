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SGD</c:v>
          </c:tx>
          <c:spPr>
            <a:solidFill>
              <a:srgbClr val="087F82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18F-43A3-91CD-7BB4EDA355A1}"/>
              </c:ext>
            </c:extLst>
          </c:dPt>
          <c:dPt>
            <c:idx val="1"/>
            <c:invertIfNegative val="0"/>
            <c:bubble3D val="0"/>
            <c:spPr>
              <a:solidFill>
                <a:srgbClr val="BB783A"/>
              </a:solidFill>
            </c:spPr>
            <c:extLst>
              <c:ext xmlns:c16="http://schemas.microsoft.com/office/drawing/2014/chart" uri="{C3380CC4-5D6E-409C-BE32-E72D297353CC}">
                <c16:uniqueId val="{00000003-318F-43A3-91CD-7BB4EDA355A1}"/>
              </c:ext>
            </c:extLst>
          </c:dPt>
          <c:dPt>
            <c:idx val="2"/>
            <c:invertIfNegative val="0"/>
            <c:bubble3D val="0"/>
            <c:spPr>
              <a:solidFill>
                <a:srgbClr val="345D7E"/>
              </a:solidFill>
            </c:spPr>
            <c:extLst>
              <c:ext xmlns:c16="http://schemas.microsoft.com/office/drawing/2014/chart" uri="{C3380CC4-5D6E-409C-BE32-E72D297353CC}">
                <c16:uniqueId val="{00000005-318F-43A3-91CD-7BB4EDA355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83239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收入 Income</c:v>
                </c:pt>
                <c:pt idx="1">
                  <c:v>支出 Expenses</c:v>
                </c:pt>
                <c:pt idx="2">
                  <c:v>净流入 Net inflow</c:v>
                </c:pt>
              </c:strCache>
            </c:strRef>
          </c:cat>
          <c:val>
            <c:numRef>
              <c:f>'Chart Data'!$B$2:$B$4</c:f>
              <c:numCache>
                <c:formatCode>"S$"#,##0</c:formatCode>
                <c:ptCount val="3"/>
                <c:pt idx="0">
                  <c:v>50000</c:v>
                </c:pt>
                <c:pt idx="1">
                  <c:v>39100</c:v>
                </c:pt>
                <c:pt idx="2">
                  <c:v>10900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318F-43A3-91CD-7BB4EDA355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1DE"/>
            </a:solidFill>
          </a:ln>
        </c:spPr>
        <c:txPr>
          <a:bodyPr anchorCtr="1"/>
          <a:lstStyle/>
          <a:p>
            <a:pPr>
              <a:defRPr sz="1575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000"/>
          <c:min val="0"/>
        </c:scaling>
        <c:delete val="0"/>
        <c:axPos val="l"/>
        <c:majorGridlines>
          <c:spPr>
            <a:ln w="9525">
              <a:solidFill>
                <a:srgbClr val="D7E1DE"/>
              </a:solidFill>
            </a:ln>
          </c:spPr>
        </c:majorGridlines>
        <c:numFmt formatCode="&quot;S$&quot;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endParaRPr lang="en-US"/>
          </a:p>
        </c:txPr>
        <c:crossAx val="48650112"/>
        <c:crosses val="autoZero"/>
        <c:crossBetween val="between"/>
        <c:majorUnit val="20000"/>
      </c:valAx>
      <c:spPr>
        <a:solidFill>
          <a:srgbClr val="F7F8F5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7F8F5"/>
    </a:solidFill>
    <a:ln w="0">
      <a:noFill/>
    </a:ln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人力与财务一体化审阅平台</a:t>
            </a:r>
          </a:p>
          <a:p>
            <a:r>
              <a:t>HR and Finance Review Platform</a:t>
            </a:r>
          </a:p>
          <a:p>
            <a:endParaRPr/>
          </a:p>
          <a:p>
            <a:r>
              <a:t>中文讲解稿</a:t>
            </a:r>
          </a:p>
          <a:p>
            <a:r>
              <a:t>大家好，接下来介绍 People Ledger，人力与财务一体化审阅平台。本次展示以项目中维护的第二版应用为准，使用六名虚构员工和一组新加坡元交易，演示数据如何经过检查、银行对账、人工审批，最后形成可追溯的证据包。我们关注的不只是页面上能否显示一个结果，而是这个结果来自哪一版数据、谁进行了复核、批准之后还能否找到当时的依据。整个展示分为业务场景、实际功能和实现成果三个部分。所有金额和人员资料都是合成演示数据。</a:t>
            </a:r>
          </a:p>
          <a:p>
            <a:endParaRPr/>
          </a:p>
          <a:p>
            <a:r>
              <a:t>音频时长 46.27 秒；自动换页 47.77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PeopleLedger-v2/README.md</a:t>
            </a:r>
          </a:p>
          <a:p>
            <a:r>
              <a:t>PeopleLedger-v2/START_HERE.md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跨部门审阅中的信息断点</a:t>
            </a:r>
          </a:p>
          <a:p>
            <a:r>
              <a:t>Gaps in cross-functional review</a:t>
            </a:r>
          </a:p>
          <a:p>
            <a:endParaRPr/>
          </a:p>
          <a:p>
            <a:r>
              <a:t>中文讲解稿</a:t>
            </a:r>
          </a:p>
          <a:p>
            <a:r>
              <a:t>在这个项目设定的场景中，人力资源部门维护员工和工资资料，财务部门处理付款与银行记录，管理人员再根据报告作出批准决定。如果这些信息分散在表格、文件和邮件里，同一笔金额就需要多次解释。更关键的是，当员工资料或支付记录发生修改，之前生成的报告可能仍然继续流转，审批人看到的内容未必对应最新版本。项目因此把重点放在信息之间的连接上。工资要能关联到付款，付款要能对应银行记录，报告要保存来源，决策要留下执行人和意见。这些是本次原型要解决的具体问题，不代表我们已经测量了某家企业的成本或效率提升。</a:t>
            </a:r>
          </a:p>
          <a:p>
            <a:endParaRPr/>
          </a:p>
          <a:p>
            <a:r>
              <a:t>音频时长 56.83 秒；自动换页 58.33 秒。</a:t>
            </a:r>
          </a:p>
          <a:p>
            <a:endParaRPr/>
          </a:p>
          <a:p>
            <a:r>
              <a:t>依据</a:t>
            </a:r>
          </a:p>
          <a:p>
            <a:r>
              <a:t>DEMO_SCRIPT.md</a:t>
            </a:r>
          </a:p>
          <a:p>
            <a:r>
              <a:t>PeopleLedger-v2/README.md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第二版的主要成果</a:t>
            </a:r>
          </a:p>
          <a:p>
            <a:r>
              <a:t>What changed in the maintained version</a:t>
            </a:r>
          </a:p>
          <a:p>
            <a:endParaRPr/>
          </a:p>
          <a:p>
            <a:r>
              <a:t>中文讲解稿</a:t>
            </a:r>
          </a:p>
          <a:p>
            <a:r>
              <a:t>项目目录同时保留了早期原型和当前维护的第二版，所以成果展示需要先说明版本。早期原型主要在浏览器里运行，数据保存在本地，角色切换用于模拟审批流程。第二版已经把核心处理转移到服务器，默认通过 SQLite 保存业务数据，并加入账号、会话和服务端权限检查。输入范围也从工资记录扩展到一般账目与银行流水。凭证不再只是一个编号，而是可以上传、保存版本、计算文件摘要，并纳入证据导出包。旧版仍可用于回顾设计起点，但接下来的功能和截图都来自第二版。这样的说明可以避免把早期版本的限制，误当成当前成果。</a:t>
            </a:r>
          </a:p>
          <a:p>
            <a:endParaRPr/>
          </a:p>
          <a:p>
            <a:r>
              <a:t>音频时长 57.17 秒；自动换页 58.67 秒。</a:t>
            </a:r>
          </a:p>
          <a:p>
            <a:endParaRPr/>
          </a:p>
          <a:p>
            <a:r>
              <a:t>依据</a:t>
            </a:r>
          </a:p>
          <a:p>
            <a:r>
              <a:t>hr-finance-compliance-mvp/README.md</a:t>
            </a:r>
          </a:p>
          <a:p>
            <a:r>
              <a:t>PeopleLedger-v2/README.md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一条完整的审阅流程</a:t>
            </a:r>
          </a:p>
          <a:p>
            <a:r>
              <a:t>The complete review workflow</a:t>
            </a:r>
          </a:p>
          <a:p>
            <a:endParaRPr/>
          </a:p>
          <a:p>
            <a:r>
              <a:t>中文讲解稿</a:t>
            </a:r>
          </a:p>
          <a:p>
            <a:r>
              <a:t>平台的主流程可以分成四个阶段。首先准备资料，包括工资记录、付款账目、银行流水，以及支持这些记录的文件。第二阶段运行确定性检查和银行对账，明确显示不匹配、缺少资料或需要人工处理的情况。第三阶段生成报告，随后由不同职责的人员逐级审阅。报告会保存生成时的数据快照，而不是每次打开都悄悄读取最新记录。最后，获批报告可以封存，并导出包含依据和审批记录的证据包。如果前面的数据发生变化，流程会要求重新检查或建立新版本。这样，数据准备、结论形成和人工责任之间就有了可以追踪的关系。</a:t>
            </a:r>
          </a:p>
          <a:p>
            <a:endParaRPr/>
          </a:p>
          <a:p>
            <a:r>
              <a:t>音频时长 55.94 秒；自动换页 57.44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PeopleLedger-v2/README.md</a:t>
            </a:r>
          </a:p>
          <a:p>
            <a:r>
              <a:t>PeopleLedger-v2/server/services/reports.service.js</a:t>
            </a:r>
          </a:p>
          <a:p>
            <a:r>
              <a:t>PeopleLedger-v2/server/services/export.service.js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演示数据与财务结果</a:t>
            </a:r>
          </a:p>
          <a:p>
            <a:r>
              <a:t>The sample case and its financial totals</a:t>
            </a:r>
          </a:p>
          <a:p>
            <a:endParaRPr/>
          </a:p>
          <a:p>
            <a:r>
              <a:t>中文讲解稿</a:t>
            </a:r>
          </a:p>
          <a:p>
            <a:r>
              <a:t>这次演示使用二零二六年九月的合成案例。六名员工对应六笔工资支付，工资支付合计三万五千一百新加坡元。此外还有一笔五万元的销售收款，以及一笔四千元的办公租金，因此账目总共八笔，银行流水也是八笔。把工资和租金相加，总支出是三万九千一百元。用五万元收入减去这笔支出，得到一万零九百元的净银行变动，也可以称为净流入。这里特别要区分现金变动与利润。这组资料展示的是收付款及对账关系，不包含完整的会计调整，所以我们不会把一万零九百元称为净利润。</a:t>
            </a:r>
          </a:p>
          <a:p>
            <a:endParaRPr/>
          </a:p>
          <a:p>
            <a:r>
              <a:t>音频时长 50.88 秒；自动换页 52.38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PeopleLedger-v2/examples/payroll-corrected.csv</a:t>
            </a:r>
          </a:p>
          <a:p>
            <a:r>
              <a:t>PeopleLedger-v2/examples/ledger-demo.csv</a:t>
            </a:r>
          </a:p>
          <a:p>
            <a:r>
              <a:t>PeopleLedger-v2/examples/bank-demo.csv</a:t>
            </a:r>
          </a:p>
          <a:p>
            <a:r>
              <a:t>PeopleLedger-v2/tests/server.v2.test.cjs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统一的案件工作区</a:t>
            </a:r>
          </a:p>
          <a:p>
            <a:r>
              <a:t>A shared workspace for each case</a:t>
            </a:r>
          </a:p>
          <a:p>
            <a:endParaRPr/>
          </a:p>
          <a:p>
            <a:r>
              <a:t>中文讲解稿</a:t>
            </a:r>
          </a:p>
          <a:p>
            <a:r>
              <a:t>进入平台后，用户先登录，再选择自己有权限访问的案件。工作区把总览、员工工资、支付账簿、银行对账、数据检查、凭证、报告和导出放在同一个案件范围内。它的价值是让参与者围绕同一组资料协作，同时仍然按照职责限制可执行的操作。例如，准备人员负责导入和提交，财务人员负责复核，董事负责最终批准。这里展示的是实际运行的本地服务器界面。页面上的汇总数字可以帮助快速了解当前状态，但后续检查和审批仍然以服务端保存的记录、规则结果和报告版本为依据。</a:t>
            </a:r>
          </a:p>
          <a:p>
            <a:endParaRPr/>
          </a:p>
          <a:p>
            <a:r>
              <a:t>音频时长 50.54 秒；自动换页 52.04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PeopleLedger-v2/dist/workspace.html</a:t>
            </a:r>
          </a:p>
          <a:p>
            <a:r>
              <a:t>PeopleLedger-v2/dist/workspace.js</a:t>
            </a:r>
          </a:p>
          <a:p>
            <a:r>
              <a:t>PeopleLedger-v2/server/auth/access.js</a:t>
            </a:r>
          </a:p>
          <a:p>
            <a:r>
              <a:t>截图：.presentation-build/screenshots-work/01-overview.png（隔离实例，虚构样例）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数据导入与工资记录</a:t>
            </a:r>
          </a:p>
          <a:p>
            <a:r>
              <a:t>Import validation and payroll records</a:t>
            </a:r>
          </a:p>
          <a:p>
            <a:endParaRPr/>
          </a:p>
          <a:p>
            <a:r>
              <a:t>中文讲解稿</a:t>
            </a:r>
          </a:p>
          <a:p>
            <a:r>
              <a:t>在资料准备阶段，平台支持预览和验证导入内容。工资记录需要具备有效员工标识、期间和金额，付款与银行资料则要符合各自的文件结构。账目和银行导入支持 CSV 以及受支持的 Excel 工作簿。对于不支持的币种、公式或工作簿特性，系统会明确拒绝，不会猜测后继续计算。金额在核心逻辑中使用整数分处理，减少浮点数运算造成的金额误差。批量导入还强调原子性，也就是一批资料验证不通过时，不应只写入其中一部分。这样的控制让错误尽早在入口暴露，后面的复核和报告才有稳定的数据基础。</a:t>
            </a:r>
          </a:p>
          <a:p>
            <a:endParaRPr/>
          </a:p>
          <a:p>
            <a:r>
              <a:t>音频时长 53.57 秒；自动换页 55.07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PeopleLedger-v2/server/lib/money.js</a:t>
            </a:r>
          </a:p>
          <a:p>
            <a:r>
              <a:t>PeopleLedger-v2/server/lib/xlsx.js</a:t>
            </a:r>
          </a:p>
          <a:p>
            <a:r>
              <a:t>PeopleLedger-v2/server/services/payments.service.js</a:t>
            </a:r>
          </a:p>
          <a:p>
            <a:r>
              <a:t>PeopleLedger-v2/server/services/reconciliation.service.js</a:t>
            </a:r>
          </a:p>
          <a:p>
            <a:r>
              <a:t>截图：.presentation-build/screenshots-work/15-payroll-import-preview.png（隔离实例，虚构样例）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规则检查与问题处理</a:t>
            </a:r>
          </a:p>
          <a:p>
            <a:r>
              <a:t>Deterministic checks and issue handling</a:t>
            </a:r>
          </a:p>
          <a:p>
            <a:endParaRPr/>
          </a:p>
          <a:p>
            <a:r>
              <a:t>中文讲解稿</a:t>
            </a:r>
          </a:p>
          <a:p>
            <a:r>
              <a:t>当前版本有十四条默认启用的演示规则，覆盖净工资计算、凭证引用与文件、成本中心、扣款范围、期间、重复支付，以及工资、账目和银行之间的差异。这些检查使用确定性逻辑，因此同一版输入和规则应得到一致结果。当前画面显示零项阻断问题，但仍有六项工资凭证需要人工内容复核，所以零项阻断不等于没有待办事项。平台把问题关联到具体记录，便于处理人员核实和补充依据。需要强调，这些规则只是项目定义的业务检查范围，不是完整的法定合规引擎。公积金、个人所得税和劳动法判断，并没有因为演示规则通过而自动完成。</a:t>
            </a:r>
          </a:p>
          <a:p>
            <a:endParaRPr/>
          </a:p>
          <a:p>
            <a:r>
              <a:t>音频时长 57.24 秒；自动换页 58.74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PeopleLedger-v2/server/rules/registry.js</a:t>
            </a:r>
          </a:p>
          <a:p>
            <a:r>
              <a:t>PeopleLedger-v2/server/services/checks.service.js</a:t>
            </a:r>
          </a:p>
          <a:p>
            <a:r>
              <a:t>截图：.presentation-build/screenshots-work/05-checks.png（隔离实例，虚构样例）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银行流水与账目一对一匹配</a:t>
            </a:r>
          </a:p>
          <a:p>
            <a:r>
              <a:t>One-to-one bank reconciliation</a:t>
            </a:r>
          </a:p>
          <a:p>
            <a:endParaRPr/>
          </a:p>
          <a:p>
            <a:r>
              <a:t>中文讲解稿</a:t>
            </a:r>
          </a:p>
          <a:p>
            <a:r>
              <a:t>银行对账是连接内部记录与外部收付款记录的重要环节。本项目使用参考号、金额和收付方向进行严格的一对一匹配，不会仅凭姓名相似或者金额接近就自动认定是同一笔交易。匹配结果区分已匹配、未匹配和存在歧义，方便人工处理异常。当前合成样例中的八笔账目，能够对应八笔银行流水，因此显示八笔全部匹配。这个数字只描述这一组样例的结果，不是一个人工智能模型的准确率，也不能推广为所有真实银行资料都会自动正确匹配。遇到缺失、重复或金额不一致的记录，系统应该保留问题，让复核人员继续核实。</a:t>
            </a:r>
          </a:p>
          <a:p>
            <a:endParaRPr/>
          </a:p>
          <a:p>
            <a:r>
              <a:t>音频时长 54.74 秒；自动换页 56.24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PeopleLedger-v2/server/services/reconciliation.service.js</a:t>
            </a:r>
          </a:p>
          <a:p>
            <a:r>
              <a:t>PeopleLedger-v2/tests/server.reconciliation.test.cjs</a:t>
            </a:r>
          </a:p>
          <a:p>
            <a:r>
              <a:t>PeopleLedger-v2/tests/server.v2.test.cjs</a:t>
            </a:r>
          </a:p>
          <a:p>
            <a:r>
              <a:t>截图：.presentation-build/screenshots-work/04-reconciliation.png（隔离实例，虚构样例）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报告保存生成时的依据</a:t>
            </a:r>
          </a:p>
          <a:p>
            <a:r>
              <a:t>Reports preserve the evidence behind them</a:t>
            </a:r>
          </a:p>
          <a:p>
            <a:endParaRPr/>
          </a:p>
          <a:p>
            <a:r>
              <a:t>中文讲解稿</a:t>
            </a:r>
          </a:p>
          <a:p>
            <a:r>
              <a:t>资料经过检查后，可以生成报告草稿。报告不只是一些描述性文字，还会保存当时的工资、账目、银行记录、对账结果、导入元数据，以及相关规则和凭证版本。这意味着审批人批准的是一份有明确依据的报告，而不是一个会随着当前数据库不断变化的页面。举例来说，如果今天生成报告，明天某条工资记录发生调整，昨天的报告仍然应展示昨天的依据，并清楚说明它属于历史版本。对于缺少某些历史快照的旧报告，系统会明确表示输入不可用，而不会拿今天的数据填补昨天的证据空白。这一点对于解释和复查审批决定很重要。</a:t>
            </a:r>
          </a:p>
          <a:p>
            <a:endParaRPr/>
          </a:p>
          <a:p>
            <a:r>
              <a:t>音频时长 54.26 秒；自动换页 55.76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PeopleLedger-v2/server/services/reports.service.js</a:t>
            </a:r>
          </a:p>
          <a:p>
            <a:r>
              <a:t>PeopleLedger-v2/server/services/export.service.js</a:t>
            </a:r>
          </a:p>
          <a:p>
            <a:r>
              <a:t>PeopleLedger-v2/tests/server.v2.test.cjs</a:t>
            </a:r>
          </a:p>
          <a:p>
            <a:r>
              <a:t>截图：.presentation-build/screenshots-work/08-report-draft.png（隔离实例，虚构样例）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不同职责逐级审批</a:t>
            </a:r>
          </a:p>
          <a:p>
            <a:r>
              <a:t>Separate roles across review and approval</a:t>
            </a:r>
          </a:p>
          <a:p>
            <a:endParaRPr/>
          </a:p>
          <a:p>
            <a:r>
              <a:t>中文讲解稿</a:t>
            </a:r>
          </a:p>
          <a:p>
            <a:r>
              <a:t>这张页面展示人工审批环节。报告先由准备人员提交，再经过财务复核、管理确认，最后由董事批准。四个阶段要求不同的用户承担责任，避免同一个人既准备又一路批准自己的报告。每次决策都需要留下意见，服务端会检查当前状态、用户角色和此前的参与关系，因此隐藏一个按钮并不是唯一的权限保护。对于跳过阶段或者自行批准的请求，后台也应当拒绝。最终批准后，具备相应权限的董事可以继续封存报告。封存是批准后的状态操作，并不意味着还需要第五位独立审批人。这样的安排让业务职责和系统状态能够对应起来。</a:t>
            </a:r>
          </a:p>
          <a:p>
            <a:endParaRPr/>
          </a:p>
          <a:p>
            <a:r>
              <a:t>音频时长 56.16 秒；自动换页 57.66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PeopleLedger-v2/server/auth/rbac.js</a:t>
            </a:r>
          </a:p>
          <a:p>
            <a:r>
              <a:t>PeopleLedger-v2/server/services/reports.service.js</a:t>
            </a:r>
          </a:p>
          <a:p>
            <a:r>
              <a:t>PeopleLedger-v2/tests/server.workflow.test.cjs</a:t>
            </a:r>
          </a:p>
          <a:p>
            <a:r>
              <a:t>截图：.presentation-build/screenshots-work/13-approval-decisions.png（隔离实例，虚构样例）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凭证文件与证据包</a:t>
            </a:r>
          </a:p>
          <a:p>
            <a:r>
              <a:t>Versioned files and evidence exports</a:t>
            </a:r>
          </a:p>
          <a:p>
            <a:endParaRPr/>
          </a:p>
          <a:p>
            <a:r>
              <a:t>中文讲解稿</a:t>
            </a:r>
          </a:p>
          <a:p>
            <a:r>
              <a:t>在凭证管理中，平台记录文件来源、上传者、时间、版本和 SHA 二五六摘要。替换或修正凭证时，会形成新的版本，便于保留历史依据。封存后的证据包包含报告、业务快照、检查和对账结果、审批记录、活动日志，以及相应的凭证文件与摘要清单。接收者因此可以检查包中的内容是否与记录一致。不过，文件摘要证明的是保存的字节是否发生变化，并不能证明原始票据真实，也不能代替内容审核。当前样例中的 PDF 仍然需要人工阅读，项目没有把光学文字识别或自动票据鉴真描述成已经实现的功能。</a:t>
            </a:r>
          </a:p>
          <a:p>
            <a:endParaRPr/>
          </a:p>
          <a:p>
            <a:r>
              <a:t>音频时长 53.71 秒；自动换页 55.21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PeopleLedger-v2/server/services/evidence.service.js</a:t>
            </a:r>
          </a:p>
          <a:p>
            <a:r>
              <a:t>PeopleLedger-v2/server/services/export.service.js</a:t>
            </a:r>
          </a:p>
          <a:p>
            <a:r>
              <a:t>截图：.presentation-build/screenshots-work/06-evidence.png（隔离实例，虚构样例）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修改、访问与决策留痕</a:t>
            </a:r>
          </a:p>
          <a:p>
            <a:r>
              <a:t>An activity trail for review and accountability</a:t>
            </a:r>
          </a:p>
          <a:p>
            <a:endParaRPr/>
          </a:p>
          <a:p>
            <a:r>
              <a:t>中文讲解稿</a:t>
            </a:r>
          </a:p>
          <a:p>
            <a:r>
              <a:t>可追溯性不仅体现在最后的导出文件，也体现在日常操作记录。平台保留修改、访问和审批相关活动，使复核人员能够了解谁在什么时间执行了什么操作。针对案件的访问，还需要有效的成员关系。审计访问可以设定期限，也可以撤销，并对读取和导出留下记录。如果已经形成报告后再修改来源数据，平台不会把历史审批直接当成新数据的批准。旧报告保留其历史状态，而新的资料需要重新进入检查和报告流程。我们在展示中强调的是这些已经实现的控制逻辑。日志保存并不自动等于企业级不可篡改存储，后续仍然需要完善运维、备份和独立保管机制。</a:t>
            </a:r>
          </a:p>
          <a:p>
            <a:endParaRPr/>
          </a:p>
          <a:p>
            <a:r>
              <a:t>音频时长 57.86 秒；自动换页 59.36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PeopleLedger-v2/server/auth/access.js</a:t>
            </a:r>
          </a:p>
          <a:p>
            <a:r>
              <a:t>PeopleLedger-v2/server/services/audit.service.js</a:t>
            </a:r>
          </a:p>
          <a:p>
            <a:r>
              <a:t>PeopleLedger-v2/server/services/reports.service.js</a:t>
            </a:r>
          </a:p>
          <a:p>
            <a:r>
              <a:t>PeopleLedger-v2/tests/server.security.test.cjs</a:t>
            </a:r>
          </a:p>
          <a:p>
            <a:r>
              <a:t>截图：.presentation-build/screenshots-work/14-audit-trail.png（隔离实例，虚构样例）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招聘资料延伸到入职</a:t>
            </a:r>
          </a:p>
          <a:p>
            <a:r>
              <a:t>Recruitment records connect to onboarding</a:t>
            </a:r>
          </a:p>
          <a:p>
            <a:endParaRPr/>
          </a:p>
          <a:p>
            <a:r>
              <a:t>中文讲解稿</a:t>
            </a:r>
          </a:p>
          <a:p>
            <a:r>
              <a:t>除了月度工资和财务审阅，第二版还保留了招聘与入职流程。岗位开放前需要具备成本中心、职责、薪资范围和广告依据。候选人按照申请、筛选、面试、录用邀约和入职等阶段推进，关键阶段需要相应资料，例如发出邀约之前需要评分卡。评分卡的修改会保留版本，录用后则生成供后续财务流程使用的必要员工信息。这里展示的价值是减少招聘资料与入职资料之间的断层。面试创建、改期和取消的流程也已经存在，但 Teams 日程仍然是模拟，项目尚未连接真实的 Microsoft Graph 服务，因此不能把界面中的会议状态当成真实会议已经创建的证明。</a:t>
            </a:r>
          </a:p>
          <a:p>
            <a:endParaRPr/>
          </a:p>
          <a:p>
            <a:r>
              <a:t>音频时长 57.91 秒；自动换页 59.41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PeopleLedger-v2/server/services/recruitment.service.js</a:t>
            </a:r>
          </a:p>
          <a:p>
            <a:r>
              <a:t>PeopleLedger-v2/server/services/interviews.service.js</a:t>
            </a:r>
          </a:p>
          <a:p>
            <a:r>
              <a:t>PeopleLedger-v2/tests/server.recruitment.test.cjs</a:t>
            </a:r>
          </a:p>
          <a:p>
            <a:r>
              <a:t>截图：.presentation-build/screenshots-work/07-recruitment.png（隔离实例，虚构样例）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辅助有明确权限边界</a:t>
            </a:r>
          </a:p>
          <a:p>
            <a:r>
              <a:t>AI assistance has explicit limits</a:t>
            </a:r>
          </a:p>
          <a:p>
            <a:endParaRPr/>
          </a:p>
          <a:p>
            <a:r>
              <a:t>中文讲解稿</a:t>
            </a:r>
          </a:p>
          <a:p>
            <a:r>
              <a:t>项目为人工智能辅助预留了模型适配器和工具执行流程，但默认运行的是明确标注的模拟模型。它可以帮助读取记录、检查结果、对账信息和证据，并保存报告草稿。金额、引用和关键结论还要经过服务器校验，而不是完全相信生成式文字。工具权限也有清楚限制，模型不能直接修改源记录、删除证据、批准报告、执行付款、授权用户或改变规则。代码中存在本地模型和云端模型的可选适配器，但配置项存在，并不代表真实模型已经连通或效果已经验证。实际部署时，需要分别测试连接、权限、成本和输出质量。最终业务决策仍然由有职责的人员完成。</a:t>
            </a:r>
          </a:p>
          <a:p>
            <a:endParaRPr/>
          </a:p>
          <a:p>
            <a:r>
              <a:t>音频时长 59.76 秒；自动换页 61.26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PeopleLedger-v2/server/config.js</a:t>
            </a:r>
          </a:p>
          <a:p>
            <a:r>
              <a:t>PeopleLedger-v2/server/agent/tools.js</a:t>
            </a:r>
          </a:p>
          <a:p>
            <a:r>
              <a:t>PeopleLedger-v2/server/agent/draft.js</a:t>
            </a:r>
          </a:p>
          <a:p>
            <a:r>
              <a:t>PeopleLedger-v2/server/adapters/model/</a:t>
            </a:r>
          </a:p>
          <a:p>
            <a:r>
              <a:t>截图：.presentation-build/screenshots-work/12-agent.png（隔离实例，虚构样例）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实现结构与数据保存</a:t>
            </a:r>
          </a:p>
          <a:p>
            <a:r>
              <a:t>Implementation and persistence</a:t>
            </a:r>
          </a:p>
          <a:p>
            <a:endParaRPr/>
          </a:p>
          <a:p>
            <a:r>
              <a:t>中文讲解稿</a:t>
            </a:r>
          </a:p>
          <a:p>
            <a:r>
              <a:t>从技术结构来看，当前项目使用网页工作区连接 Node.js 服务端。服务端先处理会话和权限，再进入业务服务，执行检查、银行对账、审批和快照等操作。默认的数据持久化采用 SQLite，凭证内容保存在受管理的本地文件目录。这样的结构比早期只依赖浏览器存储的原型，更适合展示多角色协作和服务重启后的数据保留。项目还提供 PostgreSQL、Ollama、Bedrock 和 S3 等可选连接，但需要分别完成环境配置和真实集成验证。这一页介绍的是当前代码和本地运行结构，不代表系统已经部署到云端，也不代表已经完成生产环境的容量、安全和恢复评估。</a:t>
            </a:r>
          </a:p>
          <a:p>
            <a:endParaRPr/>
          </a:p>
          <a:p>
            <a:r>
              <a:t>音频时长 58.34 秒；自动换页 59.84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PeopleLedger-v2/package.json</a:t>
            </a:r>
          </a:p>
          <a:p>
            <a:r>
              <a:t>PeopleLedger-v2/server/index.js</a:t>
            </a:r>
          </a:p>
          <a:p>
            <a:r>
              <a:t>PeopleLedger-v2/server/config.js</a:t>
            </a:r>
          </a:p>
          <a:p>
            <a:r>
              <a:t>PeopleLedger-v2/server/adapters/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已经验证的实现结果</a:t>
            </a:r>
          </a:p>
          <a:p>
            <a:r>
              <a:t>Verification results for this project</a:t>
            </a:r>
          </a:p>
          <a:p>
            <a:endParaRPr/>
          </a:p>
          <a:p>
            <a:r>
              <a:t>中文讲解稿</a:t>
            </a:r>
          </a:p>
          <a:p>
            <a:r>
              <a:t>本次准备展示时，我们运行了项目现有的检查和测试。结果是七十一个源文件通过语法检查，一百一十六项自动化测试全部通过，没有失败，也没有跳过。测试覆盖金额计算、导入、对账、权限、审批顺序、历史快照、招聘，以及模型工具限制等行为。部分测试使用隔离的内存存储和模拟模型，SQLite 测试则使用临时数据库，检查重启后的会话、回滚、并发和历史导出。这些结果支持我们说明：当前实现的关键逻辑具有可重复验证的证据。但它们不等同于真实 PostgreSQL、外部人工智能服务或企业业务系统的联调已经完成，也不能替代后续的用户验收和安全评估。</a:t>
            </a:r>
          </a:p>
          <a:p>
            <a:endParaRPr/>
          </a:p>
          <a:p>
            <a:r>
              <a:t>音频时长 59.47 秒；自动换页 60.97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PeopleLedger-v2/package.json</a:t>
            </a:r>
          </a:p>
          <a:p>
            <a:r>
              <a:t>PeopleLedger-v2/scripts/check.js</a:t>
            </a:r>
          </a:p>
          <a:p>
            <a:r>
              <a:t>PeopleLedger-v2/tests/</a:t>
            </a:r>
          </a:p>
          <a:p>
            <a:r>
              <a:t>Local verification on 2026-09-27: 116 tests passed, 71 files syntax checked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当前成果与应用边界</a:t>
            </a:r>
          </a:p>
          <a:p>
            <a:r>
              <a:t>Current capabilities and remaining boundaries</a:t>
            </a:r>
          </a:p>
          <a:p>
            <a:endParaRPr/>
          </a:p>
          <a:p>
            <a:r>
              <a:t>中文讲解稿</a:t>
            </a:r>
          </a:p>
          <a:p>
            <a:r>
              <a:t>在评价成果时，明确边界与展示功能同样重要。当前版本已经实现了一个能够运行、检查和追溯的业务流程，但它仍然是本地演示和验证阶段的应用。业务规则不覆盖完整法规判断，模型默认是模拟，Teams 日程没有连接真实服务，凭证内容仍然依靠人工审核。企业部署还需要单点登录、备份恢复、独立的安全评估，以及真实外部连接的验证。我们也没有宣称已经取得某个效率提升比例，或者能够支持某个规模的真实并发用户，因为项目目前没有相应的测量证据。把这些边界说清楚，可以让后续开发有明确方向，也让评审者准确理解本次完成的范围。</a:t>
            </a:r>
          </a:p>
          <a:p>
            <a:endParaRPr/>
          </a:p>
          <a:p>
            <a:r>
              <a:t>音频时长 55.92 秒；自动换页 57.42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PeopleLedger-v2/README.md</a:t>
            </a:r>
          </a:p>
          <a:p>
            <a:r>
              <a:t>PeopleLedger-v2/server/config.js</a:t>
            </a:r>
          </a:p>
          <a:p>
            <a:r>
              <a:t>PeopleLedger-v2/server/services/interviews.service.js</a:t>
            </a:r>
          </a:p>
          <a:p>
            <a:r>
              <a:t>PeopleLedger-v2/server/services/evidence.service.js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后续验证与落地顺序</a:t>
            </a:r>
          </a:p>
          <a:p>
            <a:r>
              <a:t>A practical path to the next stage</a:t>
            </a:r>
          </a:p>
          <a:p>
            <a:endParaRPr/>
          </a:p>
          <a:p>
            <a:r>
              <a:t>中文讲解稿</a:t>
            </a:r>
          </a:p>
          <a:p>
            <a:r>
              <a:t>下一阶段建议按照验证风险来安排工作，而不是一次加入所有外部服务。首先，和实际准备人员、财务复核人员一起确认字段、规则与审批意见是否符合工作需要，并完成用户验收场景。接着完善身份接入、备份和恢复演练，确保数据能保存，也能在需要时恢复。然后再逐项接入真实数据库、模型、文件存储或会议服务，每增加一个连接都补充独立的集成测试。最后，在受控的试点范围中测量处理时间、问题发现情况和使用反馈，再据此讨论业务收益。这些是后续工作建议，不是已经承诺完成的交付日期或已经取得的结果。</a:t>
            </a:r>
          </a:p>
          <a:p>
            <a:endParaRPr/>
          </a:p>
          <a:p>
            <a:r>
              <a:t>音频时长 55.34 秒；自动换页 56.84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PeopleLedger-v2/README.md</a:t>
            </a:r>
          </a:p>
          <a:p>
            <a:r>
              <a:t>Recommendations based on verified current implementation boundaries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成果回顾与交流</a:t>
            </a:r>
          </a:p>
          <a:p>
            <a:r>
              <a:t>Project recap and discussion</a:t>
            </a:r>
          </a:p>
          <a:p>
            <a:endParaRPr/>
          </a:p>
          <a:p>
            <a:r>
              <a:t>中文讲解稿</a:t>
            </a:r>
          </a:p>
          <a:p>
            <a:r>
              <a:t>以上就是 People Ledger 第二版的成果展示。项目把员工工资、支付账目、银行对账和人工审批组织在同一个案件流程中，并通过版本快照和证据导出保存决策依据。我们展示了真实运行的界面，也说明了一百一十六项自动化测试所覆盖的实现结果，以及模型、外部连接和企业部署仍然存在的边界。希望这份展示能够清楚回答三个问题：系统已经能做什么，结果依据是什么，下一阶段还需要验证什么。谢谢观看，欢迎围绕业务流程、实现方式和后续应用展开讨论。</a:t>
            </a:r>
          </a:p>
          <a:p>
            <a:endParaRPr/>
          </a:p>
          <a:p>
            <a:r>
              <a:t>音频时长 47.59 秒；自动换页 49.09 秒。</a:t>
            </a:r>
          </a:p>
          <a:p>
            <a:endParaRPr/>
          </a:p>
          <a:p>
            <a:r>
              <a:t>依据</a:t>
            </a:r>
          </a:p>
          <a:p>
            <a:r>
              <a:t>PeopleLedger-v2/README.md</a:t>
            </a:r>
          </a:p>
          <a:p>
            <a:r>
              <a:t>PeopleLedger-v2/tests/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6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ge-number">
            <a:extLst>
              <a:ext uri="{FF2B5EF4-FFF2-40B4-BE49-F238E27FC236}">
                <a16:creationId xmlns:a16="http://schemas.microsoft.com/office/drawing/2014/main" id="{4B73405E-8F43-48BE-A96C-5EA0D6F42093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rPr>
              <a:t>01 / 20</a:t>
            </a:r>
          </a:p>
        </p:txBody>
      </p:sp>
      <p:sp>
        <p:nvSpPr>
          <p:cNvPr id="2" name="cover-brand">
            <a:extLst>
              <a:ext uri="{FF2B5EF4-FFF2-40B4-BE49-F238E27FC236}">
                <a16:creationId xmlns:a16="http://schemas.microsoft.com/office/drawing/2014/main" id="{E47F8D28-8C75-4FA9-B553-3F3DEE44C6CB}"/>
              </a:ext>
            </a:extLst>
          </p:cNvPr>
          <p:cNvSpPr>
            <a:spLocks noGrp="1"/>
          </p:cNvSpPr>
          <p:nvPr/>
        </p:nvSpPr>
        <p:spPr>
          <a:xfrm>
            <a:off x="704850" y="1285875"/>
            <a:ext cx="10715625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PeopleLedger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4B10747-40E0-40DC-B182-4E057F07404C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人力与财务一体化审阅平台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1EC5C04-B4BB-4890-902D-CD2BAF9856DB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75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rPr>
              <a:t>HR and Finance Review Platform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112D977A-8365-46F5-A003-4BF0CFFBFE73}"/>
              </a:ext>
            </a:extLst>
          </p:cNvPr>
          <p:cNvSpPr>
            <a:spLocks noGrp="1"/>
          </p:cNvSpPr>
          <p:nvPr/>
        </p:nvSpPr>
        <p:spPr>
          <a:xfrm>
            <a:off x="771525" y="5010150"/>
            <a:ext cx="10287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00" b="0">
                <a:solidFill>
                  <a:srgbClr val="D5E6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5E6E0"/>
                </a:solidFill>
                <a:latin typeface="Microsoft YaHei"/>
                <a:ea typeface="Microsoft YaHei"/>
                <a:cs typeface="Microsoft YaHei"/>
              </a:rPr>
              <a:t>项目成果展示 / Project demonstration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91F762F-38C1-4449-9A38-FA75DA35F8A7}"/>
              </a:ext>
            </a:extLst>
          </p:cNvPr>
          <p:cNvSpPr>
            <a:spLocks noGrp="1"/>
          </p:cNvSpPr>
          <p:nvPr/>
        </p:nvSpPr>
        <p:spPr>
          <a:xfrm>
            <a:off x="790575" y="561975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rPr>
              <a:t>20 页中英演示    中文自动讲解约 19 分钟</a:t>
            </a:r>
          </a:p>
        </p:txBody>
      </p:sp>
      <p:pic>
        <p:nvPicPr>
          <p:cNvPr id="8" name="Narration_Slide_1" descr="Mandarin narration for slide 1">
            <a:hlinkClick action="ppaction://media"/>
            <a:extLst>
              <a:ext uri="{FF2B5EF4-FFF2-40B4-BE49-F238E27FC236}">
                <a16:creationId xmlns:a16="http://schemas.microsoft.com/office/drawing/2014/main" id="{52C8C665-0EB1-CA2D-6784-E5BA429992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31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7772"/>
    </mc:Choice>
    <mc:Fallback>
      <p:transition spd="slow" advClick="0" advTm="477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title">
            <a:extLst>
              <a:ext uri="{FF2B5EF4-FFF2-40B4-BE49-F238E27FC236}">
                <a16:creationId xmlns:a16="http://schemas.microsoft.com/office/drawing/2014/main" id="{671B336D-08F7-493C-8D3E-FBB816FD3FD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跨部门审阅中的信息断点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8A36B7D-6AB7-4062-891B-1952DAC30F53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Gaps in cross-functional review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25685EB-E6F1-4337-AB0A-B73F3943D108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02 / 20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A6AD34F-9C26-42D9-B81D-E75041333FB6}"/>
              </a:ext>
            </a:extLst>
          </p:cNvPr>
          <p:cNvSpPr>
            <a:spLocks noGrp="1"/>
          </p:cNvSpPr>
          <p:nvPr/>
        </p:nvSpPr>
        <p:spPr>
          <a:xfrm>
            <a:off x="628650" y="1895475"/>
            <a:ext cx="9715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2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8C118018-7408-4DCD-9CD8-FE4C7D310035}"/>
              </a:ext>
            </a:extLst>
          </p:cNvPr>
          <p:cNvSpPr>
            <a:spLocks noGrp="1"/>
          </p:cNvSpPr>
          <p:nvPr/>
        </p:nvSpPr>
        <p:spPr>
          <a:xfrm>
            <a:off x="1857375" y="1914525"/>
            <a:ext cx="94297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工资、账目和银行记录分散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C346A1A5-39E8-46C6-A57A-490DE8732923}"/>
              </a:ext>
            </a:extLst>
          </p:cNvPr>
          <p:cNvSpPr>
            <a:spLocks noGrp="1"/>
          </p:cNvSpPr>
          <p:nvPr/>
        </p:nvSpPr>
        <p:spPr>
          <a:xfrm>
            <a:off x="1857375" y="2476500"/>
            <a:ext cx="9429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Payroll, ledger and bank data sit apart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AE2470B3-DD0D-47C7-8429-FF5441CE5A0D}"/>
              </a:ext>
            </a:extLst>
          </p:cNvPr>
          <p:cNvSpPr>
            <a:spLocks noGrp="1"/>
          </p:cNvSpPr>
          <p:nvPr/>
        </p:nvSpPr>
        <p:spPr>
          <a:xfrm>
            <a:off x="628650" y="3228975"/>
            <a:ext cx="9715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2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416F7BE-8210-453D-878A-D626619601A6}"/>
              </a:ext>
            </a:extLst>
          </p:cNvPr>
          <p:cNvSpPr>
            <a:spLocks noGrp="1"/>
          </p:cNvSpPr>
          <p:nvPr/>
        </p:nvSpPr>
        <p:spPr>
          <a:xfrm>
            <a:off x="1857375" y="3248025"/>
            <a:ext cx="94297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修改之后，旧报告容易继续流转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79BBF42E-2544-4E8C-9B4B-B2FF3E34CFEA}"/>
              </a:ext>
            </a:extLst>
          </p:cNvPr>
          <p:cNvSpPr>
            <a:spLocks noGrp="1"/>
          </p:cNvSpPr>
          <p:nvPr/>
        </p:nvSpPr>
        <p:spPr>
          <a:xfrm>
            <a:off x="1857375" y="3810000"/>
            <a:ext cx="9429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Reports can outlive their source data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641B498A-9D76-4A19-B8D7-E4C9952BB229}"/>
              </a:ext>
            </a:extLst>
          </p:cNvPr>
          <p:cNvSpPr>
            <a:spLocks noGrp="1"/>
          </p:cNvSpPr>
          <p:nvPr/>
        </p:nvSpPr>
        <p:spPr>
          <a:xfrm>
            <a:off x="628650" y="4562475"/>
            <a:ext cx="9715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2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D58E87A4-63B0-44B2-95F6-12A8477D518C}"/>
              </a:ext>
            </a:extLst>
          </p:cNvPr>
          <p:cNvSpPr>
            <a:spLocks noGrp="1"/>
          </p:cNvSpPr>
          <p:nvPr/>
        </p:nvSpPr>
        <p:spPr>
          <a:xfrm>
            <a:off x="1857375" y="4581525"/>
            <a:ext cx="94297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审批意见与原始凭证难以对应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50959DE8-8FFD-4C21-95EB-EABC0FDC4422}"/>
              </a:ext>
            </a:extLst>
          </p:cNvPr>
          <p:cNvSpPr>
            <a:spLocks noGrp="1"/>
          </p:cNvSpPr>
          <p:nvPr/>
        </p:nvSpPr>
        <p:spPr>
          <a:xfrm>
            <a:off x="1857375" y="5143500"/>
            <a:ext cx="9429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Decisions need traceable evidence</a:t>
            </a:r>
          </a:p>
        </p:txBody>
      </p:sp>
      <p:pic>
        <p:nvPicPr>
          <p:cNvPr id="14" name="Narration_Slide_2" descr="Mandarin narration for slide 2">
            <a:hlinkClick action="ppaction://media"/>
            <a:extLst>
              <a:ext uri="{FF2B5EF4-FFF2-40B4-BE49-F238E27FC236}">
                <a16:creationId xmlns:a16="http://schemas.microsoft.com/office/drawing/2014/main" id="{7ACBA12A-418B-2549-5321-E3630B6AB2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02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8332"/>
    </mc:Choice>
    <mc:Fallback>
      <p:transition spd="slow" advClick="0" advTm="583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FFA45FAB-092F-48C5-9AEA-84F7F0F9689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第二版的主要成果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64F6474F-2093-402F-A008-7048A5CFAF57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What changed in the maintained version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15975EAC-23E0-4DF6-B6C1-8762BEEF65AD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03 / 20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09600" y="1752600"/>
          <a:ext cx="10972800" cy="4191000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Capability</a:t>
                      </a:r>
                    </a:p>
                  </a:txBody>
                  <a:tcPr marL="152400" marR="152400" marT="85725" marB="85725" anchor="ctr">
                    <a:solidFill>
                      <a:srgbClr val="1536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早期原型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Earlier prototype</a:t>
                      </a:r>
                    </a:p>
                  </a:txBody>
                  <a:tcPr marL="152400" marR="152400" marT="85725" marB="85725" anchor="ctr">
                    <a:solidFill>
                      <a:srgbClr val="1536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当前第二版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Current v2</a:t>
                      </a:r>
                    </a:p>
                  </a:txBody>
                  <a:tcPr marL="152400" marR="152400" marT="85725" marB="85725" anchor="ctr">
                    <a:solidFill>
                      <a:srgbClr val="1536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数据保存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Persistence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浏览器本地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Browser storage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服务器 SQLite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Server SQLite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访问控制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Access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角色模拟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Role simulation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账号、会话与权限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Accounts and permissions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业务资料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Inputs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主要为工资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Primarily payroll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工资、账目、银行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Payroll, ledger and bank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审阅证据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编号引用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Reference numbers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文件、版本与导出包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Files, versions and ZIP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Narration_Slide_3" descr="Mandarin narration for slide 3">
            <a:hlinkClick action="ppaction://media"/>
            <a:extLst>
              <a:ext uri="{FF2B5EF4-FFF2-40B4-BE49-F238E27FC236}">
                <a16:creationId xmlns:a16="http://schemas.microsoft.com/office/drawing/2014/main" id="{8ED3C322-20A1-35E0-2F60-A18CF973FC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28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8668"/>
    </mc:Choice>
    <mc:Fallback>
      <p:transition spd="slow" advClick="0" advTm="586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3FC5D5E9-F749-426F-948C-771FF1A339F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一条完整的审阅流程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F3F299A-8FD1-4A7F-A731-7F942FFA1206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The complete review workflow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6E3023EC-5440-4CAC-97BB-BE57612A0E3B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04 / 20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12DD2D4-4EF4-4579-87EE-788D192437AC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952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8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A70031F-54FB-45B7-A8F1-D54C586FBD41}"/>
              </a:ext>
            </a:extLst>
          </p:cNvPr>
          <p:cNvSpPr>
            <a:spLocks noGrp="1"/>
          </p:cNvSpPr>
          <p:nvPr/>
        </p:nvSpPr>
        <p:spPr>
          <a:xfrm>
            <a:off x="2038350" y="1828800"/>
            <a:ext cx="8763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62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资料准备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35CCF98-368D-4E7F-9529-24A2DA6942C0}"/>
              </a:ext>
            </a:extLst>
          </p:cNvPr>
          <p:cNvSpPr>
            <a:spLocks noGrp="1"/>
          </p:cNvSpPr>
          <p:nvPr/>
        </p:nvSpPr>
        <p:spPr>
          <a:xfrm>
            <a:off x="2076450" y="2333625"/>
            <a:ext cx="876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Import and prepare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5AE2E67-945B-44AC-B9FA-6CB5AF310CFD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952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8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206D0CB-2CBC-412A-B0F9-391EA4C009A8}"/>
              </a:ext>
            </a:extLst>
          </p:cNvPr>
          <p:cNvSpPr>
            <a:spLocks noGrp="1"/>
          </p:cNvSpPr>
          <p:nvPr/>
        </p:nvSpPr>
        <p:spPr>
          <a:xfrm>
            <a:off x="2038350" y="2895600"/>
            <a:ext cx="8763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62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检查与银行对账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190644C8-06ED-4D2F-802C-28DDC7047008}"/>
              </a:ext>
            </a:extLst>
          </p:cNvPr>
          <p:cNvSpPr>
            <a:spLocks noGrp="1"/>
          </p:cNvSpPr>
          <p:nvPr/>
        </p:nvSpPr>
        <p:spPr>
          <a:xfrm>
            <a:off x="2076450" y="3400425"/>
            <a:ext cx="876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Check and reconcile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188C35E8-93D8-49AB-B000-3979DFA92992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952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8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774DE19D-CA4F-45BF-9E67-9DB8A89B4C19}"/>
              </a:ext>
            </a:extLst>
          </p:cNvPr>
          <p:cNvSpPr>
            <a:spLocks noGrp="1"/>
          </p:cNvSpPr>
          <p:nvPr/>
        </p:nvSpPr>
        <p:spPr>
          <a:xfrm>
            <a:off x="2038350" y="3962400"/>
            <a:ext cx="8763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62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报告与逐级审批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B5F9C880-95CB-421F-B99D-4292A1CC35AE}"/>
              </a:ext>
            </a:extLst>
          </p:cNvPr>
          <p:cNvSpPr>
            <a:spLocks noGrp="1"/>
          </p:cNvSpPr>
          <p:nvPr/>
        </p:nvSpPr>
        <p:spPr>
          <a:xfrm>
            <a:off x="2076450" y="4467225"/>
            <a:ext cx="876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Report and approve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82D31AA4-ADDD-4D6C-970A-1B44D7A357BB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952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8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33F1EBFA-44CC-4594-9523-5B9677137672}"/>
              </a:ext>
            </a:extLst>
          </p:cNvPr>
          <p:cNvSpPr>
            <a:spLocks noGrp="1"/>
          </p:cNvSpPr>
          <p:nvPr/>
        </p:nvSpPr>
        <p:spPr>
          <a:xfrm>
            <a:off x="2038350" y="5029200"/>
            <a:ext cx="8763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62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封存与证据导出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53592C0-DD58-4534-902D-17306092E4BA}"/>
              </a:ext>
            </a:extLst>
          </p:cNvPr>
          <p:cNvSpPr>
            <a:spLocks noGrp="1"/>
          </p:cNvSpPr>
          <p:nvPr/>
        </p:nvSpPr>
        <p:spPr>
          <a:xfrm>
            <a:off x="2076450" y="5534025"/>
            <a:ext cx="876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Seal and export</a:t>
            </a:r>
          </a:p>
        </p:txBody>
      </p:sp>
      <p:pic>
        <p:nvPicPr>
          <p:cNvPr id="17" name="Narration_Slide_4" descr="Mandarin narration for slide 4">
            <a:hlinkClick action="ppaction://media"/>
            <a:extLst>
              <a:ext uri="{FF2B5EF4-FFF2-40B4-BE49-F238E27FC236}">
                <a16:creationId xmlns:a16="http://schemas.microsoft.com/office/drawing/2014/main" id="{AB58DB25-28E0-C264-A908-8CD8D3F927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46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7444"/>
    </mc:Choice>
    <mc:Fallback>
      <p:transition spd="slow" advClick="0" advTm="57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AF73CDC6-DE7A-423B-A682-370A8015838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演示数据与财务结果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4E249C53-8018-4A2D-8525-A671B41BE96D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The sample case and its financial totals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263D6374-22D3-4518-A1DD-102E0E7A19B3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05 / 20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628650" y="1866900"/>
          <a:ext cx="7877175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text-3">
            <a:extLst>
              <a:ext uri="{FF2B5EF4-FFF2-40B4-BE49-F238E27FC236}">
                <a16:creationId xmlns:a16="http://schemas.microsoft.com/office/drawing/2014/main" id="{C698B4EC-222E-44EC-A657-213D840CF49C}"/>
              </a:ext>
            </a:extLst>
          </p:cNvPr>
          <p:cNvSpPr>
            <a:spLocks noGrp="1"/>
          </p:cNvSpPr>
          <p:nvPr/>
        </p:nvSpPr>
        <p:spPr>
          <a:xfrm>
            <a:off x="9210675" y="1962150"/>
            <a:ext cx="20193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57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F23BA10A-6B05-4EB8-A344-FB0DE2DB68A9}"/>
              </a:ext>
            </a:extLst>
          </p:cNvPr>
          <p:cNvSpPr>
            <a:spLocks noGrp="1"/>
          </p:cNvSpPr>
          <p:nvPr/>
        </p:nvSpPr>
        <p:spPr>
          <a:xfrm>
            <a:off x="9229725" y="29051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名虚构员工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7F98640B-7BB9-48B7-AB6B-EA70F58324A3}"/>
              </a:ext>
            </a:extLst>
          </p:cNvPr>
          <p:cNvSpPr>
            <a:spLocks noGrp="1"/>
          </p:cNvSpPr>
          <p:nvPr/>
        </p:nvSpPr>
        <p:spPr>
          <a:xfrm>
            <a:off x="9229725" y="3343275"/>
            <a:ext cx="2190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Fictional employees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94543B42-A0A3-446D-85EF-AC4F742CC3E7}"/>
              </a:ext>
            </a:extLst>
          </p:cNvPr>
          <p:cNvSpPr>
            <a:spLocks noGrp="1"/>
          </p:cNvSpPr>
          <p:nvPr/>
        </p:nvSpPr>
        <p:spPr>
          <a:xfrm>
            <a:off x="9153525" y="4086225"/>
            <a:ext cx="23717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42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8 / 8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615FBC98-09B4-4FDD-865C-1C19B9EDDAE3}"/>
              </a:ext>
            </a:extLst>
          </p:cNvPr>
          <p:cNvSpPr>
            <a:spLocks noGrp="1"/>
          </p:cNvSpPr>
          <p:nvPr/>
        </p:nvSpPr>
        <p:spPr>
          <a:xfrm>
            <a:off x="9229725" y="4905375"/>
            <a:ext cx="23050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账目与银行流水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26B314D4-A26D-428F-AF1E-803B0C9F7C6D}"/>
              </a:ext>
            </a:extLst>
          </p:cNvPr>
          <p:cNvSpPr>
            <a:spLocks noGrp="1"/>
          </p:cNvSpPr>
          <p:nvPr/>
        </p:nvSpPr>
        <p:spPr>
          <a:xfrm>
            <a:off x="9229725" y="5353050"/>
            <a:ext cx="23050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Ledger and bank rows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44D5F04C-E1E1-44DB-A63B-C632C7FF954A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287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合成数据，金额单位 SGD；净流入不代表净利润</a:t>
            </a:r>
          </a:p>
        </p:txBody>
      </p:sp>
      <p:pic>
        <p:nvPicPr>
          <p:cNvPr id="4" name="Narration_Slide_5" descr="Mandarin narration for slide 5">
            <a:hlinkClick action="ppaction://media"/>
            <a:extLst>
              <a:ext uri="{FF2B5EF4-FFF2-40B4-BE49-F238E27FC236}">
                <a16:creationId xmlns:a16="http://schemas.microsoft.com/office/drawing/2014/main" id="{21344B0F-E428-8CE5-3D32-CA7C7D214F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70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2380"/>
    </mc:Choice>
    <mc:Fallback>
      <p:transition spd="slow" advClick="0" advTm="523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CC8A8517-A781-46EA-8DCC-1B5F0100497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统一的案件工作区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BA1FA98-38E4-4A99-82C0-232AF8DF80A3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A shared workspace for each case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3EB5F247-CF0F-446C-8E7A-F7DBBBC4C2BE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06 / 20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14844" t="9074" r="1823" b="54630"/>
          <a:stretch/>
        </p:blipFill>
        <p:spPr>
          <a:xfrm>
            <a:off x="609600" y="2261045"/>
            <a:ext cx="10972800" cy="2688336"/>
          </a:xfrm>
          <a:prstGeom prst="rect">
            <a:avLst/>
          </a:prstGeom>
        </p:spPr>
      </p:pic>
      <p:sp>
        <p:nvSpPr>
          <p:cNvPr id="5" name="text-3">
            <a:extLst>
              <a:ext uri="{FF2B5EF4-FFF2-40B4-BE49-F238E27FC236}">
                <a16:creationId xmlns:a16="http://schemas.microsoft.com/office/drawing/2014/main" id="{D820D8F1-8C48-4B47-8A08-1CB5538E160A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按案件组织资料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29E86ED7-232F-41FC-968D-6144FDF665F7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Case-based records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E83F21B7-B91B-4F8F-8613-9E5F85325B8A}"/>
              </a:ext>
            </a:extLst>
          </p:cNvPr>
          <p:cNvSpPr>
            <a:spLocks noGrp="1"/>
          </p:cNvSpPr>
          <p:nvPr/>
        </p:nvSpPr>
        <p:spPr>
          <a:xfrm>
            <a:off x="63246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集中查看处理状态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6AE9124E-65EF-425A-9CF3-E86D30238E8A}"/>
              </a:ext>
            </a:extLst>
          </p:cNvPr>
          <p:cNvSpPr>
            <a:spLocks noGrp="1"/>
          </p:cNvSpPr>
          <p:nvPr/>
        </p:nvSpPr>
        <p:spPr>
          <a:xfrm>
            <a:off x="63246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Review progress in one place</a:t>
            </a:r>
          </a:p>
        </p:txBody>
      </p:sp>
      <p:pic>
        <p:nvPicPr>
          <p:cNvPr id="4" name="Narration_Slide_6" descr="Mandarin narration for slide 6">
            <a:hlinkClick action="ppaction://media"/>
            <a:extLst>
              <a:ext uri="{FF2B5EF4-FFF2-40B4-BE49-F238E27FC236}">
                <a16:creationId xmlns:a16="http://schemas.microsoft.com/office/drawing/2014/main" id="{BBF1FB7F-40A2-9ECA-01AC-63930BF816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77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2044"/>
    </mc:Choice>
    <mc:Fallback>
      <p:transition spd="slow" advClick="0" advTm="520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E2C9BE34-326C-4E5D-B47D-2A4BC4CF57B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数据导入与工资记录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4E4E5EE-EB59-4F49-AF57-537B5F3444F0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Import validation and payroll records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F06E3A4C-1BA4-473C-86B6-D54947939621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07 / 20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33594" t="48519" r="33594" b="15185"/>
          <a:stretch/>
        </p:blipFill>
        <p:spPr>
          <a:xfrm>
            <a:off x="5867400" y="2247900"/>
            <a:ext cx="5715000" cy="3556000"/>
          </a:xfrm>
          <a:prstGeom prst="rect">
            <a:avLst/>
          </a:prstGeom>
        </p:spPr>
      </p:pic>
      <p:sp>
        <p:nvSpPr>
          <p:cNvPr id="5" name="text-3">
            <a:extLst>
              <a:ext uri="{FF2B5EF4-FFF2-40B4-BE49-F238E27FC236}">
                <a16:creationId xmlns:a16="http://schemas.microsoft.com/office/drawing/2014/main" id="{D27EC6A4-A8A7-403F-A526-1DFDF787CDC6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762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先预览，再确认导入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650F84B0-0F32-42DB-87D9-FD687DFC732F}"/>
              </a:ext>
            </a:extLst>
          </p:cNvPr>
          <p:cNvSpPr>
            <a:spLocks noGrp="1"/>
          </p:cNvSpPr>
          <p:nvPr/>
        </p:nvSpPr>
        <p:spPr>
          <a:xfrm>
            <a:off x="742950" y="2895600"/>
            <a:ext cx="4762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Preview before import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ADE136F9-8580-46F8-B178-50AED2F85933}"/>
              </a:ext>
            </a:extLst>
          </p:cNvPr>
          <p:cNvSpPr>
            <a:spLocks noGrp="1"/>
          </p:cNvSpPr>
          <p:nvPr/>
        </p:nvSpPr>
        <p:spPr>
          <a:xfrm>
            <a:off x="742950" y="4067175"/>
            <a:ext cx="4762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金额以整数分计算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BEB4E703-EE18-4E7D-A664-8166B549A2F4}"/>
              </a:ext>
            </a:extLst>
          </p:cNvPr>
          <p:cNvSpPr>
            <a:spLocks noGrp="1"/>
          </p:cNvSpPr>
          <p:nvPr/>
        </p:nvSpPr>
        <p:spPr>
          <a:xfrm>
            <a:off x="742950" y="4638675"/>
            <a:ext cx="4762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Money stored as integer cents</a:t>
            </a:r>
          </a:p>
        </p:txBody>
      </p:sp>
      <p:pic>
        <p:nvPicPr>
          <p:cNvPr id="4" name="Narration_Slide_7" descr="Mandarin narration for slide 7">
            <a:hlinkClick action="ppaction://media"/>
            <a:extLst>
              <a:ext uri="{FF2B5EF4-FFF2-40B4-BE49-F238E27FC236}">
                <a16:creationId xmlns:a16="http://schemas.microsoft.com/office/drawing/2014/main" id="{BEB8DA86-7638-88F4-6EDC-F627A14B8C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65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5068"/>
    </mc:Choice>
    <mc:Fallback>
      <p:transition spd="slow" advClick="0" advTm="550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64ED9B9B-CD4C-4366-9E10-2E1FCB461A3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规则检查与问题处理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EB3173CF-EDD2-4A75-858A-1A0CB15BDD35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Deterministic checks and issue handling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86911476-55D7-44CC-8BE4-D9DEB2EC8764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08 / 20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16354" t="9722" r="2604" b="37685"/>
          <a:stretch/>
        </p:blipFill>
        <p:spPr>
          <a:xfrm>
            <a:off x="812140" y="1676400"/>
            <a:ext cx="10567719" cy="3857625"/>
          </a:xfrm>
          <a:prstGeom prst="rect">
            <a:avLst/>
          </a:prstGeom>
        </p:spPr>
      </p:pic>
      <p:sp>
        <p:nvSpPr>
          <p:cNvPr id="5" name="text-3">
            <a:extLst>
              <a:ext uri="{FF2B5EF4-FFF2-40B4-BE49-F238E27FC236}">
                <a16:creationId xmlns:a16="http://schemas.microsoft.com/office/drawing/2014/main" id="{ED46A00D-E2CB-4C56-9FEB-91F83B8B9C74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14 条默认演示规则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8FED9051-1CD0-498C-9426-514CC6FFCBE1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14 default demonstration rules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7B4B45C7-EC04-4314-92C8-F64541788726}"/>
              </a:ext>
            </a:extLst>
          </p:cNvPr>
          <p:cNvSpPr>
            <a:spLocks noGrp="1"/>
          </p:cNvSpPr>
          <p:nvPr/>
        </p:nvSpPr>
        <p:spPr>
          <a:xfrm>
            <a:off x="63246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0 项阻断，6 项人工复核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8FCD9AD6-307F-4E58-BCBB-D697846878C7}"/>
              </a:ext>
            </a:extLst>
          </p:cNvPr>
          <p:cNvSpPr>
            <a:spLocks noGrp="1"/>
          </p:cNvSpPr>
          <p:nvPr/>
        </p:nvSpPr>
        <p:spPr>
          <a:xfrm>
            <a:off x="63246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0 blockers, 6 manual reviews</a:t>
            </a:r>
          </a:p>
        </p:txBody>
      </p:sp>
      <p:pic>
        <p:nvPicPr>
          <p:cNvPr id="4" name="Narration_Slide_8" descr="Mandarin narration for slide 8">
            <a:hlinkClick action="ppaction://media"/>
            <a:extLst>
              <a:ext uri="{FF2B5EF4-FFF2-40B4-BE49-F238E27FC236}">
                <a16:creationId xmlns:a16="http://schemas.microsoft.com/office/drawing/2014/main" id="{9E29A089-8FAB-FF78-131F-4ED46A9772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8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8740"/>
    </mc:Choice>
    <mc:Fallback>
      <p:transition spd="slow" advClick="0" advTm="587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EC679060-A53B-4051-A49D-23CFCAE5038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银行流水与账目一对一匹配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D02F631-6299-4A39-878F-40F85BDEF4E4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One-to-one bank reconciliation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735C51E8-EF09-49BD-BB49-BA434363D23D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09 / 20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16354" t="23611" r="2500" b="24074"/>
          <a:stretch/>
        </p:blipFill>
        <p:spPr>
          <a:xfrm>
            <a:off x="777257" y="1676400"/>
            <a:ext cx="10637486" cy="3857625"/>
          </a:xfrm>
          <a:prstGeom prst="rect">
            <a:avLst/>
          </a:prstGeom>
        </p:spPr>
      </p:pic>
      <p:sp>
        <p:nvSpPr>
          <p:cNvPr id="5" name="text-3">
            <a:extLst>
              <a:ext uri="{FF2B5EF4-FFF2-40B4-BE49-F238E27FC236}">
                <a16:creationId xmlns:a16="http://schemas.microsoft.com/office/drawing/2014/main" id="{AAE8C19A-CE50-4A4A-A0BE-D37449DC68B1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参考号、金额与收付方向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09B0CC9B-52E9-461B-9ECB-1F75EC304ACF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Reference, amount and direction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4329ACA3-DD4F-48D6-A633-F1D283B1E2A1}"/>
              </a:ext>
            </a:extLst>
          </p:cNvPr>
          <p:cNvSpPr>
            <a:spLocks noGrp="1"/>
          </p:cNvSpPr>
          <p:nvPr/>
        </p:nvSpPr>
        <p:spPr>
          <a:xfrm>
            <a:off x="63246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样例结果：8 / 8 匹配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DE89F7A-B67E-4407-8F51-46E965F076AF}"/>
              </a:ext>
            </a:extLst>
          </p:cNvPr>
          <p:cNvSpPr>
            <a:spLocks noGrp="1"/>
          </p:cNvSpPr>
          <p:nvPr/>
        </p:nvSpPr>
        <p:spPr>
          <a:xfrm>
            <a:off x="63246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Sample result: 8 of 8 matched</a:t>
            </a:r>
          </a:p>
        </p:txBody>
      </p:sp>
      <p:pic>
        <p:nvPicPr>
          <p:cNvPr id="4" name="Narration_Slide_9" descr="Mandarin narration for slide 9">
            <a:hlinkClick action="ppaction://media"/>
            <a:extLst>
              <a:ext uri="{FF2B5EF4-FFF2-40B4-BE49-F238E27FC236}">
                <a16:creationId xmlns:a16="http://schemas.microsoft.com/office/drawing/2014/main" id="{7BBD2F4D-3101-2B36-F5C7-B1315754DB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89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6244"/>
    </mc:Choice>
    <mc:Fallback>
      <p:transition spd="slow" advClick="0" advTm="562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1CD0286B-ECE3-40AD-B61F-C3A72750B05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报告保存生成时的依据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3B84071-0924-4434-A4E6-FEE89EEF9401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Reports preserve the evidence behind them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F0D4B8D-3C61-4D06-8E47-0667776459FB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10 / 20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30677" t="30833" r="2656" b="29352"/>
          <a:stretch/>
        </p:blipFill>
        <p:spPr>
          <a:xfrm>
            <a:off x="609600" y="1762125"/>
            <a:ext cx="10972800" cy="3686175"/>
          </a:xfrm>
          <a:prstGeom prst="rect">
            <a:avLst/>
          </a:prstGeom>
        </p:spPr>
      </p:pic>
      <p:sp>
        <p:nvSpPr>
          <p:cNvPr id="5" name="text-3">
            <a:extLst>
              <a:ext uri="{FF2B5EF4-FFF2-40B4-BE49-F238E27FC236}">
                <a16:creationId xmlns:a16="http://schemas.microsoft.com/office/drawing/2014/main" id="{D6F065EC-A52D-4D9C-90E4-31077F50DFEC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冻结相关数据快照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393FA45A-A221-449B-9321-E711E6F5EC9F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Frozen source snapshots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AF1B4C9C-CC65-4104-BD61-7C305BAD7B16}"/>
              </a:ext>
            </a:extLst>
          </p:cNvPr>
          <p:cNvSpPr>
            <a:spLocks noGrp="1"/>
          </p:cNvSpPr>
          <p:nvPr/>
        </p:nvSpPr>
        <p:spPr>
          <a:xfrm>
            <a:off x="63246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保留规则与凭证版本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0DCD3EB7-FACF-42BC-88FC-215C17DB6537}"/>
              </a:ext>
            </a:extLst>
          </p:cNvPr>
          <p:cNvSpPr>
            <a:spLocks noGrp="1"/>
          </p:cNvSpPr>
          <p:nvPr/>
        </p:nvSpPr>
        <p:spPr>
          <a:xfrm>
            <a:off x="63246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Rule and evidence versions</a:t>
            </a:r>
          </a:p>
        </p:txBody>
      </p:sp>
      <p:pic>
        <p:nvPicPr>
          <p:cNvPr id="4" name="Narration_Slide_10" descr="Mandarin narration for slide 10">
            <a:hlinkClick action="ppaction://media"/>
            <a:extLst>
              <a:ext uri="{FF2B5EF4-FFF2-40B4-BE49-F238E27FC236}">
                <a16:creationId xmlns:a16="http://schemas.microsoft.com/office/drawing/2014/main" id="{68CAB622-7F35-A70D-4D0C-328114C54C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57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5764"/>
    </mc:Choice>
    <mc:Fallback>
      <p:transition spd="slow" advClick="0" advTm="557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86C2AE75-5F4C-4B3E-9889-DB3D8943DE8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不同职责逐级审批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9CF50E6C-4DB7-41D6-BD7C-384BC5864A04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Separate roles across review and approval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18C50250-00D1-4BA7-866D-B93C48DC0F5C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11 / 20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30625" t="18981" r="2604" b="19444"/>
          <a:stretch/>
        </p:blipFill>
        <p:spPr>
          <a:xfrm>
            <a:off x="2377598" y="1676400"/>
            <a:ext cx="7436805" cy="3857625"/>
          </a:xfrm>
          <a:prstGeom prst="rect">
            <a:avLst/>
          </a:prstGeom>
        </p:spPr>
      </p:pic>
      <p:sp>
        <p:nvSpPr>
          <p:cNvPr id="5" name="text-3">
            <a:extLst>
              <a:ext uri="{FF2B5EF4-FFF2-40B4-BE49-F238E27FC236}">
                <a16:creationId xmlns:a16="http://schemas.microsoft.com/office/drawing/2014/main" id="{69BF1EA1-C551-48AC-A9D4-7F2084D65D40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提交、财务、管理、董事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AD8CB8F2-000C-4C41-BF96-B4554C890802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Submit, finance, management, director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3871E4C3-3021-493E-86C7-32F833E98363}"/>
              </a:ext>
            </a:extLst>
          </p:cNvPr>
          <p:cNvSpPr>
            <a:spLocks noGrp="1"/>
          </p:cNvSpPr>
          <p:nvPr/>
        </p:nvSpPr>
        <p:spPr>
          <a:xfrm>
            <a:off x="63246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禁止自行批准与越级操作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098F141F-44BE-4003-B13F-60DA8D1D9626}"/>
              </a:ext>
            </a:extLst>
          </p:cNvPr>
          <p:cNvSpPr>
            <a:spLocks noGrp="1"/>
          </p:cNvSpPr>
          <p:nvPr/>
        </p:nvSpPr>
        <p:spPr>
          <a:xfrm>
            <a:off x="63246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No self-approval or skipped stages</a:t>
            </a:r>
          </a:p>
        </p:txBody>
      </p:sp>
      <p:pic>
        <p:nvPicPr>
          <p:cNvPr id="4" name="Narration_Slide_11" descr="Mandarin narration for slide 11">
            <a:hlinkClick action="ppaction://media"/>
            <a:extLst>
              <a:ext uri="{FF2B5EF4-FFF2-40B4-BE49-F238E27FC236}">
                <a16:creationId xmlns:a16="http://schemas.microsoft.com/office/drawing/2014/main" id="{35FE408A-4702-E91C-FA1D-DD9F06EC1D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22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7660"/>
    </mc:Choice>
    <mc:Fallback>
      <p:transition spd="slow" advClick="0" advTm="576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5B87CF58-3BD6-49E8-B686-63C7B4891A3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凭证文件与证据包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6FF475E7-24AB-4D8E-9E7E-DB2A446C9C31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Versioned files and evidence exports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8000A74F-64E5-4F1C-B7D3-05C5BC6F25FA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12 / 20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16354" t="21574" r="2500" b="30278"/>
          <a:stretch/>
        </p:blipFill>
        <p:spPr>
          <a:xfrm>
            <a:off x="609600" y="1774065"/>
            <a:ext cx="10972800" cy="3662295"/>
          </a:xfrm>
          <a:prstGeom prst="rect">
            <a:avLst/>
          </a:prstGeom>
        </p:spPr>
      </p:pic>
      <p:sp>
        <p:nvSpPr>
          <p:cNvPr id="5" name="text-3">
            <a:extLst>
              <a:ext uri="{FF2B5EF4-FFF2-40B4-BE49-F238E27FC236}">
                <a16:creationId xmlns:a16="http://schemas.microsoft.com/office/drawing/2014/main" id="{0AE3B523-B7E6-4F64-A99A-E9850B40DA4D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文件来源、版本与摘要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0AF3B1CC-77A4-437B-B0F1-5741E46BEDF4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Source, version and file hash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CF163402-C9F8-421A-848A-00A9110514BB}"/>
              </a:ext>
            </a:extLst>
          </p:cNvPr>
          <p:cNvSpPr>
            <a:spLocks noGrp="1"/>
          </p:cNvSpPr>
          <p:nvPr/>
        </p:nvSpPr>
        <p:spPr>
          <a:xfrm>
            <a:off x="63246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报告与依据一并导出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867C0D87-60A9-4EE4-BC09-F5B09819CC64}"/>
              </a:ext>
            </a:extLst>
          </p:cNvPr>
          <p:cNvSpPr>
            <a:spLocks noGrp="1"/>
          </p:cNvSpPr>
          <p:nvPr/>
        </p:nvSpPr>
        <p:spPr>
          <a:xfrm>
            <a:off x="63246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Export the report with its evidence</a:t>
            </a:r>
          </a:p>
        </p:txBody>
      </p:sp>
      <p:pic>
        <p:nvPicPr>
          <p:cNvPr id="4" name="Narration_Slide_12" descr="Mandarin narration for slide 12">
            <a:hlinkClick action="ppaction://media"/>
            <a:extLst>
              <a:ext uri="{FF2B5EF4-FFF2-40B4-BE49-F238E27FC236}">
                <a16:creationId xmlns:a16="http://schemas.microsoft.com/office/drawing/2014/main" id="{4D72B3CB-43FC-D645-6D79-5F44F7E163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37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5212"/>
    </mc:Choice>
    <mc:Fallback>
      <p:transition spd="slow" advClick="0" advTm="552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665CBFB0-8680-458D-9E22-4ADE464F6DB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修改、访问与决策留痕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A9A4B75A-93F5-417E-A931-5E1329524C39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An activity trail for review and accountability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BA9BBB88-1A1C-4C97-9A12-3C0A3FFE527D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13 / 20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16354" t="44907" r="2604" b="6481"/>
          <a:stretch/>
        </p:blipFill>
        <p:spPr>
          <a:xfrm>
            <a:off x="609600" y="1754081"/>
            <a:ext cx="10972800" cy="3702262"/>
          </a:xfrm>
          <a:prstGeom prst="rect">
            <a:avLst/>
          </a:prstGeom>
        </p:spPr>
      </p:pic>
      <p:sp>
        <p:nvSpPr>
          <p:cNvPr id="5" name="text-3">
            <a:extLst>
              <a:ext uri="{FF2B5EF4-FFF2-40B4-BE49-F238E27FC236}">
                <a16:creationId xmlns:a16="http://schemas.microsoft.com/office/drawing/2014/main" id="{32B4A170-50B5-4DD2-BDDA-2717B9944C63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记录执行人和操作时间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482AA803-33ED-49FD-8674-C07C8B80717A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Record who acted and when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9581629A-78F1-45C5-A0A1-5AD96E746D8A}"/>
              </a:ext>
            </a:extLst>
          </p:cNvPr>
          <p:cNvSpPr>
            <a:spLocks noGrp="1"/>
          </p:cNvSpPr>
          <p:nvPr/>
        </p:nvSpPr>
        <p:spPr>
          <a:xfrm>
            <a:off x="63246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历史版本保持可追溯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F58BF3B1-D0F2-422A-B984-993D7666FDC6}"/>
              </a:ext>
            </a:extLst>
          </p:cNvPr>
          <p:cNvSpPr>
            <a:spLocks noGrp="1"/>
          </p:cNvSpPr>
          <p:nvPr/>
        </p:nvSpPr>
        <p:spPr>
          <a:xfrm>
            <a:off x="63246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Keep historical versions traceable</a:t>
            </a:r>
          </a:p>
        </p:txBody>
      </p:sp>
      <p:pic>
        <p:nvPicPr>
          <p:cNvPr id="4" name="Narration_Slide_13" descr="Mandarin narration for slide 13">
            <a:hlinkClick action="ppaction://media"/>
            <a:extLst>
              <a:ext uri="{FF2B5EF4-FFF2-40B4-BE49-F238E27FC236}">
                <a16:creationId xmlns:a16="http://schemas.microsoft.com/office/drawing/2014/main" id="{8EB1771B-19FE-6409-F3DE-A3C0B8864C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95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9364"/>
    </mc:Choice>
    <mc:Fallback>
      <p:transition spd="slow" advClick="0" advTm="593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title">
            <a:extLst>
              <a:ext uri="{FF2B5EF4-FFF2-40B4-BE49-F238E27FC236}">
                <a16:creationId xmlns:a16="http://schemas.microsoft.com/office/drawing/2014/main" id="{5B481BD0-0EB1-426C-9D1C-A93E72FBC57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招聘资料延伸到入职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D3D6060B-58A4-4E9C-9DAD-B306AAEF59A4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Recruitment records connect to onboarding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5F22D347-98DD-41A1-B7BC-4AB6F57B20EE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14 / 20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16354" t="52963" r="2500" b="17870"/>
          <a:stretch/>
        </p:blipFill>
        <p:spPr>
          <a:xfrm>
            <a:off x="609600" y="2495960"/>
            <a:ext cx="10972800" cy="2218506"/>
          </a:xfrm>
          <a:prstGeom prst="rect">
            <a:avLst/>
          </a:prstGeom>
        </p:spPr>
      </p:pic>
      <p:sp>
        <p:nvSpPr>
          <p:cNvPr id="5" name="text-3">
            <a:extLst>
              <a:ext uri="{FF2B5EF4-FFF2-40B4-BE49-F238E27FC236}">
                <a16:creationId xmlns:a16="http://schemas.microsoft.com/office/drawing/2014/main" id="{AB90E788-6FC4-467B-A9C0-596D3C2C286D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岗位资料与候选人阶段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734BC23F-688B-4BCA-903F-E088957E3DAB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Job requirements and candidate stages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6EA3ED05-0910-4A81-B8EC-6426F35C4C92}"/>
              </a:ext>
            </a:extLst>
          </p:cNvPr>
          <p:cNvSpPr>
            <a:spLocks noGrp="1"/>
          </p:cNvSpPr>
          <p:nvPr/>
        </p:nvSpPr>
        <p:spPr>
          <a:xfrm>
            <a:off x="6324600" y="5705475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录用后生成必要员工资料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13B85C43-DBDC-497B-9F1F-E6BCCD721207}"/>
              </a:ext>
            </a:extLst>
          </p:cNvPr>
          <p:cNvSpPr>
            <a:spLocks noGrp="1"/>
          </p:cNvSpPr>
          <p:nvPr/>
        </p:nvSpPr>
        <p:spPr>
          <a:xfrm>
            <a:off x="6324600" y="6143625"/>
            <a:ext cx="5238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Create essential employee information</a:t>
            </a:r>
          </a:p>
        </p:txBody>
      </p:sp>
      <p:pic>
        <p:nvPicPr>
          <p:cNvPr id="4" name="Narration_Slide_14" descr="Mandarin narration for slide 14">
            <a:hlinkClick action="ppaction://media"/>
            <a:extLst>
              <a:ext uri="{FF2B5EF4-FFF2-40B4-BE49-F238E27FC236}">
                <a16:creationId xmlns:a16="http://schemas.microsoft.com/office/drawing/2014/main" id="{0970A376-1B81-EBC4-678C-253E8860CF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55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9412"/>
    </mc:Choice>
    <mc:Fallback>
      <p:transition spd="slow" advClick="0" advTm="594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91981918-1D8E-42A5-96B7-ECBB7757754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AI 辅助有明确权限边界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D833797-1700-4E90-AD50-C9076F868810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AI assistance has explicit limits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1DA50F2D-04D7-409C-98BD-F6F953D9FFFF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15 / 20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rcRect l="16354" t="9722" r="3438" b="37963"/>
          <a:stretch/>
        </p:blipFill>
        <p:spPr>
          <a:xfrm>
            <a:off x="838706" y="1676400"/>
            <a:ext cx="10514588" cy="3857625"/>
          </a:xfrm>
          <a:prstGeom prst="rect">
            <a:avLst/>
          </a:prstGeom>
        </p:spPr>
      </p:pic>
      <p:sp>
        <p:nvSpPr>
          <p:cNvPr id="5" name="text-3">
            <a:extLst>
              <a:ext uri="{FF2B5EF4-FFF2-40B4-BE49-F238E27FC236}">
                <a16:creationId xmlns:a16="http://schemas.microsoft.com/office/drawing/2014/main" id="{513C6432-937C-4998-B1D5-837C0408BCE7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可读取依据并保存草稿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12198033-80F9-4BB7-95D5-0DD69F9AAC85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Read evidence and save drafts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C3924289-27FB-417D-925C-5EC01D020C71}"/>
              </a:ext>
            </a:extLst>
          </p:cNvPr>
          <p:cNvSpPr>
            <a:spLocks noGrp="1"/>
          </p:cNvSpPr>
          <p:nvPr/>
        </p:nvSpPr>
        <p:spPr>
          <a:xfrm>
            <a:off x="4410075" y="570547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不能付款、审批或改变规则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165F490F-215E-45B2-BCBA-0F877402F05B}"/>
              </a:ext>
            </a:extLst>
          </p:cNvPr>
          <p:cNvSpPr>
            <a:spLocks noGrp="1"/>
          </p:cNvSpPr>
          <p:nvPr/>
        </p:nvSpPr>
        <p:spPr>
          <a:xfrm>
            <a:off x="4410075" y="6143625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No payments or approvals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CE46C075-288E-4FE2-91C9-A3D3D4A00D3B}"/>
              </a:ext>
            </a:extLst>
          </p:cNvPr>
          <p:cNvSpPr>
            <a:spLocks noGrp="1"/>
          </p:cNvSpPr>
          <p:nvPr/>
        </p:nvSpPr>
        <p:spPr>
          <a:xfrm>
            <a:off x="8134350" y="570547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当前默认使用 Mock 模型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260C2E65-FDEC-45AE-A93C-A0B4E127024E}"/>
              </a:ext>
            </a:extLst>
          </p:cNvPr>
          <p:cNvSpPr>
            <a:spLocks noGrp="1"/>
          </p:cNvSpPr>
          <p:nvPr/>
        </p:nvSpPr>
        <p:spPr>
          <a:xfrm>
            <a:off x="8134350" y="6143625"/>
            <a:ext cx="3429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Mock is the default model</a:t>
            </a:r>
          </a:p>
        </p:txBody>
      </p:sp>
      <p:pic>
        <p:nvPicPr>
          <p:cNvPr id="4" name="Narration_Slide_15" descr="Mandarin narration for slide 15">
            <a:hlinkClick action="ppaction://media"/>
            <a:extLst>
              <a:ext uri="{FF2B5EF4-FFF2-40B4-BE49-F238E27FC236}">
                <a16:creationId xmlns:a16="http://schemas.microsoft.com/office/drawing/2014/main" id="{94DBD565-3490-ABB2-3FDD-1AA368F3BB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30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1260"/>
    </mc:Choice>
    <mc:Fallback>
      <p:transition spd="slow" advClick="0" advTm="612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C90C2F81-D867-45CF-8366-7C8D99D96A4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实现结构与数据保存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4B8A41D-74F0-450A-9FF1-20BFAA684714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Implementation and persistence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AA697A6B-8E75-4DDA-8408-10CA9608319C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16 / 20</a:t>
            </a:r>
          </a:p>
        </p:txBody>
      </p:sp>
      <p:graphicFrame>
        <p:nvGraphicFramePr>
          <p:cNvPr id="10" name="Table 9"/>
          <p:cNvGraphicFramePr/>
          <p:nvPr/>
        </p:nvGraphicFramePr>
        <p:xfrm>
          <a:off x="609600" y="1714500"/>
          <a:ext cx="10972800" cy="3905250"/>
        </p:xfrm>
        <a:graphic>
          <a:graphicData uri="http://schemas.openxmlformats.org/drawingml/2006/table">
            <a:tbl>
              <a:tblPr/>
              <a:tblGrid>
                <a:gridCol w="288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Layer</a:t>
                      </a:r>
                    </a:p>
                  </a:txBody>
                  <a:tcPr marL="152400" marR="152400" marT="85725" marB="85725" anchor="ctr">
                    <a:solidFill>
                      <a:srgbClr val="1536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当前实现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Current implementation</a:t>
                      </a:r>
                    </a:p>
                  </a:txBody>
                  <a:tcPr marL="152400" marR="152400" marT="85725" marB="85725" anchor="ctr">
                    <a:solidFill>
                      <a:srgbClr val="1536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Browser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HTML、CSS、JavaScript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Browser workspace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应用服务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Application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Node.js 24+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API, sessions and permissions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业务控制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Controls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规则、对账、审批、快照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Rules, reconciliation, approvals, snapshots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数据保存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Storage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与本地凭证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and local evidence files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-3">
            <a:extLst>
              <a:ext uri="{FF2B5EF4-FFF2-40B4-BE49-F238E27FC236}">
                <a16:creationId xmlns:a16="http://schemas.microsoft.com/office/drawing/2014/main" id="{7983A9F0-15DB-4C01-8730-FBF0CA1C8EA6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6870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PostgreSQL、Ollama、Bedrock 与 S3 属于可选连接，需独立验证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83BD9DF0-DBBD-4DAF-AEB8-375E12288EEE}"/>
              </a:ext>
            </a:extLst>
          </p:cNvPr>
          <p:cNvSpPr>
            <a:spLocks noGrp="1"/>
          </p:cNvSpPr>
          <p:nvPr/>
        </p:nvSpPr>
        <p:spPr>
          <a:xfrm>
            <a:off x="685800" y="621030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Optional connections require separate integration checks</a:t>
            </a:r>
          </a:p>
        </p:txBody>
      </p:sp>
      <p:pic>
        <p:nvPicPr>
          <p:cNvPr id="4" name="Narration_Slide_16" descr="Mandarin narration for slide 16">
            <a:hlinkClick action="ppaction://media"/>
            <a:extLst>
              <a:ext uri="{FF2B5EF4-FFF2-40B4-BE49-F238E27FC236}">
                <a16:creationId xmlns:a16="http://schemas.microsoft.com/office/drawing/2014/main" id="{18FE096E-D54D-A14A-451E-1F2D8B5755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67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9844"/>
    </mc:Choice>
    <mc:Fallback>
      <p:transition spd="slow" advClick="0" advTm="598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CA5B0D6F-5187-49C1-9A34-C381480B3EB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已经验证的实现结果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A71754D-3F0A-45FF-9DDF-77D2FBE893C2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Verification results for this project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2F425FBB-AD52-48F0-AB01-90CE7F9B8C64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17 / 20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9240C0D8-E334-4A35-8543-1015BA2ACCCA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5715000" cy="144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93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116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05E6988-C0AD-4B5F-B12A-ED077EC00D77}"/>
              </a:ext>
            </a:extLst>
          </p:cNvPr>
          <p:cNvSpPr>
            <a:spLocks noGrp="1"/>
          </p:cNvSpPr>
          <p:nvPr/>
        </p:nvSpPr>
        <p:spPr>
          <a:xfrm>
            <a:off x="828675" y="3533775"/>
            <a:ext cx="5619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自动化测试通过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BB02EDE-6063-4A2F-BB4B-7EF9B0FCC801}"/>
              </a:ext>
            </a:extLst>
          </p:cNvPr>
          <p:cNvSpPr>
            <a:spLocks noGrp="1"/>
          </p:cNvSpPr>
          <p:nvPr/>
        </p:nvSpPr>
        <p:spPr>
          <a:xfrm>
            <a:off x="828675" y="4133850"/>
            <a:ext cx="5619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Automated tests passed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BD5F1A2D-7B00-4D3E-A1E6-EF9192504840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53911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2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0 失败 / 0 failures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575DBEB-EFD8-4A1A-A1DB-F7A6E9225660}"/>
              </a:ext>
            </a:extLst>
          </p:cNvPr>
          <p:cNvSpPr>
            <a:spLocks noGrp="1"/>
          </p:cNvSpPr>
          <p:nvPr/>
        </p:nvSpPr>
        <p:spPr>
          <a:xfrm>
            <a:off x="838200" y="5495925"/>
            <a:ext cx="5524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71 个源文件通过语法检查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96EC2AF2-D5B2-48C4-8B60-FC439B9A4BDD}"/>
              </a:ext>
            </a:extLst>
          </p:cNvPr>
          <p:cNvSpPr>
            <a:spLocks noGrp="1"/>
          </p:cNvSpPr>
          <p:nvPr/>
        </p:nvSpPr>
        <p:spPr>
          <a:xfrm>
            <a:off x="847725" y="5934075"/>
            <a:ext cx="54102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71 source files passed syntax checks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F60EF95D-8B16-4CB8-817A-E8E4EADCC787}"/>
              </a:ext>
            </a:extLst>
          </p:cNvPr>
          <p:cNvSpPr>
            <a:spLocks noGrp="1"/>
          </p:cNvSpPr>
          <p:nvPr/>
        </p:nvSpPr>
        <p:spPr>
          <a:xfrm>
            <a:off x="6896100" y="2114550"/>
            <a:ext cx="457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金额、导入与银行对账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4DA152E-B91D-44AA-837C-09CC04E74534}"/>
              </a:ext>
            </a:extLst>
          </p:cNvPr>
          <p:cNvSpPr>
            <a:spLocks noGrp="1"/>
          </p:cNvSpPr>
          <p:nvPr/>
        </p:nvSpPr>
        <p:spPr>
          <a:xfrm>
            <a:off x="6896100" y="2619375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Money, imports and reconciliation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689EFF9B-10B8-43D7-92E5-703C8F9777FE}"/>
              </a:ext>
            </a:extLst>
          </p:cNvPr>
          <p:cNvSpPr>
            <a:spLocks noGrp="1"/>
          </p:cNvSpPr>
          <p:nvPr/>
        </p:nvSpPr>
        <p:spPr>
          <a:xfrm>
            <a:off x="6896100" y="3467100"/>
            <a:ext cx="457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权限、审批与历史快照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261A754-41D7-4F2C-AFDA-DE22B51E3739}"/>
              </a:ext>
            </a:extLst>
          </p:cNvPr>
          <p:cNvSpPr>
            <a:spLocks noGrp="1"/>
          </p:cNvSpPr>
          <p:nvPr/>
        </p:nvSpPr>
        <p:spPr>
          <a:xfrm>
            <a:off x="6896100" y="3971925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Permissions, approvals and snapshots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B33AE8A4-DF4A-4620-B168-8A60AA9ACC05}"/>
              </a:ext>
            </a:extLst>
          </p:cNvPr>
          <p:cNvSpPr>
            <a:spLocks noGrp="1"/>
          </p:cNvSpPr>
          <p:nvPr/>
        </p:nvSpPr>
        <p:spPr>
          <a:xfrm>
            <a:off x="6896100" y="4819650"/>
            <a:ext cx="457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招聘、模型工具与持久化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194A3495-121B-476E-8E44-AC1B2E00C6A8}"/>
              </a:ext>
            </a:extLst>
          </p:cNvPr>
          <p:cNvSpPr>
            <a:spLocks noGrp="1"/>
          </p:cNvSpPr>
          <p:nvPr/>
        </p:nvSpPr>
        <p:spPr>
          <a:xfrm>
            <a:off x="6896100" y="5324475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Recruitment, model tools and persistence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847F5DE-5EB0-4D87-8FE9-9E465284B05E}"/>
              </a:ext>
            </a:extLst>
          </p:cNvPr>
          <p:cNvSpPr>
            <a:spLocks noGrp="1"/>
          </p:cNvSpPr>
          <p:nvPr/>
        </p:nvSpPr>
        <p:spPr>
          <a:xfrm>
            <a:off x="7162800" y="6153150"/>
            <a:ext cx="40005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验证日期 / Checked 27 Sep 2026</a:t>
            </a:r>
          </a:p>
        </p:txBody>
      </p:sp>
      <p:pic>
        <p:nvPicPr>
          <p:cNvPr id="18" name="Narration_Slide_17" descr="Mandarin narration for slide 17">
            <a:hlinkClick action="ppaction://media"/>
            <a:extLst>
              <a:ext uri="{FF2B5EF4-FFF2-40B4-BE49-F238E27FC236}">
                <a16:creationId xmlns:a16="http://schemas.microsoft.com/office/drawing/2014/main" id="{694AB601-0E79-EC38-4214-49F47E7346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055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972"/>
    </mc:Choice>
    <mc:Fallback>
      <p:transition spd="slow" advClick="0" advTm="609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50EA568B-F765-48D2-854C-7BEC076A24A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当前成果与应用边界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FC6DDF85-F313-4DA0-9F91-76609C6C3926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Current capabilities and remaining boundaries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D06C1460-4246-4131-9921-19CF19E3D583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18 / 20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09600" y="1695450"/>
          <a:ext cx="10972800" cy="4514850"/>
        </p:xfrm>
        <a:graphic>
          <a:graphicData uri="http://schemas.openxmlformats.org/drawingml/2006/table">
            <a:tbl>
              <a:tblPr/>
              <a:tblGrid>
                <a:gridCol w="226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71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领域</a:t>
                      </a:r>
                    </a:p>
                    <a:p>
                      <a:pPr algn="l"/>
                      <a:r>
                        <a:rPr sz="171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Area</a:t>
                      </a:r>
                    </a:p>
                  </a:txBody>
                  <a:tcPr marL="152400" marR="152400" marT="85725" marB="85725" anchor="ctr">
                    <a:solidFill>
                      <a:srgbClr val="1536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  <a:p>
                      <a:pPr algn="l"/>
                      <a:r>
                        <a:rPr sz="171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Current state</a:t>
                      </a:r>
                    </a:p>
                  </a:txBody>
                  <a:tcPr marL="152400" marR="152400" marT="85725" marB="85725" anchor="ctr">
                    <a:solidFill>
                      <a:srgbClr val="1536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仍需完成</a:t>
                      </a:r>
                    </a:p>
                    <a:p>
                      <a:pPr algn="l"/>
                      <a:r>
                        <a:rPr sz="171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Still needed</a:t>
                      </a:r>
                    </a:p>
                  </a:txBody>
                  <a:tcPr marL="152400" marR="152400" marT="85725" marB="85725" anchor="ctr">
                    <a:solidFill>
                      <a:srgbClr val="1536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业务检查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Checks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条演示规则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demo rules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法规与专业验证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Statutory validation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Mock 默认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Mock by default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真实连接与评估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Live model evaluation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面试日程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Meetings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流程模拟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Simulated workflow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Graph 服务集成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Graph integration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文件、版本与摘要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Files, versions, hashes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人工复核与可选 OCR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Human review, optional OCR</a:t>
                      </a:r>
                    </a:p>
                  </a:txBody>
                  <a:tcPr marL="152400" marR="152400" marT="85725" marB="85725" anchor="ctr">
                    <a:solidFill>
                      <a:srgbClr val="EE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企业部署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Deployment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本地持久化与权限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persistence and access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SSO、备份、安全验证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1832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SSO, backup, security</a:t>
                      </a:r>
                    </a:p>
                  </a:txBody>
                  <a:tcPr marL="152400" marR="152400" marT="85725" marB="8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Narration_Slide_18" descr="Mandarin narration for slide 18">
            <a:hlinkClick action="ppaction://media"/>
            <a:extLst>
              <a:ext uri="{FF2B5EF4-FFF2-40B4-BE49-F238E27FC236}">
                <a16:creationId xmlns:a16="http://schemas.microsoft.com/office/drawing/2014/main" id="{DF4B2BF5-6352-8F1C-0D0C-32611BD94B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32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7420"/>
    </mc:Choice>
    <mc:Fallback>
      <p:transition spd="slow" advClick="0" advTm="574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DDCEBA09-45E5-47D5-8112-51DB3ADB67B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后续验证与落地顺序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F446542-3B46-4139-9BBC-F9C1625BD225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A practical path to the next stage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B92F7B53-6DE3-4849-9B75-7386AA16F2B7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19 / 20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9786BA2B-0D85-423F-BC90-3D34A07168F5}"/>
              </a:ext>
            </a:extLst>
          </p:cNvPr>
          <p:cNvSpPr>
            <a:spLocks noGrp="1"/>
          </p:cNvSpPr>
          <p:nvPr/>
        </p:nvSpPr>
        <p:spPr>
          <a:xfrm>
            <a:off x="733425" y="1809750"/>
            <a:ext cx="9525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D83EC32E-9379-4B5A-ABE2-E49F29FFC668}"/>
              </a:ext>
            </a:extLst>
          </p:cNvPr>
          <p:cNvSpPr>
            <a:spLocks noGrp="1"/>
          </p:cNvSpPr>
          <p:nvPr/>
        </p:nvSpPr>
        <p:spPr>
          <a:xfrm>
            <a:off x="2000250" y="1809750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业务规则与用户验收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0C8AE62-0E1B-4EBA-9E77-72EE18EF2131}"/>
              </a:ext>
            </a:extLst>
          </p:cNvPr>
          <p:cNvSpPr>
            <a:spLocks noGrp="1"/>
          </p:cNvSpPr>
          <p:nvPr/>
        </p:nvSpPr>
        <p:spPr>
          <a:xfrm>
            <a:off x="2000250" y="2305050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Validate rules with real reviewers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EBBBDD57-D914-4600-A76B-94F67A2D31F0}"/>
              </a:ext>
            </a:extLst>
          </p:cNvPr>
          <p:cNvSpPr>
            <a:spLocks noGrp="1"/>
          </p:cNvSpPr>
          <p:nvPr/>
        </p:nvSpPr>
        <p:spPr>
          <a:xfrm>
            <a:off x="733425" y="2867025"/>
            <a:ext cx="9525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7A2E354-9FD4-4DCF-A119-232085FA6DE4}"/>
              </a:ext>
            </a:extLst>
          </p:cNvPr>
          <p:cNvSpPr>
            <a:spLocks noGrp="1"/>
          </p:cNvSpPr>
          <p:nvPr/>
        </p:nvSpPr>
        <p:spPr>
          <a:xfrm>
            <a:off x="2000250" y="2867025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身份、备份与恢复演练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65B697AA-FF91-4043-8C15-9A281FD230AE}"/>
              </a:ext>
            </a:extLst>
          </p:cNvPr>
          <p:cNvSpPr>
            <a:spLocks noGrp="1"/>
          </p:cNvSpPr>
          <p:nvPr/>
        </p:nvSpPr>
        <p:spPr>
          <a:xfrm>
            <a:off x="2000250" y="3362325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Test identity, backup and recovery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5C6FA47C-C5D3-4E1A-A8FF-E61C3E50853E}"/>
              </a:ext>
            </a:extLst>
          </p:cNvPr>
          <p:cNvSpPr>
            <a:spLocks noGrp="1"/>
          </p:cNvSpPr>
          <p:nvPr/>
        </p:nvSpPr>
        <p:spPr>
          <a:xfrm>
            <a:off x="733425" y="3924300"/>
            <a:ext cx="9525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D0B49295-17E3-45F2-BBAF-07F3E00B76D5}"/>
              </a:ext>
            </a:extLst>
          </p:cNvPr>
          <p:cNvSpPr>
            <a:spLocks noGrp="1"/>
          </p:cNvSpPr>
          <p:nvPr/>
        </p:nvSpPr>
        <p:spPr>
          <a:xfrm>
            <a:off x="2000250" y="3924300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逐项连接外部服务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FF6B6AED-1A5E-4FAF-B251-4DC50BF03099}"/>
              </a:ext>
            </a:extLst>
          </p:cNvPr>
          <p:cNvSpPr>
            <a:spLocks noGrp="1"/>
          </p:cNvSpPr>
          <p:nvPr/>
        </p:nvSpPr>
        <p:spPr>
          <a:xfrm>
            <a:off x="2000250" y="4419600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Integrate external services one at a time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9EE3BBA6-7856-4067-9477-EA94AAFBD5CF}"/>
              </a:ext>
            </a:extLst>
          </p:cNvPr>
          <p:cNvSpPr>
            <a:spLocks noGrp="1"/>
          </p:cNvSpPr>
          <p:nvPr/>
        </p:nvSpPr>
        <p:spPr>
          <a:xfrm>
            <a:off x="733425" y="4981575"/>
            <a:ext cx="9525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6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318C51F8-172F-4326-8561-BDA6A89EE3B9}"/>
              </a:ext>
            </a:extLst>
          </p:cNvPr>
          <p:cNvSpPr>
            <a:spLocks noGrp="1"/>
          </p:cNvSpPr>
          <p:nvPr/>
        </p:nvSpPr>
        <p:spPr>
          <a:xfrm>
            <a:off x="2000250" y="4981575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239"/>
                </a:solidFill>
                <a:latin typeface="Microsoft YaHei"/>
                <a:ea typeface="Microsoft YaHei"/>
                <a:cs typeface="Microsoft YaHei"/>
              </a:rPr>
              <a:t>评估真实使用效果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CF1D628B-7C6B-4876-A47D-86EFD422F6A8}"/>
              </a:ext>
            </a:extLst>
          </p:cNvPr>
          <p:cNvSpPr>
            <a:spLocks noGrp="1"/>
          </p:cNvSpPr>
          <p:nvPr/>
        </p:nvSpPr>
        <p:spPr>
          <a:xfrm>
            <a:off x="2000250" y="5476875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70"/>
                </a:solidFill>
                <a:latin typeface="Microsoft YaHei"/>
                <a:ea typeface="Microsoft YaHei"/>
                <a:cs typeface="Microsoft YaHei"/>
              </a:rPr>
              <a:t>Measure outcomes in a controlled pilot</a:t>
            </a:r>
          </a:p>
        </p:txBody>
      </p:sp>
      <p:pic>
        <p:nvPicPr>
          <p:cNvPr id="17" name="Narration_Slide_19" descr="Mandarin narration for slide 19">
            <a:hlinkClick action="ppaction://media"/>
            <a:extLst>
              <a:ext uri="{FF2B5EF4-FFF2-40B4-BE49-F238E27FC236}">
                <a16:creationId xmlns:a16="http://schemas.microsoft.com/office/drawing/2014/main" id="{B82A764F-ABD7-B1BF-53D1-16F7DFD6CD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113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6844"/>
    </mc:Choice>
    <mc:Fallback>
      <p:transition spd="slow" advClick="0" advTm="568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6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793FABB0-707F-4B43-8303-F1EA17786BE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成果回顾与交流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5E651323-D899-4A14-BFA6-C8F9C06DF176}"/>
              </a:ext>
            </a:extLst>
          </p:cNvPr>
          <p:cNvSpPr>
            <a:spLocks noGrp="1"/>
          </p:cNvSpPr>
          <p:nvPr/>
        </p:nvSpPr>
        <p:spPr>
          <a:xfrm>
            <a:off x="628650" y="1085850"/>
            <a:ext cx="1080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rPr>
              <a:t>Project recap and discussion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EE1F14DB-A310-4021-84F0-59731E3F912C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1200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rPr>
              <a:t>20 / 20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21C47D8-5046-4C0F-AF40-8E927E14E5A9}"/>
              </a:ext>
            </a:extLst>
          </p:cNvPr>
          <p:cNvSpPr>
            <a:spLocks noGrp="1"/>
          </p:cNvSpPr>
          <p:nvPr/>
        </p:nvSpPr>
        <p:spPr>
          <a:xfrm>
            <a:off x="790575" y="2105025"/>
            <a:ext cx="10382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一条可运行的审阅流程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BB32B9F-6923-4146-98B5-4C6F4496CD90}"/>
              </a:ext>
            </a:extLst>
          </p:cNvPr>
          <p:cNvSpPr>
            <a:spLocks noGrp="1"/>
          </p:cNvSpPr>
          <p:nvPr/>
        </p:nvSpPr>
        <p:spPr>
          <a:xfrm>
            <a:off x="790575" y="2724150"/>
            <a:ext cx="1038225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rPr>
              <a:t>A working review workflow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2F54EC4-7779-4038-B412-ADDA9EC4C848}"/>
              </a:ext>
            </a:extLst>
          </p:cNvPr>
          <p:cNvSpPr>
            <a:spLocks noGrp="1"/>
          </p:cNvSpPr>
          <p:nvPr/>
        </p:nvSpPr>
        <p:spPr>
          <a:xfrm>
            <a:off x="790575" y="3371850"/>
            <a:ext cx="10382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每个决定都有对应依据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1B0313F4-9C47-4F27-9093-11566BAB7BD4}"/>
              </a:ext>
            </a:extLst>
          </p:cNvPr>
          <p:cNvSpPr>
            <a:spLocks noGrp="1"/>
          </p:cNvSpPr>
          <p:nvPr/>
        </p:nvSpPr>
        <p:spPr>
          <a:xfrm>
            <a:off x="790575" y="3990975"/>
            <a:ext cx="1038225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rPr>
              <a:t>Decisions linked to their evidence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E42D43D-8CC0-4FF2-A2A5-5295E00FF5B2}"/>
              </a:ext>
            </a:extLst>
          </p:cNvPr>
          <p:cNvSpPr>
            <a:spLocks noGrp="1"/>
          </p:cNvSpPr>
          <p:nvPr/>
        </p:nvSpPr>
        <p:spPr>
          <a:xfrm>
            <a:off x="790575" y="4638675"/>
            <a:ext cx="103822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116 项自动化测试通过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EBA08CBE-9FAC-4A36-83D0-06749BDC5F2D}"/>
              </a:ext>
            </a:extLst>
          </p:cNvPr>
          <p:cNvSpPr>
            <a:spLocks noGrp="1"/>
          </p:cNvSpPr>
          <p:nvPr/>
        </p:nvSpPr>
        <p:spPr>
          <a:xfrm>
            <a:off x="790575" y="5257800"/>
            <a:ext cx="1038225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5CEC9"/>
                </a:solidFill>
                <a:latin typeface="Microsoft YaHei"/>
                <a:ea typeface="Microsoft YaHei"/>
                <a:cs typeface="Microsoft YaHei"/>
              </a:rPr>
              <a:t>116 automated tests passed</a:t>
            </a:r>
          </a:p>
        </p:txBody>
      </p:sp>
      <p:pic>
        <p:nvPicPr>
          <p:cNvPr id="11" name="Narration_Slide_20" descr="Mandarin narration for slide 20">
            <a:hlinkClick action="ppaction://media"/>
            <a:extLst>
              <a:ext uri="{FF2B5EF4-FFF2-40B4-BE49-F238E27FC236}">
                <a16:creationId xmlns:a16="http://schemas.microsoft.com/office/drawing/2014/main" id="{EAE12D66-E70E-9168-C22E-622BCEE0F6D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" y="76200"/>
            <a:ext cx="1016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14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9092"/>
    </mc:Choice>
    <mc:Fallback>
      <p:transition spd="slow" advClick="0" advTm="490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2480</Words>
  <Application>Microsoft Office PowerPoint</Application>
  <DocSecurity>0</DocSecurity>
  <PresentationFormat>Widescreen</PresentationFormat>
  <Paragraphs>502</Paragraphs>
  <Slides>20</Slides>
  <Notes>20</Notes>
  <HiddenSlides>0</HiddenSlides>
  <MMClips>20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Microsoft YaHei</vt:lpstr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Ting Sun</cp:lastModifiedBy>
  <cp:revision>1</cp:revision>
  <dcterms:created xsi:type="dcterms:W3CDTF">2026-09-27T14:50:47Z</dcterms:created>
  <dcterms:modified xsi:type="dcterms:W3CDTF">2026-09-27T14:54:09Z</dcterms:modified>
</cp:coreProperties>
</file>